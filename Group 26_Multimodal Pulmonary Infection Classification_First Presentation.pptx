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68" r:id="rId9"/>
    <p:sldId id="269" r:id="rId10"/>
    <p:sldId id="270" r:id="rId11"/>
    <p:sldId id="271" r:id="rId8"/>
    <p:sldId id="272" r:id="rId7"/>
    <p:sldId id="273" r:id="rId6"/>
    <p:sldId id="274" r:id="rId5"/>
    <p:sldId id="275" r:id="rId4"/>
    <p:sldId id="276" r:id="rId3"/>
    <p:sldId id="277" r:id="rId18"/>
    <p:sldId id="278" r:id="rId19"/>
    <p:sldId id="279" r:id="rId20"/>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99.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 Speaker A · ≈ 0:21]</a:t>
            </a:r>
          </a:p>
          <a:p/>
          <a:p>
            <a:r>
              <a:t>Good morning, everyone. We are Group 26. Our project is a multimodal imaging assistant: we want to find out whether a model that looks at both a chest CT and a few routine clinical facts can tell three kinds of lung infection apart.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Speaker C · ≈ 1:14]</a:t>
            </a:r>
          </a:p>
          <a:p/>
          <a:p>
            <a:r>
              <a:t>Here are the baseline numbers, all as macro-F1, where guessing gives 0.33.</a:t>
            </a:r>
          </a:p>
          <a:p/>
          <a:p>
            <a:r>
              <a:t>Clinical data alone reach about 0.57. Removing G and GM costs only 0.037, so the model is not just copying the tests — which answers the concern A raised.</a:t>
            </a:r>
          </a:p>
          <a:p/>
          <a:p>
            <a:r>
              <a:t>CT alone is our best model so far, at 0.642 plus or minus 0.014 over three seeds. Per class, it finds 67 percent of Aspergillus, 56 percent of other fungal and 71 percent of non-fungal cases. Combining CT and clinical data gives 0.618, so at this stage fusion does not help. That is not what our hypothesis predicted, and we report it as it is.</a:t>
            </a:r>
          </a:p>
          <a:p/>
          <a:p>
            <a:r>
              <a:t>In the confusion matrix, rows are the true class and columns the prediction. The weakest row is other fungi, most often mistaken for non-fungal — 7 of 29 cases. Please read all of this as a starting point from one untuned setting.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Speaker A · ≈ 1:12]</a:t>
            </a:r>
          </a:p>
          <a:p/>
          <a:p>
            <a:r>
              <a:t>Let's start with why this is hard. These six slices are real cases from our dataset, two per class: Aspergillus infection, other fungal infections, and non-fungal pneumonia. All of them show white patches in the lungs, and they are very hard to tell apart by eye. Yet each group needs a different first treatment, so a wrong first guess costs the patient time.</a:t>
            </a:r>
          </a:p>
          <a:p/>
          <a:p>
            <a:r>
              <a:t>Doctors do not decide from the image alone; they also look at the patient's immune status and blood tests. That is our hypothesis: CT plus clinical information should classify more reliably than either alone.</a:t>
            </a:r>
          </a:p>
          <a:p/>
          <a:p>
            <a:r>
              <a:t>So we are building a research prototype that gives a three-class prediction with a confidence score, to support a clinician, not replace one. Our four objectives follow from this: classify, compare the data sources, explain where the model looks, and learn what helps a small dataset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Speaker A · ≈ 0:30]</a:t>
            </a:r>
          </a:p>
          <a:p/>
          <a:p>
            <a:r>
              <a:t>From that goal we set our scope. The core requirements are the full pipeline — load a case, preprocess, predict with probabilities — and a viewer to show the result. Severity is only a "could-have", for a reason you will see on the next slide. Just as clearly, we will not do clinical validation, hospital deployment or pixel-level lesion 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Speaker A · ≈ 0:41]</a:t>
            </a:r>
          </a:p>
          <a:p/>
          <a:p>
            <a:r>
              <a:t>Our data is PAC569, a public dataset released in September 2026: 569 chest CT scans from four hospitals, with 153 Aspergillus, 209 other fungal and 207 non-fungal cases.</a:t>
            </a:r>
          </a:p>
          <a:p/>
          <a:p>
            <a:r>
              <a:t>We checked every file: each CT matches exactly one clinical record with the same label. Each record has twelve variables, including AIDS and diabetes status, two blood tests and two fungal markers, G and GM. But there are no lesion outlines and no severity scores — which is why severity is only a "could-have".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Speaker A · ≈ 0:57]</a:t>
            </a:r>
          </a:p>
          <a:p/>
          <a:p>
            <a:r>
              <a:t>Before building any model, we explored the data, and three findings changed our decisions.</a:t>
            </a:r>
          </a:p>
          <a:p/>
          <a:p>
            <a:r>
              <a:t>First, clinical risk factors do differ by class — for example, 39 of the 41 AIDS patients are in the other-fungal group — but no single marker separates the classes. So clinical data can help, but not alone.</a:t>
            </a:r>
          </a:p>
          <a:p/>
          <a:p>
            <a:r>
              <a:t>Second, G and GM are themselves diagnostic tests, so a model could simply copy them. We therefore always test with and without them.</a:t>
            </a:r>
          </a:p>
          <a:p/>
          <a:p>
            <a:r>
              <a:t>Third, 21 records look like repeat scans of the same patient. We grouped them, so one patient can never appear in both training and test.</a:t>
            </a:r>
          </a:p>
          <a:p/>
          <a:p>
            <a:r>
              <a:t>With the data understood, B will explain how we turn it into a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Speaker B · ≈ 1:18]</a:t>
            </a:r>
          </a:p>
          <a:p/>
          <a:p>
            <a:r>
              <a:t>Thank you. A CT scan is a stack of about sixty images, but an image network needs one fixed-size input. So each scan goes through four steps: a lung window, a lung mask, a crop around the chest, and sixteen slices taken evenly from the bottom to the top of the lungs. Three neighbouring slices form one colour image, which gives the network a little depth. Why sixteen? Patients have between 31 and 81 slices, so a fixed number gives everyone the same input.</a:t>
            </a:r>
          </a:p>
          <a:p/>
          <a:p>
            <a:r>
              <a:t>Checking the output taught us a lesson: our first crop missed one lung in 12 patients — the sickest ones, whose lung was completely white and no longer looked like air. We fixed it and re-ran everything.</a:t>
            </a:r>
          </a:p>
          <a:p/>
          <a:p>
            <a:r>
              <a:t>At the bottom is our split: 70, 15 and 15 percent, balanced by class and kept by patient group, as A described. Augmentation — small rotations and shifts — is applied to training data only.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Speaker B · ≈ 1:13]</a:t>
            </a:r>
          </a:p>
          <a:p/>
          <a:p>
            <a:r>
              <a:t>The model has two branches. The image branch sends all sixteen slices through a ResNet-18 pretrained on ImageNet. With only about four hundred training patients, we cannot train a deep network from scratch, so we start from one that already recognises edges and textures, and average the slices into one summary per patient.</a:t>
            </a:r>
          </a:p>
          <a:p/>
          <a:p>
            <a:r>
              <a:t>The clinical branch cleans and scales the twelve variables, using training data only, and passes them through a small network. The two summaries are joined, and a classifier outputs the three probabilities. Grad-CAM later shows which image regions drove the answer. We train with a class-weighted loss, so the smaller Aspergillus class counts fully, and keep the epoch with the best validation score.</a:t>
            </a:r>
          </a:p>
          <a:p/>
          <a:p>
            <a:r>
              <a:t>Why not a full 3D network? The slices are five millimetres thick, so there is little detail along that direction, and 2D lets us reuse pretrained weights on our 8-gigabyte GPU.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Speaker B · ≈ 1:09]</a:t>
            </a:r>
          </a:p>
          <a:p/>
          <a:p>
            <a:r>
              <a:t>To test our ideas fairly, we organise every comparison into two experiments. Experiment 1 is about the data: preprocessing such as lung masking, how much augmentation, and how much training data. Experiment 2 is about the model: CT, clinical or both, how to fuse them, and a smaller or larger backbone. The orange tags show that all three of our supervisor's requests are covered.</a:t>
            </a:r>
          </a:p>
          <a:p/>
          <a:p>
            <a:r>
              <a:t>We run the data experiment first, and its best setting becomes the start of the model experiment. Each comparison changes one thing against the baseline — and, as the green bars show, the baseline is the only setting run so far.</a:t>
            </a:r>
          </a:p>
          <a:p/>
          <a:p>
            <a:r>
              <a:t>We measure macro-F1, which weights all three classes equally, choose models on validation data only, and use the 83-scan test set just once for each final configuration. Now C will show where we are.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Speaker C · ≈ 1:16]</a:t>
            </a:r>
          </a:p>
          <a:p/>
          <a:p>
            <a:r>
              <a:t>Thank you. This is our whole plan in six phases, and we are here — after the first two. The data foundation is done, and so is one baseline: the default setting from the previous slide, run end to end with three seeds. Everything is scripted, so every number here can be regenerated, and one run takes about 3.3 minutes on a laptop GPU, so the full plan is realistic.</a:t>
            </a:r>
          </a:p>
          <a:p/>
          <a:p>
            <a:r>
              <a:t>To be clear, the baseline is not tuned and not final. It proves the pipeline works and gives us a reference point. The main work — both experiment groups — starts now.</a:t>
            </a:r>
          </a:p>
          <a:p/>
          <a:p>
            <a:r>
              <a:t>Even so, it already tells us something. On the bottom right, the training loss falls almost to zero, but validation F1 only reaches about 0.59 to 0.63. The model learns its training patients far better than new ones. Keep this gap in mind — it comes back on slide 12.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 Speaker D · ≈ 0:26]</a:t>
            </a:r>
          </a:p>
          <a:p/>
          <a:p>
            <a:r>
              <a:t>To sum up: these infections are hard to tell apart, and we want to know whether CT plus clinical data can do it. The data and pipeline are ready, the baseline runs, and it has shown us exactly what to fix next. Thank you —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Speaker C · ≈ 1:13]</a:t>
            </a:r>
          </a:p>
          <a:p/>
          <a:p>
            <a:r>
              <a:t>A good score is not enough; the model should also be right for the right reason. So we used Grad-CAM, which shows in red the regions that drove each prediction. These are three test cases the model got right with high confidence, so we expected the red to sit on the infection. For each case we show the four slices it relied on most.</a:t>
            </a:r>
          </a:p>
          <a:p/>
          <a:p>
            <a:r>
              <a:t>It does not. In all three, the red sits on the heart and central airways, not on the lung shadows. The model may be relying on anatomy or scanner details — something that could fail at a new hospital. And every prediction says one point zero, so the model is overconfident. We see both as warning signs found early, exactly the kind of problem a baseline should expose before we spend weeks on experiments, and D will explain what we do about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Speaker D · ≈ 1:47]</a:t>
            </a:r>
          </a:p>
          <a:p/>
          <a:p>
            <a:r>
              <a:t>Thank you. We treat the baseline as a diagnosis. Each row in this table is a problem we saw, what it suggests, and what we will change.</a:t>
            </a:r>
          </a:p>
          <a:p/>
          <a:p>
            <a:r>
              <a:t>The training–validation gap means the network memorises our training patients, so we add augmentation and regularisation. Grad-CAM on the heart means we mask out everything except the lungs. Weak fusion means the 64 clinical numbers are drowned out by 512 image numbers, so we will train the two models separately and combine their probabilities. This late fusion is part of Experiment 2. And overconfidence means we calibrate before building the "uncertain" flag. And the crop bug we already fixed reminds us to keep checking the preprocessing.</a:t>
            </a:r>
          </a:p>
          <a:p/>
          <a:p>
            <a:r>
              <a:t>The arrows show the order, and the order matters. We fix the data first, because every later result depends on it — fixing it later would mean redoing everything. Then the data experiment, then the model experiment, and the test set only at the very end.</a:t>
            </a:r>
          </a:p>
          <a:p/>
          <a:p>
            <a:r>
              <a:t>Three rules keep this honest: if the data changes, we re-run everything; augmentation is not extra patients; and today's test numbers were only a first look. If we kept checking the test set while tuning, we would slowly fit our choices to those 83 scans, and the final score would look better than it really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Speaker D · ≈ 1:05]</a:t>
            </a:r>
          </a:p>
          <a:p/>
          <a:p>
            <a:r>
              <a:t>Finally, what users will see and when. On the left is our interface with a real case: the CT viewer with an optional saliency overlay, the clinical record, the three probabilities, and an "uncertain" message when the model is unsure.</a:t>
            </a:r>
          </a:p>
          <a:p/>
          <a:p>
            <a:r>
              <a:t>The timeline follows the same order: fixes in week one, the data experiment in week two, the model experiment in weeks three and four together with the severity definition, the interface in week five, and the final test and report in week six. For severity, one simple option is the share of lung that is denser than normal, which needs no extra labels; we will agree it with our supervisor. The main risks — a small dataset, repeat scans and missing lesion masks — each have a mitigation listed below.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03864">
              <a:alpha val="68000"/>
            </a:srgbClr>
          </a:solidFill>
          <a:ln w="12700">
            <a:solidFill>
              <a:srgbClr val="203864"/>
            </a:solidFill>
            <a:prstDash val="solid"/>
          </a:ln>
        </p:spPr>
        <p:txBody>
          <a:bodyPr/>
          <a:lstStyle/>
          <a:p>
            <a:endParaRPr lang="zh-CN" altLang="en-US"/>
          </a:p>
        </p:txBody>
      </p:sp>
      <p:sp>
        <p:nvSpPr>
          <p:cNvPr id="3" name="Shape 1"/>
          <p:cNvSpPr/>
          <p:nvPr/>
        </p:nvSpPr>
        <p:spPr>
          <a:xfrm>
            <a:off x="384048" y="384048"/>
            <a:ext cx="11420856" cy="6089904"/>
          </a:xfrm>
          <a:prstGeom prst="rect">
            <a:avLst/>
          </a:prstGeom>
          <a:solidFill>
            <a:srgbClr val="FFFFFF">
              <a:alpha val="0"/>
            </a:srgbClr>
          </a:solidFill>
          <a:ln w="19050">
            <a:solidFill>
              <a:srgbClr val="FFFFFF"/>
            </a:solidFill>
            <a:prstDash val="solid"/>
          </a:ln>
        </p:spPr>
        <p:txBody>
          <a:bodyPr/>
          <a:lstStyle/>
          <a:p>
            <a:endParaRPr lang="zh-CN" altLang="en-US"/>
          </a:p>
        </p:txBody>
      </p:sp>
      <p:sp>
        <p:nvSpPr>
          <p:cNvPr id="4" name="Text 2"/>
          <p:cNvSpPr txBox="1"/>
          <p:nvPr/>
        </p:nvSpPr>
        <p:spPr>
          <a:xfrm>
            <a:off x="1005840" y="1417320"/>
            <a:ext cx="10241280" cy="365760"/>
          </a:xfrm>
          <a:prstGeom prst="rect">
            <a:avLst/>
          </a:prstGeom>
          <a:noFill/>
        </p:spPr>
        <p:txBody>
          <a:bodyPr wrap="square" lIns="0" tIns="0" rIns="0" bIns="0" rtlCol="0" anchor="ctr"/>
          <a:lstStyle/>
          <a:p>
            <a:pPr marL="0" indent="0">
              <a:buNone/>
            </a:pPr>
            <a:r>
              <a:rPr lang="en-US" sz="1200" b="1" kern="0" spc="100" dirty="0">
                <a:solidFill>
                  <a:srgbClr val="CADCFC"/>
                </a:solidFill>
                <a:latin typeface="Arial" panose="020B0604020202020204" pitchFamily="34" charset="0"/>
                <a:ea typeface="Arial" panose="020B0604020202020204" pitchFamily="34" charset="-122"/>
                <a:cs typeface="Arial" panose="020B0604020202020204" pitchFamily="34" charset="-120"/>
              </a:rPr>
              <a:t>NUS-ISS  ·  PATTERN RECOGNITION SYSTEMS  ·  PRACTICE MODULE  ·  FIRST PRESENTATION</a:t>
            </a:r>
            <a:endParaRPr lang="en-US" sz="1200" dirty="0"/>
          </a:p>
        </p:txBody>
      </p:sp>
      <p:sp>
        <p:nvSpPr>
          <p:cNvPr id="5" name="Text 3"/>
          <p:cNvSpPr txBox="1"/>
          <p:nvPr/>
        </p:nvSpPr>
        <p:spPr>
          <a:xfrm>
            <a:off x="960120" y="1874520"/>
            <a:ext cx="10058400" cy="1920240"/>
          </a:xfrm>
          <a:prstGeom prst="rect">
            <a:avLst/>
          </a:prstGeom>
          <a:noFill/>
        </p:spPr>
        <p:txBody>
          <a:bodyPr wrap="square" lIns="0" tIns="0" rIns="0" bIns="0" rtlCol="0" anchor="t"/>
          <a:lstStyle/>
          <a:p>
            <a:pPr marL="0" indent="0">
              <a:lnSpc>
                <a:spcPct val="105000"/>
              </a:lnSpc>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A Multimodal Medical Imaging Assistant for Pulmonary Infection Classification</a:t>
            </a:r>
            <a:endParaRPr lang="en-US" sz="3800" dirty="0"/>
          </a:p>
        </p:txBody>
      </p:sp>
      <p:sp>
        <p:nvSpPr>
          <p:cNvPr id="6" name="Shape 4"/>
          <p:cNvSpPr/>
          <p:nvPr/>
        </p:nvSpPr>
        <p:spPr>
          <a:xfrm>
            <a:off x="1024128" y="3931920"/>
            <a:ext cx="548640" cy="45720"/>
          </a:xfrm>
          <a:prstGeom prst="rect">
            <a:avLst/>
          </a:prstGeom>
          <a:solidFill>
            <a:srgbClr val="FFFFFF"/>
          </a:solidFill>
          <a:ln w="12700">
            <a:solidFill>
              <a:srgbClr val="FFFFFF"/>
            </a:solidFill>
            <a:prstDash val="solid"/>
          </a:ln>
        </p:spPr>
        <p:txBody>
          <a:bodyPr/>
          <a:lstStyle/>
          <a:p>
            <a:endParaRPr lang="zh-CN" altLang="en-US"/>
          </a:p>
        </p:txBody>
      </p:sp>
      <p:sp>
        <p:nvSpPr>
          <p:cNvPr id="7" name="Text 5"/>
          <p:cNvSpPr txBox="1"/>
          <p:nvPr/>
        </p:nvSpPr>
        <p:spPr>
          <a:xfrm>
            <a:off x="1005840" y="4114800"/>
            <a:ext cx="9601200" cy="640080"/>
          </a:xfrm>
          <a:prstGeom prst="rect">
            <a:avLst/>
          </a:prstGeom>
          <a:noFill/>
        </p:spPr>
        <p:txBody>
          <a:bodyPr wrap="square" lIns="0" tIns="0" rIns="0" bIns="0" rtlCol="0" anchor="ctr"/>
          <a:lstStyle/>
          <a:p>
            <a:pPr marL="0" indent="0">
              <a:buNone/>
            </a:pPr>
            <a:r>
              <a:rPr lang="en-US" sz="1500" i="1" dirty="0">
                <a:solidFill>
                  <a:srgbClr val="E8EDF7"/>
                </a:solidFill>
                <a:latin typeface="Arial" panose="020B0604020202020204" pitchFamily="34" charset="0"/>
                <a:ea typeface="Arial" panose="020B0604020202020204" pitchFamily="34" charset="-122"/>
                <a:cs typeface="Arial" panose="020B0604020202020204" pitchFamily="34" charset="-120"/>
              </a:rPr>
              <a:t>Chest CT + de-identified clinical information → Aspergillus / non-Aspergillus fungal / non-fungal infection, with confidence, lesion localisation and severity</a:t>
            </a:r>
            <a:endParaRPr lang="en-US" sz="1500" dirty="0"/>
          </a:p>
        </p:txBody>
      </p:sp>
      <p:sp>
        <p:nvSpPr>
          <p:cNvPr id="8" name="Shape 6"/>
          <p:cNvSpPr/>
          <p:nvPr/>
        </p:nvSpPr>
        <p:spPr>
          <a:xfrm>
            <a:off x="6720840" y="4983480"/>
            <a:ext cx="4782312" cy="1188720"/>
          </a:xfrm>
          <a:prstGeom prst="rect">
            <a:avLst/>
          </a:prstGeom>
          <a:solidFill>
            <a:srgbClr val="FFFFFF"/>
          </a:solidFill>
          <a:ln w="12700">
            <a:solidFill>
              <a:srgbClr val="FFFFFF"/>
            </a:solidFill>
            <a:prstDash val="solid"/>
          </a:ln>
        </p:spPr>
        <p:txBody>
          <a:bodyPr/>
          <a:lstStyle/>
          <a:p>
            <a:endParaRPr lang="zh-CN" altLang="en-US"/>
          </a:p>
        </p:txBody>
      </p:sp>
      <p:sp>
        <p:nvSpPr>
          <p:cNvPr id="9" name="Text 7"/>
          <p:cNvSpPr txBox="1"/>
          <p:nvPr/>
        </p:nvSpPr>
        <p:spPr>
          <a:xfrm>
            <a:off x="6903720" y="504748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Lai Wendi</a:t>
            </a:r>
            <a:endParaRPr lang="en-US" sz="1200" dirty="0"/>
          </a:p>
        </p:txBody>
      </p:sp>
      <p:sp>
        <p:nvSpPr>
          <p:cNvPr id="10" name="Text 8"/>
          <p:cNvSpPr txBox="1"/>
          <p:nvPr/>
        </p:nvSpPr>
        <p:spPr>
          <a:xfrm>
            <a:off x="8229600" y="504748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A0352629X</a:t>
            </a:r>
            <a:endParaRPr lang="en-US" sz="1200" dirty="0"/>
          </a:p>
        </p:txBody>
      </p:sp>
      <p:sp>
        <p:nvSpPr>
          <p:cNvPr id="11" name="Text 9"/>
          <p:cNvSpPr txBox="1"/>
          <p:nvPr/>
        </p:nvSpPr>
        <p:spPr>
          <a:xfrm>
            <a:off x="6903720" y="532180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Tang Shiyan</a:t>
            </a:r>
            <a:endParaRPr lang="en-US" sz="1200" dirty="0"/>
          </a:p>
        </p:txBody>
      </p:sp>
      <p:sp>
        <p:nvSpPr>
          <p:cNvPr id="12" name="Text 10"/>
          <p:cNvSpPr txBox="1"/>
          <p:nvPr/>
        </p:nvSpPr>
        <p:spPr>
          <a:xfrm>
            <a:off x="8229600" y="532180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A0329902B</a:t>
            </a:r>
            <a:endParaRPr lang="en-US" sz="1200" dirty="0"/>
          </a:p>
        </p:txBody>
      </p:sp>
      <p:sp>
        <p:nvSpPr>
          <p:cNvPr id="13" name="Text 11"/>
          <p:cNvSpPr txBox="1"/>
          <p:nvPr/>
        </p:nvSpPr>
        <p:spPr>
          <a:xfrm>
            <a:off x="6903720" y="559612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Xia Yan</a:t>
            </a:r>
            <a:endParaRPr lang="en-US" sz="1200" dirty="0"/>
          </a:p>
        </p:txBody>
      </p:sp>
      <p:sp>
        <p:nvSpPr>
          <p:cNvPr id="14" name="Text 12"/>
          <p:cNvSpPr txBox="1"/>
          <p:nvPr/>
        </p:nvSpPr>
        <p:spPr>
          <a:xfrm>
            <a:off x="8229600" y="559612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A0352818X</a:t>
            </a:r>
            <a:endParaRPr lang="en-US" sz="1200" dirty="0"/>
          </a:p>
        </p:txBody>
      </p:sp>
      <p:sp>
        <p:nvSpPr>
          <p:cNvPr id="15" name="Text 13"/>
          <p:cNvSpPr txBox="1"/>
          <p:nvPr/>
        </p:nvSpPr>
        <p:spPr>
          <a:xfrm>
            <a:off x="6903720" y="587044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Zhou Jiasheng</a:t>
            </a:r>
            <a:endParaRPr lang="en-US" sz="1200" dirty="0"/>
          </a:p>
        </p:txBody>
      </p:sp>
      <p:sp>
        <p:nvSpPr>
          <p:cNvPr id="16" name="Text 14"/>
          <p:cNvSpPr txBox="1"/>
          <p:nvPr/>
        </p:nvSpPr>
        <p:spPr>
          <a:xfrm>
            <a:off x="8229600" y="587044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A0315819X</a:t>
            </a:r>
            <a:endParaRPr lang="en-US" sz="1200" dirty="0"/>
          </a:p>
        </p:txBody>
      </p:sp>
      <p:sp>
        <p:nvSpPr>
          <p:cNvPr id="17" name="Text 15"/>
          <p:cNvSpPr txBox="1"/>
          <p:nvPr/>
        </p:nvSpPr>
        <p:spPr>
          <a:xfrm>
            <a:off x="9445752" y="5047488"/>
            <a:ext cx="2029968" cy="548640"/>
          </a:xfrm>
          <a:prstGeom prst="rect">
            <a:avLst/>
          </a:prstGeom>
          <a:noFill/>
        </p:spPr>
        <p:txBody>
          <a:bodyPr wrap="square" lIns="0" tIns="0" rIns="0" bIns="0" rtlCol="0" anchor="ctr"/>
          <a:lstStyle/>
          <a:p>
            <a:pPr marL="0" indent="0" algn="ctr">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Practice Project Group (FT) 26 · NUS-ISS</a:t>
            </a:r>
            <a:endParaRPr lang="en-US" sz="1200" dirty="0"/>
          </a:p>
        </p:txBody>
      </p:sp>
      <p:sp>
        <p:nvSpPr>
          <p:cNvPr id="18" name="Text 16"/>
          <p:cNvSpPr txBox="1"/>
          <p:nvPr/>
        </p:nvSpPr>
        <p:spPr>
          <a:xfrm>
            <a:off x="9445752" y="5596128"/>
            <a:ext cx="2029968" cy="548640"/>
          </a:xfrm>
          <a:prstGeom prst="rect">
            <a:avLst/>
          </a:prstGeom>
          <a:noFill/>
        </p:spPr>
        <p:txBody>
          <a:bodyPr wrap="square" lIns="0" tIns="0" rIns="0" bIns="0" rtlCol="0" anchor="ctr"/>
          <a:lstStyle/>
          <a:p>
            <a:pPr marL="0" indent="0" algn="ctr">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6 October 2026</a:t>
            </a:r>
            <a:endParaRPr lang="en-US" sz="1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Rectangle 1"/>
          <p:cNvSpPr/>
          <p:nvPr/>
        </p:nvSpPr>
        <p:spPr>
          <a:xfrm>
            <a:off x="502920" y="146304"/>
            <a:ext cx="13258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FFFFFF"/>
                </a:solidFill>
                <a:latin typeface="Arial"/>
              </a:rPr>
              <a:t>Introduction</a:t>
            </a: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Introduction — Clinical Problem and Project Objectives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2</a:t>
            </a:r>
          </a:p>
        </p:txBody>
      </p:sp>
      <p:sp>
        <p:nvSpPr>
          <p:cNvPr id="11" name="Rectangle 10"/>
          <p:cNvSpPr/>
          <p:nvPr/>
        </p:nvSpPr>
        <p:spPr>
          <a:xfrm>
            <a:off x="822960" y="1280160"/>
            <a:ext cx="182880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1828800" cy="256032"/>
          </a:xfrm>
          <a:prstGeom prst="rect">
            <a:avLst/>
          </a:prstGeom>
          <a:noFill/>
        </p:spPr>
        <p:txBody>
          <a:bodyPr wrap="square" lIns="0" rIns="0" tIns="0" bIns="0" anchor="ctr">
            <a:spAutoFit/>
          </a:bodyPr>
          <a:lstStyle/>
          <a:p>
            <a:pPr algn="ctr"/>
            <a:r>
              <a:rPr sz="1000" b="1" i="0">
                <a:solidFill>
                  <a:srgbClr val="FFFFFF"/>
                </a:solidFill>
                <a:latin typeface="Arial"/>
              </a:rPr>
              <a:t>CLINICAL PROBLEM</a:t>
            </a:r>
          </a:p>
        </p:txBody>
      </p:sp>
      <p:sp>
        <p:nvSpPr>
          <p:cNvPr id="13" name="TextBox 12"/>
          <p:cNvSpPr txBox="1"/>
          <p:nvPr/>
        </p:nvSpPr>
        <p:spPr>
          <a:xfrm>
            <a:off x="822960" y="1645920"/>
            <a:ext cx="5394960" cy="685800"/>
          </a:xfrm>
          <a:prstGeom prst="rect">
            <a:avLst/>
          </a:prstGeom>
          <a:noFill/>
        </p:spPr>
        <p:txBody>
          <a:bodyPr wrap="square" lIns="0" rIns="0" tIns="0" bIns="0" anchor="t">
            <a:spAutoFit/>
          </a:bodyPr>
          <a:lstStyle/>
          <a:p>
            <a:pPr algn="l"/>
            <a:r>
              <a:rPr sz="1100" b="0" i="0">
                <a:solidFill>
                  <a:srgbClr val="404040"/>
                </a:solidFill>
                <a:latin typeface="Arial"/>
              </a:rPr>
              <a:t>Aspergillus, other fungal and non-fungal (bacterial / viral) pneumonias overlap on chest CT — consolidation, nodules, cavities, ground-glass. They need different first-line treatment.</a:t>
            </a:r>
          </a:p>
        </p:txBody>
      </p:sp>
      <p:pic>
        <p:nvPicPr>
          <p:cNvPr id="14" name="Picture 13" descr="class_examples.png"/>
          <p:cNvPicPr>
            <a:picLocks noChangeAspect="1"/>
          </p:cNvPicPr>
          <p:nvPr/>
        </p:nvPicPr>
        <p:blipFill>
          <a:blip r:embed="rId2"/>
          <a:stretch>
            <a:fillRect/>
          </a:stretch>
        </p:blipFill>
        <p:spPr>
          <a:xfrm>
            <a:off x="868680" y="2377440"/>
            <a:ext cx="5303520" cy="3683000"/>
          </a:xfrm>
          <a:prstGeom prst="rect">
            <a:avLst/>
          </a:prstGeom>
        </p:spPr>
      </p:pic>
      <p:sp>
        <p:nvSpPr>
          <p:cNvPr id="15" name="TextBox 14"/>
          <p:cNvSpPr txBox="1"/>
          <p:nvPr/>
        </p:nvSpPr>
        <p:spPr>
          <a:xfrm>
            <a:off x="822960" y="6108192"/>
            <a:ext cx="5394960" cy="274320"/>
          </a:xfrm>
          <a:prstGeom prst="rect">
            <a:avLst/>
          </a:prstGeom>
          <a:noFill/>
        </p:spPr>
        <p:txBody>
          <a:bodyPr wrap="square" lIns="0" rIns="0" tIns="0" bIns="0" anchor="t">
            <a:spAutoFit/>
          </a:bodyPr>
          <a:lstStyle/>
          <a:p>
            <a:pPr algn="l"/>
            <a:r>
              <a:rPr sz="950" b="0" i="1">
                <a:solidFill>
                  <a:srgbClr val="757575"/>
                </a:solidFill>
                <a:latin typeface="Arial"/>
              </a:rPr>
              <a:t>Two PAC569 cases per class (lung window). Can you tell them apart?</a:t>
            </a:r>
          </a:p>
        </p:txBody>
      </p:sp>
      <p:sp>
        <p:nvSpPr>
          <p:cNvPr id="16" name="Rectangle 15"/>
          <p:cNvSpPr/>
          <p:nvPr/>
        </p:nvSpPr>
        <p:spPr>
          <a:xfrm>
            <a:off x="6766560" y="1280160"/>
            <a:ext cx="15544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1280160"/>
            <a:ext cx="1554480" cy="256032"/>
          </a:xfrm>
          <a:prstGeom prst="rect">
            <a:avLst/>
          </a:prstGeom>
          <a:noFill/>
        </p:spPr>
        <p:txBody>
          <a:bodyPr wrap="square" lIns="0" rIns="0" tIns="0" bIns="0" anchor="ctr">
            <a:spAutoFit/>
          </a:bodyPr>
          <a:lstStyle/>
          <a:p>
            <a:pPr algn="ctr"/>
            <a:r>
              <a:rPr sz="1000" b="1" i="0">
                <a:solidFill>
                  <a:srgbClr val="FFFFFF"/>
                </a:solidFill>
                <a:latin typeface="Arial"/>
              </a:rPr>
              <a:t>PROJECT GOAL</a:t>
            </a:r>
          </a:p>
        </p:txBody>
      </p:sp>
      <p:sp>
        <p:nvSpPr>
          <p:cNvPr id="18" name="TextBox 17"/>
          <p:cNvSpPr txBox="1"/>
          <p:nvPr/>
        </p:nvSpPr>
        <p:spPr>
          <a:xfrm>
            <a:off x="6766560" y="1645920"/>
            <a:ext cx="4572000" cy="822960"/>
          </a:xfrm>
          <a:prstGeom prst="rect">
            <a:avLst/>
          </a:prstGeom>
          <a:noFill/>
        </p:spPr>
        <p:txBody>
          <a:bodyPr wrap="square" lIns="0" rIns="0" tIns="0" bIns="0" anchor="t">
            <a:spAutoFit/>
          </a:bodyPr>
          <a:lstStyle/>
          <a:p>
            <a:pPr algn="l"/>
            <a:r>
              <a:rPr sz="1100" b="0" i="0">
                <a:solidFill>
                  <a:srgbClr val="404040"/>
                </a:solidFill>
                <a:latin typeface="Arial"/>
              </a:rPr>
              <a:t>A research prototype that reads one patient's chest CT and clinical record and returns a three-class infection prediction with confidence — decision support, not a diagnosis.</a:t>
            </a:r>
          </a:p>
        </p:txBody>
      </p:sp>
      <p:sp>
        <p:nvSpPr>
          <p:cNvPr id="19" name="Rectangle 18"/>
          <p:cNvSpPr/>
          <p:nvPr/>
        </p:nvSpPr>
        <p:spPr>
          <a:xfrm>
            <a:off x="6766560" y="2514600"/>
            <a:ext cx="137160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2514600"/>
            <a:ext cx="1371600" cy="256032"/>
          </a:xfrm>
          <a:prstGeom prst="rect">
            <a:avLst/>
          </a:prstGeom>
          <a:noFill/>
        </p:spPr>
        <p:txBody>
          <a:bodyPr wrap="square" lIns="0" rIns="0" tIns="0" bIns="0" anchor="ctr">
            <a:spAutoFit/>
          </a:bodyPr>
          <a:lstStyle/>
          <a:p>
            <a:pPr algn="ctr"/>
            <a:r>
              <a:rPr sz="1000" b="1" i="0">
                <a:solidFill>
                  <a:srgbClr val="FFFFFF"/>
                </a:solidFill>
                <a:latin typeface="Arial"/>
              </a:rPr>
              <a:t>OBJECTIVES</a:t>
            </a:r>
          </a:p>
        </p:txBody>
      </p:sp>
      <p:sp>
        <p:nvSpPr>
          <p:cNvPr id="21" name="Oval 20"/>
          <p:cNvSpPr/>
          <p:nvPr/>
        </p:nvSpPr>
        <p:spPr>
          <a:xfrm>
            <a:off x="6766560" y="2926080"/>
            <a:ext cx="365760" cy="36576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2926080"/>
            <a:ext cx="365760" cy="365760"/>
          </a:xfrm>
          <a:prstGeom prst="rect">
            <a:avLst/>
          </a:prstGeom>
          <a:noFill/>
        </p:spPr>
        <p:txBody>
          <a:bodyPr wrap="square" lIns="0" rIns="0" tIns="0" bIns="0" anchor="ctr">
            <a:spAutoFit/>
          </a:bodyPr>
          <a:lstStyle/>
          <a:p>
            <a:pPr algn="ctr"/>
            <a:r>
              <a:rPr sz="1100" b="1" i="0">
                <a:solidFill>
                  <a:srgbClr val="FFFFFF"/>
                </a:solidFill>
                <a:latin typeface="Arial"/>
              </a:rPr>
              <a:t>01</a:t>
            </a:r>
          </a:p>
        </p:txBody>
      </p:sp>
      <p:sp>
        <p:nvSpPr>
          <p:cNvPr id="23" name="TextBox 22"/>
          <p:cNvSpPr txBox="1"/>
          <p:nvPr/>
        </p:nvSpPr>
        <p:spPr>
          <a:xfrm>
            <a:off x="7242048" y="2889504"/>
            <a:ext cx="4069080" cy="237744"/>
          </a:xfrm>
          <a:prstGeom prst="rect">
            <a:avLst/>
          </a:prstGeom>
          <a:noFill/>
        </p:spPr>
        <p:txBody>
          <a:bodyPr wrap="square" lIns="0" rIns="0" tIns="0" bIns="0" anchor="t">
            <a:spAutoFit/>
          </a:bodyPr>
          <a:lstStyle/>
          <a:p>
            <a:pPr algn="l"/>
            <a:r>
              <a:rPr sz="1250" b="1" i="0">
                <a:solidFill>
                  <a:srgbClr val="203864"/>
                </a:solidFill>
                <a:latin typeface="Arial"/>
              </a:rPr>
              <a:t>Classify</a:t>
            </a:r>
          </a:p>
        </p:txBody>
      </p:sp>
      <p:sp>
        <p:nvSpPr>
          <p:cNvPr id="24" name="TextBox 23"/>
          <p:cNvSpPr txBox="1"/>
          <p:nvPr/>
        </p:nvSpPr>
        <p:spPr>
          <a:xfrm>
            <a:off x="7242048" y="3127248"/>
            <a:ext cx="4069080" cy="457200"/>
          </a:xfrm>
          <a:prstGeom prst="rect">
            <a:avLst/>
          </a:prstGeom>
          <a:noFill/>
        </p:spPr>
        <p:txBody>
          <a:bodyPr wrap="square" lIns="0" rIns="0" tIns="0" bIns="0" anchor="t">
            <a:spAutoFit/>
          </a:bodyPr>
          <a:lstStyle/>
          <a:p>
            <a:pPr algn="l"/>
            <a:r>
              <a:rPr sz="1050" b="0" i="0">
                <a:solidFill>
                  <a:srgbClr val="404040"/>
                </a:solidFill>
                <a:latin typeface="Arial"/>
              </a:rPr>
              <a:t>Aspergillus vs non-Aspergillus fungi vs non-fungal, with calibrated confidence</a:t>
            </a:r>
          </a:p>
        </p:txBody>
      </p:sp>
      <p:sp>
        <p:nvSpPr>
          <p:cNvPr id="25" name="Oval 24"/>
          <p:cNvSpPr/>
          <p:nvPr/>
        </p:nvSpPr>
        <p:spPr>
          <a:xfrm>
            <a:off x="6766560" y="354787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3547872"/>
            <a:ext cx="365760" cy="365760"/>
          </a:xfrm>
          <a:prstGeom prst="rect">
            <a:avLst/>
          </a:prstGeom>
          <a:noFill/>
        </p:spPr>
        <p:txBody>
          <a:bodyPr wrap="square" lIns="0" rIns="0" tIns="0" bIns="0" anchor="ctr">
            <a:spAutoFit/>
          </a:bodyPr>
          <a:lstStyle/>
          <a:p>
            <a:pPr algn="ctr"/>
            <a:r>
              <a:rPr sz="1100" b="1" i="0">
                <a:solidFill>
                  <a:srgbClr val="FFFFFF"/>
                </a:solidFill>
                <a:latin typeface="Arial"/>
              </a:rPr>
              <a:t>02</a:t>
            </a:r>
          </a:p>
        </p:txBody>
      </p:sp>
      <p:sp>
        <p:nvSpPr>
          <p:cNvPr id="27" name="TextBox 26"/>
          <p:cNvSpPr txBox="1"/>
          <p:nvPr/>
        </p:nvSpPr>
        <p:spPr>
          <a:xfrm>
            <a:off x="7242048" y="3511296"/>
            <a:ext cx="4069080" cy="237744"/>
          </a:xfrm>
          <a:prstGeom prst="rect">
            <a:avLst/>
          </a:prstGeom>
          <a:noFill/>
        </p:spPr>
        <p:txBody>
          <a:bodyPr wrap="square" lIns="0" rIns="0" tIns="0" bIns="0" anchor="t">
            <a:spAutoFit/>
          </a:bodyPr>
          <a:lstStyle/>
          <a:p>
            <a:pPr algn="l"/>
            <a:r>
              <a:rPr sz="1250" b="1" i="0">
                <a:solidFill>
                  <a:srgbClr val="203864"/>
                </a:solidFill>
                <a:latin typeface="Arial"/>
              </a:rPr>
              <a:t>Fuse modalities</a:t>
            </a:r>
          </a:p>
        </p:txBody>
      </p:sp>
      <p:sp>
        <p:nvSpPr>
          <p:cNvPr id="28" name="TextBox 27"/>
          <p:cNvSpPr txBox="1"/>
          <p:nvPr/>
        </p:nvSpPr>
        <p:spPr>
          <a:xfrm>
            <a:off x="7242048" y="3749039"/>
            <a:ext cx="4069080" cy="457200"/>
          </a:xfrm>
          <a:prstGeom prst="rect">
            <a:avLst/>
          </a:prstGeom>
          <a:noFill/>
        </p:spPr>
        <p:txBody>
          <a:bodyPr wrap="square" lIns="0" rIns="0" tIns="0" bIns="0" anchor="t">
            <a:spAutoFit/>
          </a:bodyPr>
          <a:lstStyle/>
          <a:p>
            <a:pPr algn="l"/>
            <a:r>
              <a:rPr sz="1050" b="0" i="0">
                <a:solidFill>
                  <a:srgbClr val="404040"/>
                </a:solidFill>
                <a:latin typeface="Arial"/>
              </a:rPr>
              <a:t>Show whether CT + clinical beats CT-only and clinical-only</a:t>
            </a:r>
          </a:p>
        </p:txBody>
      </p:sp>
      <p:sp>
        <p:nvSpPr>
          <p:cNvPr id="29" name="Oval 28"/>
          <p:cNvSpPr/>
          <p:nvPr/>
        </p:nvSpPr>
        <p:spPr>
          <a:xfrm>
            <a:off x="6766560" y="4169663"/>
            <a:ext cx="365760" cy="36576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66560" y="4169663"/>
            <a:ext cx="365760" cy="365760"/>
          </a:xfrm>
          <a:prstGeom prst="rect">
            <a:avLst/>
          </a:prstGeom>
          <a:noFill/>
        </p:spPr>
        <p:txBody>
          <a:bodyPr wrap="square" lIns="0" rIns="0" tIns="0" bIns="0" anchor="ctr">
            <a:spAutoFit/>
          </a:bodyPr>
          <a:lstStyle/>
          <a:p>
            <a:pPr algn="ctr"/>
            <a:r>
              <a:rPr sz="1100" b="1" i="0">
                <a:solidFill>
                  <a:srgbClr val="FFFFFF"/>
                </a:solidFill>
                <a:latin typeface="Arial"/>
              </a:rPr>
              <a:t>03</a:t>
            </a:r>
          </a:p>
        </p:txBody>
      </p:sp>
      <p:sp>
        <p:nvSpPr>
          <p:cNvPr id="31" name="TextBox 30"/>
          <p:cNvSpPr txBox="1"/>
          <p:nvPr/>
        </p:nvSpPr>
        <p:spPr>
          <a:xfrm>
            <a:off x="7242048" y="4133087"/>
            <a:ext cx="4069080" cy="237744"/>
          </a:xfrm>
          <a:prstGeom prst="rect">
            <a:avLst/>
          </a:prstGeom>
          <a:noFill/>
        </p:spPr>
        <p:txBody>
          <a:bodyPr wrap="square" lIns="0" rIns="0" tIns="0" bIns="0" anchor="t">
            <a:spAutoFit/>
          </a:bodyPr>
          <a:lstStyle/>
          <a:p>
            <a:pPr algn="l"/>
            <a:r>
              <a:rPr sz="1250" b="1" i="0">
                <a:solidFill>
                  <a:srgbClr val="203864"/>
                </a:solidFill>
                <a:latin typeface="Arial"/>
              </a:rPr>
              <a:t>Explain</a:t>
            </a:r>
          </a:p>
        </p:txBody>
      </p:sp>
      <p:sp>
        <p:nvSpPr>
          <p:cNvPr id="32" name="TextBox 31"/>
          <p:cNvSpPr txBox="1"/>
          <p:nvPr/>
        </p:nvSpPr>
        <p:spPr>
          <a:xfrm>
            <a:off x="7242048" y="4370831"/>
            <a:ext cx="4069080" cy="457200"/>
          </a:xfrm>
          <a:prstGeom prst="rect">
            <a:avLst/>
          </a:prstGeom>
          <a:noFill/>
        </p:spPr>
        <p:txBody>
          <a:bodyPr wrap="square" lIns="0" rIns="0" tIns="0" bIns="0" anchor="t">
            <a:spAutoFit/>
          </a:bodyPr>
          <a:lstStyle/>
          <a:p>
            <a:pPr algn="l"/>
            <a:r>
              <a:rPr sz="1050" b="0" i="0">
                <a:solidFill>
                  <a:srgbClr val="404040"/>
                </a:solidFill>
                <a:latin typeface="Arial"/>
              </a:rPr>
              <a:t>Highlight suspicious lung regions (saliency); severity estimate as stretch goal</a:t>
            </a:r>
          </a:p>
        </p:txBody>
      </p:sp>
      <p:sp>
        <p:nvSpPr>
          <p:cNvPr id="33" name="Oval 32"/>
          <p:cNvSpPr/>
          <p:nvPr/>
        </p:nvSpPr>
        <p:spPr>
          <a:xfrm>
            <a:off x="6766560" y="479145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66560" y="4791456"/>
            <a:ext cx="365760" cy="365760"/>
          </a:xfrm>
          <a:prstGeom prst="rect">
            <a:avLst/>
          </a:prstGeom>
          <a:noFill/>
        </p:spPr>
        <p:txBody>
          <a:bodyPr wrap="square" lIns="0" rIns="0" tIns="0" bIns="0" anchor="ctr">
            <a:spAutoFit/>
          </a:bodyPr>
          <a:lstStyle/>
          <a:p>
            <a:pPr algn="ctr"/>
            <a:r>
              <a:rPr sz="1100" b="1" i="0">
                <a:solidFill>
                  <a:srgbClr val="FFFFFF"/>
                </a:solidFill>
                <a:latin typeface="Arial"/>
              </a:rPr>
              <a:t>04</a:t>
            </a:r>
          </a:p>
        </p:txBody>
      </p:sp>
      <p:sp>
        <p:nvSpPr>
          <p:cNvPr id="35" name="TextBox 34"/>
          <p:cNvSpPr txBox="1"/>
          <p:nvPr/>
        </p:nvSpPr>
        <p:spPr>
          <a:xfrm>
            <a:off x="7242048" y="4754880"/>
            <a:ext cx="4069080" cy="237744"/>
          </a:xfrm>
          <a:prstGeom prst="rect">
            <a:avLst/>
          </a:prstGeom>
          <a:noFill/>
        </p:spPr>
        <p:txBody>
          <a:bodyPr wrap="square" lIns="0" rIns="0" tIns="0" bIns="0" anchor="t">
            <a:spAutoFit/>
          </a:bodyPr>
          <a:lstStyle/>
          <a:p>
            <a:pPr algn="l"/>
            <a:r>
              <a:rPr sz="1250" b="1" i="0">
                <a:solidFill>
                  <a:srgbClr val="203864"/>
                </a:solidFill>
                <a:latin typeface="Arial"/>
              </a:rPr>
              <a:t>Study the data regime</a:t>
            </a:r>
          </a:p>
        </p:txBody>
      </p:sp>
      <p:sp>
        <p:nvSpPr>
          <p:cNvPr id="36" name="TextBox 35"/>
          <p:cNvSpPr txBox="1"/>
          <p:nvPr/>
        </p:nvSpPr>
        <p:spPr>
          <a:xfrm>
            <a:off x="7242048" y="4992624"/>
            <a:ext cx="4069080" cy="457200"/>
          </a:xfrm>
          <a:prstGeom prst="rect">
            <a:avLst/>
          </a:prstGeom>
          <a:noFill/>
        </p:spPr>
        <p:txBody>
          <a:bodyPr wrap="square" lIns="0" rIns="0" tIns="0" bIns="0" anchor="t">
            <a:spAutoFit/>
          </a:bodyPr>
          <a:lstStyle/>
          <a:p>
            <a:pPr algn="l"/>
            <a:r>
              <a:rPr sz="1050" b="0" i="0">
                <a:solidFill>
                  <a:srgbClr val="404040"/>
                </a:solidFill>
                <a:latin typeface="Arial"/>
              </a:rPr>
              <a:t>Pre-trained backbones, training-set size and augmentation</a:t>
            </a:r>
          </a:p>
        </p:txBody>
      </p:sp>
      <p:sp>
        <p:nvSpPr>
          <p:cNvPr id="37" name="Rounded Rectangle 36"/>
          <p:cNvSpPr/>
          <p:nvPr/>
        </p:nvSpPr>
        <p:spPr>
          <a:xfrm>
            <a:off x="6766560" y="5486400"/>
            <a:ext cx="4617720" cy="777240"/>
          </a:xfrm>
          <a:prstGeom prst="roundRect">
            <a:avLst>
              <a:gd name="adj" fmla="val 10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03720" y="5541264"/>
            <a:ext cx="4389120" cy="685800"/>
          </a:xfrm>
          <a:prstGeom prst="rect">
            <a:avLst/>
          </a:prstGeom>
          <a:noFill/>
        </p:spPr>
        <p:txBody>
          <a:bodyPr wrap="square" lIns="0" rIns="0" tIns="0" bIns="0" anchor="ctr">
            <a:spAutoFit/>
          </a:bodyPr>
          <a:lstStyle/>
          <a:p>
            <a:pPr algn="l"/>
            <a:r>
              <a:rPr sz="1050" b="1" i="0">
                <a:solidFill>
                  <a:srgbClr val="B05A00"/>
                </a:solidFill>
                <a:latin typeface="Arial"/>
              </a:rPr>
              <a:t>Hypothesis: </a:t>
            </a:r>
            <a:r>
              <a:rPr sz="1050" b="0" i="0">
                <a:solidFill>
                  <a:srgbClr val="404040"/>
                </a:solidFill>
                <a:latin typeface="Arial"/>
              </a:rPr>
              <a:t>CT pattern + routine clinical variables classify more reliably than either source 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Project Scope — What the Prototype Will and Will Not Do</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3</a:t>
            </a:r>
          </a:p>
        </p:txBody>
      </p:sp>
      <p:sp>
        <p:nvSpPr>
          <p:cNvPr id="11" name="Rectangle 10"/>
          <p:cNvSpPr/>
          <p:nvPr/>
        </p:nvSpPr>
        <p:spPr>
          <a:xfrm>
            <a:off x="822960" y="1280160"/>
            <a:ext cx="237744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377440" cy="256032"/>
          </a:xfrm>
          <a:prstGeom prst="rect">
            <a:avLst/>
          </a:prstGeom>
          <a:noFill/>
        </p:spPr>
        <p:txBody>
          <a:bodyPr wrap="square" lIns="0" rIns="0" tIns="0" bIns="0" anchor="ctr">
            <a:spAutoFit/>
          </a:bodyPr>
          <a:lstStyle/>
          <a:p>
            <a:pPr algn="ctr"/>
            <a:r>
              <a:rPr sz="1000" b="1" i="0">
                <a:solidFill>
                  <a:srgbClr val="FFFFFF"/>
                </a:solidFill>
                <a:latin typeface="Arial"/>
              </a:rPr>
              <a:t>FUNCTIONAL REQUIREMENTS</a:t>
            </a:r>
          </a:p>
        </p:txBody>
      </p:sp>
      <p:graphicFrame>
        <p:nvGraphicFramePr>
          <p:cNvPr id="13" name="Table 12"/>
          <p:cNvGraphicFramePr>
            <a:graphicFrameLocks noGrp="1"/>
          </p:cNvGraphicFramePr>
          <p:nvPr/>
        </p:nvGraphicFramePr>
        <p:xfrm>
          <a:off x="822960" y="1645920"/>
          <a:ext cx="6035040" cy="3456432"/>
        </p:xfrm>
        <a:graphic>
          <a:graphicData uri="http://schemas.openxmlformats.org/drawingml/2006/table">
            <a:tbl>
              <a:tblPr firstRow="1" bandRow="1">
                <a:tableStyleId>{5C22544A-7EE6-4342-B048-85BDC9FD1C3A}</a:tableStyleId>
              </a:tblPr>
              <a:tblGrid>
                <a:gridCol w="548640"/>
                <a:gridCol w="4480560"/>
                <a:gridCol w="1005840"/>
              </a:tblGrid>
              <a:tr h="384048">
                <a:tc>
                  <a:txBody>
                    <a:bodyPr/>
                    <a:lstStyle/>
                    <a:p>
                      <a:pPr algn="l"/>
                      <a:r>
                        <a:rPr sz="1000" b="1">
                          <a:solidFill>
                            <a:srgbClr val="FFFFFF"/>
                          </a:solidFill>
                          <a:latin typeface="Arial"/>
                        </a:rPr>
                        <a:t>ID</a:t>
                      </a:r>
                    </a:p>
                  </a:txBody>
                  <a:tcPr marL="73152" marR="73152" marT="18288" marB="18288" anchor="ctr">
                    <a:solidFill>
                      <a:srgbClr val="203864"/>
                    </a:solidFill>
                  </a:tcPr>
                </a:tc>
                <a:tc>
                  <a:txBody>
                    <a:bodyPr/>
                    <a:lstStyle/>
                    <a:p>
                      <a:pPr algn="l"/>
                      <a:r>
                        <a:rPr sz="1000" b="1">
                          <a:solidFill>
                            <a:srgbClr val="FFFFFF"/>
                          </a:solidFill>
                          <a:latin typeface="Arial"/>
                        </a:rPr>
                        <a:t>Requirement</a:t>
                      </a:r>
                    </a:p>
                  </a:txBody>
                  <a:tcPr marL="73152" marR="73152" marT="18288" marB="18288" anchor="ctr">
                    <a:solidFill>
                      <a:srgbClr val="203864"/>
                    </a:solidFill>
                  </a:tcPr>
                </a:tc>
                <a:tc>
                  <a:txBody>
                    <a:bodyPr/>
                    <a:lstStyle/>
                    <a:p>
                      <a:pPr algn="ctr"/>
                      <a:r>
                        <a:rPr sz="1000" b="1">
                          <a:solidFill>
                            <a:srgbClr val="FFFFFF"/>
                          </a:solidFill>
                          <a:latin typeface="Arial"/>
                        </a:rPr>
                        <a:t>Priority</a:t>
                      </a:r>
                    </a:p>
                  </a:txBody>
                  <a:tcPr marL="73152" marR="73152" marT="18288" marB="18288" anchor="ctr">
                    <a:solidFill>
                      <a:srgbClr val="203864"/>
                    </a:solidFill>
                  </a:tcPr>
                </a:tc>
              </a:tr>
              <a:tr h="384048">
                <a:tc>
                  <a:txBody>
                    <a:bodyPr/>
                    <a:lstStyle/>
                    <a:p>
                      <a:pPr algn="l"/>
                      <a:r>
                        <a:rPr sz="1000" b="1">
                          <a:solidFill>
                            <a:srgbClr val="1A1A1A"/>
                          </a:solidFill>
                          <a:latin typeface="Arial"/>
                        </a:rPr>
                        <a:t>FR1</a:t>
                      </a:r>
                    </a:p>
                  </a:txBody>
                  <a:tcPr marL="73152" marR="73152" marT="18288" marB="18288" anchor="ctr">
                    <a:solidFill>
                      <a:srgbClr val="FFFFFF"/>
                    </a:solidFill>
                  </a:tcPr>
                </a:tc>
                <a:tc>
                  <a:txBody>
                    <a:bodyPr/>
                    <a:lstStyle/>
                    <a:p>
                      <a:pPr algn="l"/>
                      <a:r>
                        <a:rPr sz="1000" b="0">
                          <a:solidFill>
                            <a:srgbClr val="1A1A1A"/>
                          </a:solidFill>
                          <a:latin typeface="Arial"/>
                        </a:rPr>
                        <a:t>Load one case: CT volume (NIfTI) + clinical record</a:t>
                      </a:r>
                    </a:p>
                  </a:txBody>
                  <a:tcPr marL="73152" marR="73152" marT="18288" marB="18288" anchor="ctr">
                    <a:solidFill>
                      <a:srgbClr val="FFFFFF"/>
                    </a:solidFill>
                  </a:tcPr>
                </a:tc>
                <a:tc>
                  <a:txBody>
                    <a:bodyPr/>
                    <a:lstStyle/>
                    <a:p>
                      <a:pPr algn="ctr"/>
                      <a:r>
                        <a:rPr sz="1000" b="0">
                          <a:solidFill>
                            <a:srgbClr val="1A1A1A"/>
                          </a:solidFill>
                          <a:latin typeface="Arial"/>
                        </a:rPr>
                        <a:t>Must</a:t>
                      </a:r>
                    </a:p>
                  </a:txBody>
                  <a:tcPr marL="73152" marR="73152" marT="18288" marB="18288" anchor="ctr">
                    <a:solidFill>
                      <a:srgbClr val="FFFFFF"/>
                    </a:solidFill>
                  </a:tcPr>
                </a:tc>
              </a:tr>
              <a:tr h="384048">
                <a:tc>
                  <a:txBody>
                    <a:bodyPr/>
                    <a:lstStyle/>
                    <a:p>
                      <a:pPr algn="l"/>
                      <a:r>
                        <a:rPr sz="1000" b="1">
                          <a:solidFill>
                            <a:srgbClr val="1A1A1A"/>
                          </a:solidFill>
                          <a:latin typeface="Arial"/>
                        </a:rPr>
                        <a:t>FR2</a:t>
                      </a:r>
                    </a:p>
                  </a:txBody>
                  <a:tcPr marL="73152" marR="73152" marT="18288" marB="18288" anchor="ctr">
                    <a:solidFill>
                      <a:srgbClr val="F2F5F9"/>
                    </a:solidFill>
                  </a:tcPr>
                </a:tc>
                <a:tc>
                  <a:txBody>
                    <a:bodyPr/>
                    <a:lstStyle/>
                    <a:p>
                      <a:pPr algn="l"/>
                      <a:r>
                        <a:rPr sz="1000" b="0">
                          <a:solidFill>
                            <a:srgbClr val="1A1A1A"/>
                          </a:solidFill>
                          <a:latin typeface="Arial"/>
                        </a:rPr>
                        <a:t>Preprocess CT (window, lung crop, slice sampling)</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r h="384048">
                <a:tc>
                  <a:txBody>
                    <a:bodyPr/>
                    <a:lstStyle/>
                    <a:p>
                      <a:pPr algn="l"/>
                      <a:r>
                        <a:rPr sz="1000" b="1">
                          <a:solidFill>
                            <a:srgbClr val="1A1A1A"/>
                          </a:solidFill>
                          <a:latin typeface="Arial"/>
                        </a:rPr>
                        <a:t>FR3</a:t>
                      </a:r>
                    </a:p>
                  </a:txBody>
                  <a:tcPr marL="73152" marR="73152" marT="18288" marB="18288" anchor="ctr">
                    <a:solidFill>
                      <a:srgbClr val="FFFFFF"/>
                    </a:solidFill>
                  </a:tcPr>
                </a:tc>
                <a:tc>
                  <a:txBody>
                    <a:bodyPr/>
                    <a:lstStyle/>
                    <a:p>
                      <a:pPr algn="l"/>
                      <a:r>
                        <a:rPr sz="1000" b="0">
                          <a:solidFill>
                            <a:srgbClr val="1A1A1A"/>
                          </a:solidFill>
                          <a:latin typeface="Arial"/>
                        </a:rPr>
                        <a:t>Encode clinical data (impute, scale, one-hot)</a:t>
                      </a:r>
                    </a:p>
                  </a:txBody>
                  <a:tcPr marL="73152" marR="73152" marT="18288" marB="18288" anchor="ctr">
                    <a:solidFill>
                      <a:srgbClr val="FFFFFF"/>
                    </a:solidFill>
                  </a:tcPr>
                </a:tc>
                <a:tc>
                  <a:txBody>
                    <a:bodyPr/>
                    <a:lstStyle/>
                    <a:p>
                      <a:pPr algn="ctr"/>
                      <a:r>
                        <a:rPr sz="1000" b="0">
                          <a:solidFill>
                            <a:srgbClr val="1A1A1A"/>
                          </a:solidFill>
                          <a:latin typeface="Arial"/>
                        </a:rPr>
                        <a:t>Must</a:t>
                      </a:r>
                    </a:p>
                  </a:txBody>
                  <a:tcPr marL="73152" marR="73152" marT="18288" marB="18288" anchor="ctr">
                    <a:solidFill>
                      <a:srgbClr val="FFFFFF"/>
                    </a:solidFill>
                  </a:tcPr>
                </a:tc>
              </a:tr>
              <a:tr h="384048">
                <a:tc>
                  <a:txBody>
                    <a:bodyPr/>
                    <a:lstStyle/>
                    <a:p>
                      <a:pPr algn="l"/>
                      <a:r>
                        <a:rPr sz="1000" b="1">
                          <a:solidFill>
                            <a:srgbClr val="1A1A1A"/>
                          </a:solidFill>
                          <a:latin typeface="Arial"/>
                        </a:rPr>
                        <a:t>FR4</a:t>
                      </a:r>
                    </a:p>
                  </a:txBody>
                  <a:tcPr marL="73152" marR="73152" marT="18288" marB="18288" anchor="ctr">
                    <a:solidFill>
                      <a:srgbClr val="F2F5F9"/>
                    </a:solidFill>
                  </a:tcPr>
                </a:tc>
                <a:tc>
                  <a:txBody>
                    <a:bodyPr/>
                    <a:lstStyle/>
                    <a:p>
                      <a:pPr algn="l"/>
                      <a:r>
                        <a:rPr sz="1000" b="0">
                          <a:solidFill>
                            <a:srgbClr val="1A1A1A"/>
                          </a:solidFill>
                          <a:latin typeface="Arial"/>
                        </a:rPr>
                        <a:t>Predict 3 classes with probabilities</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r h="384048">
                <a:tc>
                  <a:txBody>
                    <a:bodyPr/>
                    <a:lstStyle/>
                    <a:p>
                      <a:pPr algn="l"/>
                      <a:r>
                        <a:rPr sz="1000" b="1">
                          <a:solidFill>
                            <a:srgbClr val="1A1A1A"/>
                          </a:solidFill>
                          <a:latin typeface="Arial"/>
                        </a:rPr>
                        <a:t>FR5</a:t>
                      </a:r>
                    </a:p>
                  </a:txBody>
                  <a:tcPr marL="73152" marR="73152" marT="18288" marB="18288" anchor="ctr">
                    <a:solidFill>
                      <a:srgbClr val="FFFFFF"/>
                    </a:solidFill>
                  </a:tcPr>
                </a:tc>
                <a:tc>
                  <a:txBody>
                    <a:bodyPr/>
                    <a:lstStyle/>
                    <a:p>
                      <a:pPr algn="l"/>
                      <a:r>
                        <a:rPr sz="1000" b="0">
                          <a:solidFill>
                            <a:srgbClr val="1A1A1A"/>
                          </a:solidFill>
                          <a:latin typeface="Arial"/>
                        </a:rPr>
                        <a:t>Return 'uncertain' when confidence is low</a:t>
                      </a:r>
                    </a:p>
                  </a:txBody>
                  <a:tcPr marL="73152" marR="73152" marT="18288" marB="18288" anchor="ctr">
                    <a:solidFill>
                      <a:srgbClr val="FFFFFF"/>
                    </a:solidFill>
                  </a:tcPr>
                </a:tc>
                <a:tc>
                  <a:txBody>
                    <a:bodyPr/>
                    <a:lstStyle/>
                    <a:p>
                      <a:pPr algn="ctr"/>
                      <a:r>
                        <a:rPr sz="1000" b="0">
                          <a:solidFill>
                            <a:srgbClr val="1A1A1A"/>
                          </a:solidFill>
                          <a:latin typeface="Arial"/>
                        </a:rPr>
                        <a:t>Should</a:t>
                      </a:r>
                    </a:p>
                  </a:txBody>
                  <a:tcPr marL="73152" marR="73152" marT="18288" marB="18288" anchor="ctr">
                    <a:solidFill>
                      <a:srgbClr val="FFFFFF"/>
                    </a:solidFill>
                  </a:tcPr>
                </a:tc>
              </a:tr>
              <a:tr h="384048">
                <a:tc>
                  <a:txBody>
                    <a:bodyPr/>
                    <a:lstStyle/>
                    <a:p>
                      <a:pPr algn="l"/>
                      <a:r>
                        <a:rPr sz="1000" b="1">
                          <a:solidFill>
                            <a:srgbClr val="1A1A1A"/>
                          </a:solidFill>
                          <a:latin typeface="Arial"/>
                        </a:rPr>
                        <a:t>FR6</a:t>
                      </a:r>
                    </a:p>
                  </a:txBody>
                  <a:tcPr marL="73152" marR="73152" marT="18288" marB="18288" anchor="ctr">
                    <a:solidFill>
                      <a:srgbClr val="F2F5F9"/>
                    </a:solidFill>
                  </a:tcPr>
                </a:tc>
                <a:tc>
                  <a:txBody>
                    <a:bodyPr/>
                    <a:lstStyle/>
                    <a:p>
                      <a:pPr algn="l"/>
                      <a:r>
                        <a:rPr sz="1000" b="0">
                          <a:solidFill>
                            <a:srgbClr val="1A1A1A"/>
                          </a:solidFill>
                          <a:latin typeface="Arial"/>
                        </a:rPr>
                        <a:t>Saliency map over CT slices (lesion localisation)</a:t>
                      </a:r>
                    </a:p>
                  </a:txBody>
                  <a:tcPr marL="73152" marR="73152" marT="18288" marB="18288" anchor="ctr">
                    <a:solidFill>
                      <a:srgbClr val="F2F5F9"/>
                    </a:solidFill>
                  </a:tcPr>
                </a:tc>
                <a:tc>
                  <a:txBody>
                    <a:bodyPr/>
                    <a:lstStyle/>
                    <a:p>
                      <a:pPr algn="ctr"/>
                      <a:r>
                        <a:rPr sz="1000" b="0">
                          <a:solidFill>
                            <a:srgbClr val="1A1A1A"/>
                          </a:solidFill>
                          <a:latin typeface="Arial"/>
                        </a:rPr>
                        <a:t>Should</a:t>
                      </a:r>
                    </a:p>
                  </a:txBody>
                  <a:tcPr marL="73152" marR="73152" marT="18288" marB="18288" anchor="ctr">
                    <a:solidFill>
                      <a:srgbClr val="F2F5F9"/>
                    </a:solidFill>
                  </a:tcPr>
                </a:tc>
              </a:tr>
              <a:tr h="384048">
                <a:tc>
                  <a:txBody>
                    <a:bodyPr/>
                    <a:lstStyle/>
                    <a:p>
                      <a:pPr algn="l"/>
                      <a:r>
                        <a:rPr sz="1000" b="1">
                          <a:solidFill>
                            <a:srgbClr val="1A1A1A"/>
                          </a:solidFill>
                          <a:latin typeface="Arial"/>
                        </a:rPr>
                        <a:t>FR7</a:t>
                      </a:r>
                    </a:p>
                  </a:txBody>
                  <a:tcPr marL="73152" marR="73152" marT="18288" marB="18288" anchor="ctr">
                    <a:solidFill>
                      <a:srgbClr val="FFFFFF"/>
                    </a:solidFill>
                  </a:tcPr>
                </a:tc>
                <a:tc>
                  <a:txBody>
                    <a:bodyPr/>
                    <a:lstStyle/>
                    <a:p>
                      <a:pPr algn="l"/>
                      <a:r>
                        <a:rPr sz="1000" b="0">
                          <a:solidFill>
                            <a:srgbClr val="1A1A1A"/>
                          </a:solidFill>
                          <a:latin typeface="Arial"/>
                        </a:rPr>
                        <a:t>Severity estimate (definition to agree with supervisor)</a:t>
                      </a:r>
                    </a:p>
                  </a:txBody>
                  <a:tcPr marL="73152" marR="73152" marT="18288" marB="18288" anchor="ctr">
                    <a:solidFill>
                      <a:srgbClr val="FFFFFF"/>
                    </a:solidFill>
                  </a:tcPr>
                </a:tc>
                <a:tc>
                  <a:txBody>
                    <a:bodyPr/>
                    <a:lstStyle/>
                    <a:p>
                      <a:pPr algn="ctr"/>
                      <a:r>
                        <a:rPr sz="1000" b="0">
                          <a:solidFill>
                            <a:srgbClr val="1A1A1A"/>
                          </a:solidFill>
                          <a:latin typeface="Arial"/>
                        </a:rPr>
                        <a:t>Could</a:t>
                      </a:r>
                    </a:p>
                  </a:txBody>
                  <a:tcPr marL="73152" marR="73152" marT="18288" marB="18288" anchor="ctr">
                    <a:solidFill>
                      <a:srgbClr val="FFFFFF"/>
                    </a:solidFill>
                  </a:tcPr>
                </a:tc>
              </a:tr>
              <a:tr h="384048">
                <a:tc>
                  <a:txBody>
                    <a:bodyPr/>
                    <a:lstStyle/>
                    <a:p>
                      <a:pPr algn="l"/>
                      <a:r>
                        <a:rPr sz="1000" b="1">
                          <a:solidFill>
                            <a:srgbClr val="1A1A1A"/>
                          </a:solidFill>
                          <a:latin typeface="Arial"/>
                        </a:rPr>
                        <a:t>FR8</a:t>
                      </a:r>
                    </a:p>
                  </a:txBody>
                  <a:tcPr marL="73152" marR="73152" marT="18288" marB="18288" anchor="ctr">
                    <a:solidFill>
                      <a:srgbClr val="F2F5F9"/>
                    </a:solidFill>
                  </a:tcPr>
                </a:tc>
                <a:tc>
                  <a:txBody>
                    <a:bodyPr/>
                    <a:lstStyle/>
                    <a:p>
                      <a:pPr algn="l"/>
                      <a:r>
                        <a:rPr sz="1000" b="0">
                          <a:solidFill>
                            <a:srgbClr val="1A1A1A"/>
                          </a:solidFill>
                          <a:latin typeface="Arial"/>
                        </a:rPr>
                        <a:t>Viewer UI: CT slices + clinical panel + outputs</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bl>
          </a:graphicData>
        </a:graphic>
      </p:graphicFrame>
      <p:sp>
        <p:nvSpPr>
          <p:cNvPr id="14" name="Rectangle 13"/>
          <p:cNvSpPr/>
          <p:nvPr/>
        </p:nvSpPr>
        <p:spPr>
          <a:xfrm>
            <a:off x="7269480" y="1280160"/>
            <a:ext cx="283464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280160"/>
            <a:ext cx="2834640" cy="256032"/>
          </a:xfrm>
          <a:prstGeom prst="rect">
            <a:avLst/>
          </a:prstGeom>
          <a:noFill/>
        </p:spPr>
        <p:txBody>
          <a:bodyPr wrap="square" lIns="0" rIns="0" tIns="0" bIns="0" anchor="ctr">
            <a:spAutoFit/>
          </a:bodyPr>
          <a:lstStyle/>
          <a:p>
            <a:pPr algn="ctr"/>
            <a:r>
              <a:rPr sz="1000" b="1" i="0">
                <a:solidFill>
                  <a:srgbClr val="FFFFFF"/>
                </a:solidFill>
                <a:latin typeface="Arial"/>
              </a:rPr>
              <a:t>PATTERN-RECOGNITION TECHNIQUES</a:t>
            </a:r>
          </a:p>
        </p:txBody>
      </p:sp>
      <p:sp>
        <p:nvSpPr>
          <p:cNvPr id="16" name="Rounded Rectangle 15"/>
          <p:cNvSpPr/>
          <p:nvPr/>
        </p:nvSpPr>
        <p:spPr>
          <a:xfrm>
            <a:off x="7269480" y="164592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69480" y="1719072"/>
            <a:ext cx="64008" cy="6309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737360"/>
            <a:ext cx="3840480" cy="274320"/>
          </a:xfrm>
          <a:prstGeom prst="rect">
            <a:avLst/>
          </a:prstGeom>
          <a:noFill/>
        </p:spPr>
        <p:txBody>
          <a:bodyPr wrap="square" lIns="0" rIns="0" tIns="0" bIns="0" anchor="t">
            <a:spAutoFit/>
          </a:bodyPr>
          <a:lstStyle/>
          <a:p>
            <a:pPr algn="l"/>
            <a:r>
              <a:rPr sz="1150" b="1" i="0">
                <a:solidFill>
                  <a:srgbClr val="203864"/>
                </a:solidFill>
                <a:latin typeface="Arial"/>
              </a:rPr>
              <a:t>Supervised deep learning</a:t>
            </a:r>
          </a:p>
        </p:txBody>
      </p:sp>
      <p:sp>
        <p:nvSpPr>
          <p:cNvPr id="19" name="TextBox 18"/>
          <p:cNvSpPr txBox="1"/>
          <p:nvPr/>
        </p:nvSpPr>
        <p:spPr>
          <a:xfrm>
            <a:off x="7452360" y="2029968"/>
            <a:ext cx="3840480" cy="320040"/>
          </a:xfrm>
          <a:prstGeom prst="rect">
            <a:avLst/>
          </a:prstGeom>
          <a:noFill/>
        </p:spPr>
        <p:txBody>
          <a:bodyPr wrap="square" lIns="0" rIns="0" tIns="0" bIns="0" anchor="t">
            <a:spAutoFit/>
          </a:bodyPr>
          <a:lstStyle/>
          <a:p>
            <a:pPr algn="l"/>
            <a:r>
              <a:rPr sz="950" b="0" i="0">
                <a:solidFill>
                  <a:srgbClr val="404040"/>
                </a:solidFill>
                <a:latin typeface="Arial"/>
              </a:rPr>
              <a:t>Transfer learning from ImageNet ResNet-18 / ResNet-50 on 2.5D CT slices</a:t>
            </a:r>
          </a:p>
        </p:txBody>
      </p:sp>
      <p:sp>
        <p:nvSpPr>
          <p:cNvPr id="20" name="Rounded Rectangle 19"/>
          <p:cNvSpPr/>
          <p:nvPr/>
        </p:nvSpPr>
        <p:spPr>
          <a:xfrm>
            <a:off x="7269480" y="251460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2587752"/>
            <a:ext cx="64008" cy="6309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2606040"/>
            <a:ext cx="3840480" cy="274320"/>
          </a:xfrm>
          <a:prstGeom prst="rect">
            <a:avLst/>
          </a:prstGeom>
          <a:noFill/>
        </p:spPr>
        <p:txBody>
          <a:bodyPr wrap="square" lIns="0" rIns="0" tIns="0" bIns="0" anchor="t">
            <a:spAutoFit/>
          </a:bodyPr>
          <a:lstStyle/>
          <a:p>
            <a:pPr algn="l"/>
            <a:r>
              <a:rPr sz="1150" b="1" i="0">
                <a:solidFill>
                  <a:srgbClr val="0E7C86"/>
                </a:solidFill>
                <a:latin typeface="Arial"/>
              </a:rPr>
              <a:t>Multimodal fusion</a:t>
            </a:r>
          </a:p>
        </p:txBody>
      </p:sp>
      <p:sp>
        <p:nvSpPr>
          <p:cNvPr id="23" name="TextBox 22"/>
          <p:cNvSpPr txBox="1"/>
          <p:nvPr/>
        </p:nvSpPr>
        <p:spPr>
          <a:xfrm>
            <a:off x="7452360" y="2898648"/>
            <a:ext cx="3840480" cy="320040"/>
          </a:xfrm>
          <a:prstGeom prst="rect">
            <a:avLst/>
          </a:prstGeom>
          <a:noFill/>
        </p:spPr>
        <p:txBody>
          <a:bodyPr wrap="square" lIns="0" rIns="0" tIns="0" bIns="0" anchor="t">
            <a:spAutoFit/>
          </a:bodyPr>
          <a:lstStyle/>
          <a:p>
            <a:pPr algn="l"/>
            <a:r>
              <a:rPr sz="950" b="0" i="0">
                <a:solidFill>
                  <a:srgbClr val="404040"/>
                </a:solidFill>
                <a:latin typeface="Arial"/>
              </a:rPr>
              <a:t>CT features ⊕ clinical MLP features → MLP classifier (late / feature fusion)</a:t>
            </a:r>
          </a:p>
        </p:txBody>
      </p:sp>
      <p:sp>
        <p:nvSpPr>
          <p:cNvPr id="24" name="Rounded Rectangle 23"/>
          <p:cNvSpPr/>
          <p:nvPr/>
        </p:nvSpPr>
        <p:spPr>
          <a:xfrm>
            <a:off x="7269480" y="338328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9480" y="3456432"/>
            <a:ext cx="64008" cy="6309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3474720"/>
            <a:ext cx="3840480" cy="274320"/>
          </a:xfrm>
          <a:prstGeom prst="rect">
            <a:avLst/>
          </a:prstGeom>
          <a:noFill/>
        </p:spPr>
        <p:txBody>
          <a:bodyPr wrap="square" lIns="0" rIns="0" tIns="0" bIns="0" anchor="t">
            <a:spAutoFit/>
          </a:bodyPr>
          <a:lstStyle/>
          <a:p>
            <a:pPr algn="l"/>
            <a:r>
              <a:rPr sz="1150" b="1" i="0">
                <a:solidFill>
                  <a:srgbClr val="203864"/>
                </a:solidFill>
                <a:latin typeface="Arial"/>
              </a:rPr>
              <a:t>Classical ML baselines</a:t>
            </a:r>
          </a:p>
        </p:txBody>
      </p:sp>
      <p:sp>
        <p:nvSpPr>
          <p:cNvPr id="27" name="TextBox 26"/>
          <p:cNvSpPr txBox="1"/>
          <p:nvPr/>
        </p:nvSpPr>
        <p:spPr>
          <a:xfrm>
            <a:off x="7452360" y="3767328"/>
            <a:ext cx="3840480" cy="320040"/>
          </a:xfrm>
          <a:prstGeom prst="rect">
            <a:avLst/>
          </a:prstGeom>
          <a:noFill/>
        </p:spPr>
        <p:txBody>
          <a:bodyPr wrap="square" lIns="0" rIns="0" tIns="0" bIns="0" anchor="t">
            <a:spAutoFit/>
          </a:bodyPr>
          <a:lstStyle/>
          <a:p>
            <a:pPr algn="l"/>
            <a:r>
              <a:rPr sz="950" b="0" i="0">
                <a:solidFill>
                  <a:srgbClr val="404040"/>
                </a:solidFill>
                <a:latin typeface="Arial"/>
              </a:rPr>
              <a:t>Logistic regression, random forest, LightGBM on clinical variables</a:t>
            </a:r>
          </a:p>
        </p:txBody>
      </p:sp>
      <p:sp>
        <p:nvSpPr>
          <p:cNvPr id="28" name="Rounded Rectangle 27"/>
          <p:cNvSpPr/>
          <p:nvPr/>
        </p:nvSpPr>
        <p:spPr>
          <a:xfrm>
            <a:off x="7269480" y="4251959"/>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69480" y="4325112"/>
            <a:ext cx="64008" cy="6309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343399"/>
            <a:ext cx="3840480" cy="274320"/>
          </a:xfrm>
          <a:prstGeom prst="rect">
            <a:avLst/>
          </a:prstGeom>
          <a:noFill/>
        </p:spPr>
        <p:txBody>
          <a:bodyPr wrap="square" lIns="0" rIns="0" tIns="0" bIns="0" anchor="t">
            <a:spAutoFit/>
          </a:bodyPr>
          <a:lstStyle/>
          <a:p>
            <a:pPr algn="l"/>
            <a:r>
              <a:rPr sz="1150" b="1" i="0">
                <a:solidFill>
                  <a:srgbClr val="0E7C86"/>
                </a:solidFill>
                <a:latin typeface="Arial"/>
              </a:rPr>
              <a:t>Explainability</a:t>
            </a:r>
          </a:p>
        </p:txBody>
      </p:sp>
      <p:sp>
        <p:nvSpPr>
          <p:cNvPr id="31" name="TextBox 30"/>
          <p:cNvSpPr txBox="1"/>
          <p:nvPr/>
        </p:nvSpPr>
        <p:spPr>
          <a:xfrm>
            <a:off x="7452360" y="4636007"/>
            <a:ext cx="3840480" cy="320040"/>
          </a:xfrm>
          <a:prstGeom prst="rect">
            <a:avLst/>
          </a:prstGeom>
          <a:noFill/>
        </p:spPr>
        <p:txBody>
          <a:bodyPr wrap="square" lIns="0" rIns="0" tIns="0" bIns="0" anchor="t">
            <a:spAutoFit/>
          </a:bodyPr>
          <a:lstStyle/>
          <a:p>
            <a:pPr algn="l"/>
            <a:r>
              <a:rPr sz="950" b="0" i="0">
                <a:solidFill>
                  <a:srgbClr val="404040"/>
                </a:solidFill>
                <a:latin typeface="Arial"/>
              </a:rPr>
              <a:t>Grad-CAM saliency for weakly-supervised lesion localisation</a:t>
            </a:r>
          </a:p>
        </p:txBody>
      </p:sp>
      <p:sp>
        <p:nvSpPr>
          <p:cNvPr id="32" name="Rounded Rectangle 31"/>
          <p:cNvSpPr/>
          <p:nvPr/>
        </p:nvSpPr>
        <p:spPr>
          <a:xfrm>
            <a:off x="7269480" y="5166360"/>
            <a:ext cx="4114800" cy="868680"/>
          </a:xfrm>
          <a:prstGeom prst="roundRect">
            <a:avLst>
              <a:gd name="adj" fmla="val 6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230368"/>
            <a:ext cx="3840480" cy="1005840"/>
          </a:xfrm>
          <a:prstGeom prst="rect">
            <a:avLst/>
          </a:prstGeom>
          <a:noFill/>
        </p:spPr>
        <p:txBody>
          <a:bodyPr wrap="square" lIns="0" rIns="0" tIns="0" bIns="0" anchor="t">
            <a:spAutoFit/>
          </a:bodyPr>
          <a:lstStyle/>
          <a:p>
            <a:pPr algn="l"/>
            <a:r>
              <a:rPr sz="1000" b="1" i="0">
                <a:solidFill>
                  <a:srgbClr val="1A1A1A"/>
                </a:solidFill>
                <a:latin typeface="Arial"/>
              </a:rPr>
              <a:t>Out of scope: </a:t>
            </a:r>
            <a:r>
              <a:rPr sz="1000" b="0" i="0">
                <a:solidFill>
                  <a:srgbClr val="404040"/>
                </a:solidFill>
                <a:latin typeface="Arial"/>
              </a:rPr>
              <a:t>clinical validation or certification, deployment in hospital workflow, pathogen species identification, voxel-level lesion segmentation (no masks in the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 PAC569 Multi-Modal Dataset (OMIX014539, NGDC China)</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4</a:t>
            </a:r>
          </a:p>
        </p:txBody>
      </p:sp>
      <p:sp>
        <p:nvSpPr>
          <p:cNvPr id="11" name="Rectangle 10"/>
          <p:cNvSpPr/>
          <p:nvPr/>
        </p:nvSpPr>
        <p:spPr>
          <a:xfrm>
            <a:off x="822960" y="1280160"/>
            <a:ext cx="210312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103120" cy="256032"/>
          </a:xfrm>
          <a:prstGeom prst="rect">
            <a:avLst/>
          </a:prstGeom>
          <a:noFill/>
        </p:spPr>
        <p:txBody>
          <a:bodyPr wrap="square" lIns="0" rIns="0" tIns="0" bIns="0" anchor="ctr">
            <a:spAutoFit/>
          </a:bodyPr>
          <a:lstStyle/>
          <a:p>
            <a:pPr algn="ctr"/>
            <a:r>
              <a:rPr sz="1000" b="1" i="0">
                <a:solidFill>
                  <a:srgbClr val="FFFFFF"/>
                </a:solidFill>
                <a:latin typeface="Arial"/>
              </a:rPr>
              <a:t>WHAT WE DOWNLOADED</a:t>
            </a:r>
          </a:p>
        </p:txBody>
      </p:sp>
      <p:graphicFrame>
        <p:nvGraphicFramePr>
          <p:cNvPr id="13" name="Table 12"/>
          <p:cNvGraphicFramePr>
            <a:graphicFrameLocks noGrp="1"/>
          </p:cNvGraphicFramePr>
          <p:nvPr/>
        </p:nvGraphicFramePr>
        <p:xfrm>
          <a:off x="822960" y="1645920"/>
          <a:ext cx="5852160" cy="1371600"/>
        </p:xfrm>
        <a:graphic>
          <a:graphicData uri="http://schemas.openxmlformats.org/drawingml/2006/table">
            <a:tbl>
              <a:tblPr firstRow="1" bandRow="1">
                <a:tableStyleId>{5C22544A-7EE6-4342-B048-85BDC9FD1C3A}</a:tableStyleId>
              </a:tblPr>
              <a:tblGrid>
                <a:gridCol w="1417320"/>
                <a:gridCol w="2423160"/>
                <a:gridCol w="1005840"/>
                <a:gridCol w="1005840"/>
              </a:tblGrid>
              <a:tr h="274320">
                <a:tc>
                  <a:txBody>
                    <a:bodyPr/>
                    <a:lstStyle/>
                    <a:p>
                      <a:pPr algn="l"/>
                      <a:r>
                        <a:rPr sz="1000" b="1">
                          <a:solidFill>
                            <a:srgbClr val="FFFFFF"/>
                          </a:solidFill>
                          <a:latin typeface="Arial"/>
                        </a:rPr>
                        <a:t>File</a:t>
                      </a:r>
                    </a:p>
                  </a:txBody>
                  <a:tcPr marL="73152" marR="73152" marT="18288" marB="18288" anchor="ctr">
                    <a:solidFill>
                      <a:srgbClr val="203864"/>
                    </a:solidFill>
                  </a:tcPr>
                </a:tc>
                <a:tc>
                  <a:txBody>
                    <a:bodyPr/>
                    <a:lstStyle/>
                    <a:p>
                      <a:pPr algn="l"/>
                      <a:r>
                        <a:rPr sz="1000" b="1">
                          <a:solidFill>
                            <a:srgbClr val="FFFFFF"/>
                          </a:solidFill>
                          <a:latin typeface="Arial"/>
                        </a:rPr>
                        <a:t>Content</a:t>
                      </a:r>
                    </a:p>
                  </a:txBody>
                  <a:tcPr marL="73152" marR="73152" marT="18288" marB="18288" anchor="ctr">
                    <a:solidFill>
                      <a:srgbClr val="203864"/>
                    </a:solidFill>
                  </a:tcPr>
                </a:tc>
                <a:tc>
                  <a:txBody>
                    <a:bodyPr/>
                    <a:lstStyle/>
                    <a:p>
                      <a:pPr algn="ctr"/>
                      <a:r>
                        <a:rPr sz="1000" b="1">
                          <a:solidFill>
                            <a:srgbClr val="FFFFFF"/>
                          </a:solidFill>
                          <a:latin typeface="Arial"/>
                        </a:rPr>
                        <a:t>Cases</a:t>
                      </a:r>
                    </a:p>
                  </a:txBody>
                  <a:tcPr marL="73152" marR="73152" marT="18288" marB="18288" anchor="ctr">
                    <a:solidFill>
                      <a:srgbClr val="203864"/>
                    </a:solidFill>
                  </a:tcPr>
                </a:tc>
                <a:tc>
                  <a:txBody>
                    <a:bodyPr/>
                    <a:lstStyle/>
                    <a:p>
                      <a:pPr algn="ctr"/>
                      <a:r>
                        <a:rPr sz="1000" b="1">
                          <a:solidFill>
                            <a:srgbClr val="FFFFFF"/>
                          </a:solidFill>
                          <a:latin typeface="Arial"/>
                        </a:rPr>
                        <a:t>Size</a:t>
                      </a:r>
                    </a:p>
                  </a:txBody>
                  <a:tcPr marL="73152" marR="73152" marT="18288" marB="18288" anchor="ctr">
                    <a:solidFill>
                      <a:srgbClr val="203864"/>
                    </a:solidFill>
                  </a:tcPr>
                </a:tc>
              </a:tr>
              <a:tr h="274320">
                <a:tc>
                  <a:txBody>
                    <a:bodyPr/>
                    <a:lstStyle/>
                    <a:p>
                      <a:pPr algn="l"/>
                      <a:r>
                        <a:rPr sz="1000" b="1">
                          <a:solidFill>
                            <a:srgbClr val="1A1A1A"/>
                          </a:solidFill>
                          <a:latin typeface="Arial"/>
                        </a:rPr>
                        <a:t>OMIX014539-03</a:t>
                      </a:r>
                    </a:p>
                  </a:txBody>
                  <a:tcPr marL="73152" marR="73152" marT="18288" marB="18288" anchor="ctr">
                    <a:solidFill>
                      <a:srgbClr val="FFFFFF"/>
                    </a:solidFill>
                  </a:tcPr>
                </a:tc>
                <a:tc>
                  <a:txBody>
                    <a:bodyPr/>
                    <a:lstStyle/>
                    <a:p>
                      <a:pPr algn="l"/>
                      <a:r>
                        <a:rPr sz="1000" b="0">
                          <a:solidFill>
                            <a:srgbClr val="1A1A1A"/>
                          </a:solidFill>
                          <a:latin typeface="Arial"/>
                        </a:rPr>
                        <a:t>Aspergillus CT (.nii.gz)</a:t>
                      </a:r>
                    </a:p>
                  </a:txBody>
                  <a:tcPr marL="73152" marR="73152" marT="18288" marB="18288" anchor="ctr">
                    <a:solidFill>
                      <a:srgbClr val="FFFFFF"/>
                    </a:solidFill>
                  </a:tcPr>
                </a:tc>
                <a:tc>
                  <a:txBody>
                    <a:bodyPr/>
                    <a:lstStyle/>
                    <a:p>
                      <a:pPr algn="ctr"/>
                      <a:r>
                        <a:rPr sz="1000" b="0">
                          <a:solidFill>
                            <a:srgbClr val="1A1A1A"/>
                          </a:solidFill>
                          <a:latin typeface="Arial"/>
                        </a:rPr>
                        <a:t>153</a:t>
                      </a:r>
                    </a:p>
                  </a:txBody>
                  <a:tcPr marL="73152" marR="73152" marT="18288" marB="18288" anchor="ctr">
                    <a:solidFill>
                      <a:srgbClr val="FFFFFF"/>
                    </a:solidFill>
                  </a:tcPr>
                </a:tc>
                <a:tc>
                  <a:txBody>
                    <a:bodyPr/>
                    <a:lstStyle/>
                    <a:p>
                      <a:pPr algn="ctr"/>
                      <a:r>
                        <a:rPr sz="1000" b="0">
                          <a:solidFill>
                            <a:srgbClr val="1A1A1A"/>
                          </a:solidFill>
                          <a:latin typeface="Arial"/>
                        </a:rPr>
                        <a:t>3.53 GB</a:t>
                      </a:r>
                    </a:p>
                  </a:txBody>
                  <a:tcPr marL="73152" marR="73152" marT="18288" marB="18288" anchor="ctr">
                    <a:solidFill>
                      <a:srgbClr val="FFFFFF"/>
                    </a:solidFill>
                  </a:tcPr>
                </a:tc>
              </a:tr>
              <a:tr h="274320">
                <a:tc>
                  <a:txBody>
                    <a:bodyPr/>
                    <a:lstStyle/>
                    <a:p>
                      <a:pPr algn="l"/>
                      <a:r>
                        <a:rPr sz="1000" b="1">
                          <a:solidFill>
                            <a:srgbClr val="1A1A1A"/>
                          </a:solidFill>
                          <a:latin typeface="Arial"/>
                        </a:rPr>
                        <a:t>OMIX014539-04</a:t>
                      </a:r>
                    </a:p>
                  </a:txBody>
                  <a:tcPr marL="73152" marR="73152" marT="18288" marB="18288" anchor="ctr">
                    <a:solidFill>
                      <a:srgbClr val="F2F5F9"/>
                    </a:solidFill>
                  </a:tcPr>
                </a:tc>
                <a:tc>
                  <a:txBody>
                    <a:bodyPr/>
                    <a:lstStyle/>
                    <a:p>
                      <a:pPr algn="l"/>
                      <a:r>
                        <a:rPr sz="1000" b="0">
                          <a:solidFill>
                            <a:srgbClr val="1A1A1A"/>
                          </a:solidFill>
                          <a:latin typeface="Arial"/>
                        </a:rPr>
                        <a:t>Non-Aspergillus fungi CT</a:t>
                      </a:r>
                    </a:p>
                  </a:txBody>
                  <a:tcPr marL="73152" marR="73152" marT="18288" marB="18288" anchor="ctr">
                    <a:solidFill>
                      <a:srgbClr val="F2F5F9"/>
                    </a:solidFill>
                  </a:tcPr>
                </a:tc>
                <a:tc>
                  <a:txBody>
                    <a:bodyPr/>
                    <a:lstStyle/>
                    <a:p>
                      <a:pPr algn="ctr"/>
                      <a:r>
                        <a:rPr sz="1000" b="0">
                          <a:solidFill>
                            <a:srgbClr val="1A1A1A"/>
                          </a:solidFill>
                          <a:latin typeface="Arial"/>
                        </a:rPr>
                        <a:t>209</a:t>
                      </a:r>
                    </a:p>
                  </a:txBody>
                  <a:tcPr marL="73152" marR="73152" marT="18288" marB="18288" anchor="ctr">
                    <a:solidFill>
                      <a:srgbClr val="F2F5F9"/>
                    </a:solidFill>
                  </a:tcPr>
                </a:tc>
                <a:tc>
                  <a:txBody>
                    <a:bodyPr/>
                    <a:lstStyle/>
                    <a:p>
                      <a:pPr algn="ctr"/>
                      <a:r>
                        <a:rPr sz="1000" b="0">
                          <a:solidFill>
                            <a:srgbClr val="1A1A1A"/>
                          </a:solidFill>
                          <a:latin typeface="Arial"/>
                        </a:rPr>
                        <a:t>4.88 GB</a:t>
                      </a:r>
                    </a:p>
                  </a:txBody>
                  <a:tcPr marL="73152" marR="73152" marT="18288" marB="18288" anchor="ctr">
                    <a:solidFill>
                      <a:srgbClr val="F2F5F9"/>
                    </a:solidFill>
                  </a:tcPr>
                </a:tc>
              </a:tr>
              <a:tr h="274320">
                <a:tc>
                  <a:txBody>
                    <a:bodyPr/>
                    <a:lstStyle/>
                    <a:p>
                      <a:pPr algn="l"/>
                      <a:r>
                        <a:rPr sz="1000" b="1">
                          <a:solidFill>
                            <a:srgbClr val="1A1A1A"/>
                          </a:solidFill>
                          <a:latin typeface="Arial"/>
                        </a:rPr>
                        <a:t>OMIX014539-05</a:t>
                      </a:r>
                    </a:p>
                  </a:txBody>
                  <a:tcPr marL="73152" marR="73152" marT="18288" marB="18288" anchor="ctr">
                    <a:solidFill>
                      <a:srgbClr val="FFFFFF"/>
                    </a:solidFill>
                  </a:tcPr>
                </a:tc>
                <a:tc>
                  <a:txBody>
                    <a:bodyPr/>
                    <a:lstStyle/>
                    <a:p>
                      <a:pPr algn="l"/>
                      <a:r>
                        <a:rPr sz="1000" b="0">
                          <a:solidFill>
                            <a:srgbClr val="1A1A1A"/>
                          </a:solidFill>
                          <a:latin typeface="Arial"/>
                        </a:rPr>
                        <a:t>Non-fungal CT</a:t>
                      </a:r>
                    </a:p>
                  </a:txBody>
                  <a:tcPr marL="73152" marR="73152" marT="18288" marB="18288" anchor="ctr">
                    <a:solidFill>
                      <a:srgbClr val="FFFFFF"/>
                    </a:solidFill>
                  </a:tcPr>
                </a:tc>
                <a:tc>
                  <a:txBody>
                    <a:bodyPr/>
                    <a:lstStyle/>
                    <a:p>
                      <a:pPr algn="ctr"/>
                      <a:r>
                        <a:rPr sz="1000" b="0">
                          <a:solidFill>
                            <a:srgbClr val="1A1A1A"/>
                          </a:solidFill>
                          <a:latin typeface="Arial"/>
                        </a:rPr>
                        <a:t>207</a:t>
                      </a:r>
                    </a:p>
                  </a:txBody>
                  <a:tcPr marL="73152" marR="73152" marT="18288" marB="18288" anchor="ctr">
                    <a:solidFill>
                      <a:srgbClr val="FFFFFF"/>
                    </a:solidFill>
                  </a:tcPr>
                </a:tc>
                <a:tc>
                  <a:txBody>
                    <a:bodyPr/>
                    <a:lstStyle/>
                    <a:p>
                      <a:pPr algn="ctr"/>
                      <a:r>
                        <a:rPr sz="1000" b="0">
                          <a:solidFill>
                            <a:srgbClr val="1A1A1A"/>
                          </a:solidFill>
                          <a:latin typeface="Arial"/>
                        </a:rPr>
                        <a:t>4.67 GB</a:t>
                      </a:r>
                    </a:p>
                  </a:txBody>
                  <a:tcPr marL="73152" marR="73152" marT="18288" marB="18288" anchor="ctr">
                    <a:solidFill>
                      <a:srgbClr val="FFFFFF"/>
                    </a:solidFill>
                  </a:tcPr>
                </a:tc>
              </a:tr>
              <a:tr h="274320">
                <a:tc>
                  <a:txBody>
                    <a:bodyPr/>
                    <a:lstStyle/>
                    <a:p>
                      <a:pPr algn="l"/>
                      <a:r>
                        <a:rPr sz="1000" b="1">
                          <a:solidFill>
                            <a:srgbClr val="1A1A1A"/>
                          </a:solidFill>
                          <a:latin typeface="Arial"/>
                        </a:rPr>
                        <a:t>OMIX014539-08</a:t>
                      </a:r>
                    </a:p>
                  </a:txBody>
                  <a:tcPr marL="73152" marR="73152" marT="18288" marB="18288" anchor="ctr">
                    <a:solidFill>
                      <a:srgbClr val="F2F5F9"/>
                    </a:solidFill>
                  </a:tcPr>
                </a:tc>
                <a:tc>
                  <a:txBody>
                    <a:bodyPr/>
                    <a:lstStyle/>
                    <a:p>
                      <a:pPr algn="l"/>
                      <a:r>
                        <a:rPr sz="1000" b="0">
                          <a:solidFill>
                            <a:srgbClr val="1A1A1A"/>
                          </a:solidFill>
                          <a:latin typeface="Arial"/>
                        </a:rPr>
                        <a:t>Clinical variables (.csv)</a:t>
                      </a:r>
                    </a:p>
                  </a:txBody>
                  <a:tcPr marL="73152" marR="73152" marT="18288" marB="18288" anchor="ctr">
                    <a:solidFill>
                      <a:srgbClr val="F2F5F9"/>
                    </a:solidFill>
                  </a:tcPr>
                </a:tc>
                <a:tc>
                  <a:txBody>
                    <a:bodyPr/>
                    <a:lstStyle/>
                    <a:p>
                      <a:pPr algn="ctr"/>
                      <a:r>
                        <a:rPr sz="1000" b="0">
                          <a:solidFill>
                            <a:srgbClr val="1A1A1A"/>
                          </a:solidFill>
                          <a:latin typeface="Arial"/>
                        </a:rPr>
                        <a:t>569 rows</a:t>
                      </a:r>
                    </a:p>
                  </a:txBody>
                  <a:tcPr marL="73152" marR="73152" marT="18288" marB="18288" anchor="ctr">
                    <a:solidFill>
                      <a:srgbClr val="F2F5F9"/>
                    </a:solidFill>
                  </a:tcPr>
                </a:tc>
                <a:tc>
                  <a:txBody>
                    <a:bodyPr/>
                    <a:lstStyle/>
                    <a:p>
                      <a:pPr algn="ctr"/>
                      <a:r>
                        <a:rPr sz="1000" b="0">
                          <a:solidFill>
                            <a:srgbClr val="1A1A1A"/>
                          </a:solidFill>
                          <a:latin typeface="Arial"/>
                        </a:rPr>
                        <a:t>28 KB</a:t>
                      </a:r>
                    </a:p>
                  </a:txBody>
                  <a:tcPr marL="73152" marR="73152" marT="18288" marB="18288" anchor="ctr">
                    <a:solidFill>
                      <a:srgbClr val="F2F5F9"/>
                    </a:solidFill>
                  </a:tcPr>
                </a:tc>
              </a:tr>
            </a:tbl>
          </a:graphicData>
        </a:graphic>
      </p:graphicFrame>
      <p:pic>
        <p:nvPicPr>
          <p:cNvPr id="14" name="Picture 13" descr="eda_class_missing.png"/>
          <p:cNvPicPr>
            <a:picLocks noChangeAspect="1"/>
          </p:cNvPicPr>
          <p:nvPr/>
        </p:nvPicPr>
        <p:blipFill>
          <a:blip r:embed="rId2"/>
          <a:stretch>
            <a:fillRect/>
          </a:stretch>
        </p:blipFill>
        <p:spPr>
          <a:xfrm>
            <a:off x="777240" y="3154680"/>
            <a:ext cx="5943600" cy="2113280"/>
          </a:xfrm>
          <a:prstGeom prst="rect">
            <a:avLst/>
          </a:prstGeom>
        </p:spPr>
      </p:pic>
      <p:sp>
        <p:nvSpPr>
          <p:cNvPr id="15" name="Rectangle 14"/>
          <p:cNvSpPr/>
          <p:nvPr/>
        </p:nvSpPr>
        <p:spPr>
          <a:xfrm>
            <a:off x="7040880" y="1280160"/>
            <a:ext cx="137160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1280160"/>
            <a:ext cx="1371600" cy="256032"/>
          </a:xfrm>
          <a:prstGeom prst="rect">
            <a:avLst/>
          </a:prstGeom>
          <a:noFill/>
        </p:spPr>
        <p:txBody>
          <a:bodyPr wrap="square" lIns="0" rIns="0" tIns="0" bIns="0" anchor="ctr">
            <a:spAutoFit/>
          </a:bodyPr>
          <a:lstStyle/>
          <a:p>
            <a:pPr algn="ctr"/>
            <a:r>
              <a:rPr sz="1000" b="1" i="0">
                <a:solidFill>
                  <a:srgbClr val="FFFFFF"/>
                </a:solidFill>
                <a:latin typeface="Arial"/>
              </a:rPr>
              <a:t>CT VOLUMES</a:t>
            </a:r>
          </a:p>
        </p:txBody>
      </p:sp>
      <p:sp>
        <p:nvSpPr>
          <p:cNvPr id="17" name="TextBox 16"/>
          <p:cNvSpPr txBox="1"/>
          <p:nvPr/>
        </p:nvSpPr>
        <p:spPr>
          <a:xfrm>
            <a:off x="7040880" y="1645920"/>
            <a:ext cx="4389120" cy="128016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One volume per case: </a:t>
            </a:r>
            <a:r>
              <a:rPr sz="1050" b="0" i="0">
                <a:solidFill>
                  <a:srgbClr val="404040"/>
                </a:solidFill>
                <a:latin typeface="Arial"/>
              </a:rPr>
              <a:t>CaseXXX.nii.gz, IDs match the CSV 569 / 569, labels agree 100%</a:t>
            </a:r>
          </a:p>
          <a:p>
            <a:pPr algn="l">
              <a:spcAft>
                <a:spcPts val="400"/>
              </a:spcAft>
            </a:pPr>
            <a:r>
              <a:rPr sz="1050" b="1" i="0">
                <a:solidFill>
                  <a:srgbClr val="0E7C86"/>
                </a:solidFill>
                <a:latin typeface="Arial"/>
              </a:rPr>
              <a:t>• </a:t>
            </a:r>
            <a:r>
              <a:rPr sz="1050" b="1" i="0">
                <a:solidFill>
                  <a:srgbClr val="1A1A1A"/>
                </a:solidFill>
                <a:latin typeface="Arial"/>
              </a:rPr>
              <a:t>Geometry (all 569): </a:t>
            </a:r>
            <a:r>
              <a:rPr sz="1050" b="0" i="0">
                <a:solidFill>
                  <a:srgbClr val="404040"/>
                </a:solidFill>
                <a:latin typeface="Arial"/>
              </a:rPr>
              <a:t>512 × 512 in-plane (0.50–0.97 mm), 31–81 slices (median 65), all 5 mm thick</a:t>
            </a:r>
          </a:p>
          <a:p>
            <a:pPr algn="l">
              <a:spcAft>
                <a:spcPts val="400"/>
              </a:spcAft>
            </a:pPr>
            <a:r>
              <a:rPr sz="1050" b="1" i="0">
                <a:solidFill>
                  <a:srgbClr val="0E7C86"/>
                </a:solidFill>
                <a:latin typeface="Arial"/>
              </a:rPr>
              <a:t>• </a:t>
            </a:r>
            <a:r>
              <a:rPr sz="1050" b="1" i="0">
                <a:solidFill>
                  <a:srgbClr val="1A1A1A"/>
                </a:solidFill>
                <a:latin typeface="Arial"/>
              </a:rPr>
              <a:t>Intensity: </a:t>
            </a:r>
            <a:r>
              <a:rPr sz="1050" b="0" i="0">
                <a:solidFill>
                  <a:srgbClr val="404040"/>
                </a:solidFill>
                <a:latin typeface="Arial"/>
              </a:rPr>
              <a:t>raw Hounsfield units (air ≈ −1000, soft tissue ≈ 0–100)</a:t>
            </a:r>
          </a:p>
          <a:p>
            <a:pPr algn="l">
              <a:spcAft>
                <a:spcPts val="400"/>
              </a:spcAft>
            </a:pPr>
            <a:r>
              <a:rPr sz="1050" b="1" i="0">
                <a:solidFill>
                  <a:srgbClr val="0E7C86"/>
                </a:solidFill>
                <a:latin typeface="Arial"/>
              </a:rPr>
              <a:t>• </a:t>
            </a:r>
            <a:r>
              <a:rPr sz="1050" b="1" i="0">
                <a:solidFill>
                  <a:srgbClr val="1A1A1A"/>
                </a:solidFill>
                <a:latin typeface="Arial"/>
              </a:rPr>
              <a:t>No lesion masks, no severity labels</a:t>
            </a:r>
            <a:r>
              <a:rPr sz="1050" b="0" i="0">
                <a:solidFill>
                  <a:srgbClr val="404040"/>
                </a:solidFill>
                <a:latin typeface="Arial"/>
              </a:rPr>
              <a:t/>
            </a:r>
          </a:p>
        </p:txBody>
      </p:sp>
      <p:sp>
        <p:nvSpPr>
          <p:cNvPr id="18" name="Rectangle 17"/>
          <p:cNvSpPr/>
          <p:nvPr/>
        </p:nvSpPr>
        <p:spPr>
          <a:xfrm>
            <a:off x="7040880" y="3154680"/>
            <a:ext cx="219456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3154680"/>
            <a:ext cx="2194560" cy="256032"/>
          </a:xfrm>
          <a:prstGeom prst="rect">
            <a:avLst/>
          </a:prstGeom>
          <a:noFill/>
        </p:spPr>
        <p:txBody>
          <a:bodyPr wrap="square" lIns="0" rIns="0" tIns="0" bIns="0" anchor="ctr">
            <a:spAutoFit/>
          </a:bodyPr>
          <a:lstStyle/>
          <a:p>
            <a:pPr algn="ctr"/>
            <a:r>
              <a:rPr sz="1000" b="1" i="0">
                <a:solidFill>
                  <a:srgbClr val="FFFFFF"/>
                </a:solidFill>
                <a:latin typeface="Arial"/>
              </a:rPr>
              <a:t>CLINICAL VARIABLES (12)</a:t>
            </a:r>
          </a:p>
        </p:txBody>
      </p:sp>
      <p:graphicFrame>
        <p:nvGraphicFramePr>
          <p:cNvPr id="20" name="Table 19"/>
          <p:cNvGraphicFramePr>
            <a:graphicFrameLocks noGrp="1"/>
          </p:cNvGraphicFramePr>
          <p:nvPr/>
        </p:nvGraphicFramePr>
        <p:xfrm>
          <a:off x="7040880" y="3520440"/>
          <a:ext cx="4343400" cy="1975104"/>
        </p:xfrm>
        <a:graphic>
          <a:graphicData uri="http://schemas.openxmlformats.org/drawingml/2006/table">
            <a:tbl>
              <a:tblPr firstRow="1" bandRow="1">
                <a:tableStyleId>{5C22544A-7EE6-4342-B048-85BDC9FD1C3A}</a:tableStyleId>
              </a:tblPr>
              <a:tblGrid>
                <a:gridCol w="1234440"/>
                <a:gridCol w="3108960"/>
              </a:tblGrid>
              <a:tr h="329184">
                <a:tc>
                  <a:txBody>
                    <a:bodyPr/>
                    <a:lstStyle/>
                    <a:p>
                      <a:pPr algn="l"/>
                      <a:r>
                        <a:rPr sz="950" b="1">
                          <a:solidFill>
                            <a:srgbClr val="FFFFFF"/>
                          </a:solidFill>
                          <a:latin typeface="Arial"/>
                        </a:rPr>
                        <a:t>Group</a:t>
                      </a:r>
                    </a:p>
                  </a:txBody>
                  <a:tcPr marL="73152" marR="73152" marT="18288" marB="18288" anchor="ctr">
                    <a:solidFill>
                      <a:srgbClr val="203864"/>
                    </a:solidFill>
                  </a:tcPr>
                </a:tc>
                <a:tc>
                  <a:txBody>
                    <a:bodyPr/>
                    <a:lstStyle/>
                    <a:p>
                      <a:pPr algn="l"/>
                      <a:r>
                        <a:rPr sz="950" b="1">
                          <a:solidFill>
                            <a:srgbClr val="FFFFFF"/>
                          </a:solidFill>
                          <a:latin typeface="Arial"/>
                        </a:rPr>
                        <a:t>Variables</a:t>
                      </a:r>
                    </a:p>
                  </a:txBody>
                  <a:tcPr marL="73152" marR="73152" marT="18288" marB="18288" anchor="ctr">
                    <a:solidFill>
                      <a:srgbClr val="203864"/>
                    </a:solidFill>
                  </a:tcPr>
                </a:tc>
              </a:tr>
              <a:tr h="329184">
                <a:tc>
                  <a:txBody>
                    <a:bodyPr/>
                    <a:lstStyle/>
                    <a:p>
                      <a:pPr algn="l"/>
                      <a:r>
                        <a:rPr sz="950" b="1">
                          <a:solidFill>
                            <a:srgbClr val="1A1A1A"/>
                          </a:solidFill>
                          <a:latin typeface="Arial"/>
                        </a:rPr>
                        <a:t>Demographics</a:t>
                      </a:r>
                    </a:p>
                  </a:txBody>
                  <a:tcPr marL="73152" marR="73152" marT="18288" marB="18288" anchor="ctr">
                    <a:solidFill>
                      <a:srgbClr val="FFFFFF"/>
                    </a:solidFill>
                  </a:tcPr>
                </a:tc>
                <a:tc>
                  <a:txBody>
                    <a:bodyPr/>
                    <a:lstStyle/>
                    <a:p>
                      <a:pPr algn="l"/>
                      <a:r>
                        <a:rPr sz="950" b="0">
                          <a:solidFill>
                            <a:srgbClr val="1A1A1A"/>
                          </a:solidFill>
                          <a:latin typeface="Arial"/>
                        </a:rPr>
                        <a:t>Gender, Age</a:t>
                      </a:r>
                    </a:p>
                  </a:txBody>
                  <a:tcPr marL="73152" marR="73152" marT="18288" marB="18288" anchor="ctr">
                    <a:solidFill>
                      <a:srgbClr val="FFFFFF"/>
                    </a:solidFill>
                  </a:tcPr>
                </a:tc>
              </a:tr>
              <a:tr h="329184">
                <a:tc>
                  <a:txBody>
                    <a:bodyPr/>
                    <a:lstStyle/>
                    <a:p>
                      <a:pPr algn="l"/>
                      <a:r>
                        <a:rPr sz="950" b="1">
                          <a:solidFill>
                            <a:srgbClr val="1A1A1A"/>
                          </a:solidFill>
                          <a:latin typeface="Arial"/>
                        </a:rPr>
                        <a:t>Comorbidity</a:t>
                      </a:r>
                    </a:p>
                  </a:txBody>
                  <a:tcPr marL="73152" marR="73152" marT="18288" marB="18288" anchor="ctr">
                    <a:solidFill>
                      <a:srgbClr val="F2F5F9"/>
                    </a:solidFill>
                  </a:tcPr>
                </a:tc>
                <a:tc>
                  <a:txBody>
                    <a:bodyPr/>
                    <a:lstStyle/>
                    <a:p>
                      <a:pPr algn="l"/>
                      <a:r>
                        <a:rPr sz="950" b="0">
                          <a:solidFill>
                            <a:srgbClr val="1A1A1A"/>
                          </a:solidFill>
                          <a:latin typeface="Arial"/>
                        </a:rPr>
                        <a:t>Solid tumour, Diabetes, Renal dysfunction, AIDS</a:t>
                      </a:r>
                    </a:p>
                  </a:txBody>
                  <a:tcPr marL="73152" marR="73152" marT="18288" marB="18288" anchor="ctr">
                    <a:solidFill>
                      <a:srgbClr val="F2F5F9"/>
                    </a:solidFill>
                  </a:tcPr>
                </a:tc>
              </a:tr>
              <a:tr h="329184">
                <a:tc>
                  <a:txBody>
                    <a:bodyPr/>
                    <a:lstStyle/>
                    <a:p>
                      <a:pPr algn="l"/>
                      <a:r>
                        <a:rPr sz="950" b="1">
                          <a:solidFill>
                            <a:srgbClr val="1A1A1A"/>
                          </a:solidFill>
                          <a:latin typeface="Arial"/>
                        </a:rPr>
                        <a:t>Treatment</a:t>
                      </a:r>
                    </a:p>
                  </a:txBody>
                  <a:tcPr marL="73152" marR="73152" marT="18288" marB="18288" anchor="ctr">
                    <a:solidFill>
                      <a:srgbClr val="FFFFFF"/>
                    </a:solidFill>
                  </a:tcPr>
                </a:tc>
                <a:tc>
                  <a:txBody>
                    <a:bodyPr/>
                    <a:lstStyle/>
                    <a:p>
                      <a:pPr algn="l"/>
                      <a:r>
                        <a:rPr sz="950" b="0">
                          <a:solidFill>
                            <a:srgbClr val="1A1A1A"/>
                          </a:solidFill>
                          <a:latin typeface="Arial"/>
                        </a:rPr>
                        <a:t>Immunosuppressants</a:t>
                      </a:r>
                    </a:p>
                  </a:txBody>
                  <a:tcPr marL="73152" marR="73152" marT="18288" marB="18288" anchor="ctr">
                    <a:solidFill>
                      <a:srgbClr val="FFFFFF"/>
                    </a:solidFill>
                  </a:tcPr>
                </a:tc>
              </a:tr>
              <a:tr h="329184">
                <a:tc>
                  <a:txBody>
                    <a:bodyPr/>
                    <a:lstStyle/>
                    <a:p>
                      <a:pPr algn="l"/>
                      <a:r>
                        <a:rPr sz="950" b="1">
                          <a:solidFill>
                            <a:srgbClr val="1A1A1A"/>
                          </a:solidFill>
                          <a:latin typeface="Arial"/>
                        </a:rPr>
                        <a:t>Laboratory</a:t>
                      </a:r>
                    </a:p>
                  </a:txBody>
                  <a:tcPr marL="73152" marR="73152" marT="18288" marB="18288" anchor="ctr">
                    <a:solidFill>
                      <a:srgbClr val="F2F5F9"/>
                    </a:solidFill>
                  </a:tcPr>
                </a:tc>
                <a:tc>
                  <a:txBody>
                    <a:bodyPr/>
                    <a:lstStyle/>
                    <a:p>
                      <a:pPr algn="l"/>
                      <a:r>
                        <a:rPr sz="950" b="0">
                          <a:solidFill>
                            <a:srgbClr val="1A1A1A"/>
                          </a:solidFill>
                          <a:latin typeface="Arial"/>
                        </a:rPr>
                        <a:t>Lymphocyte count, D-dimer</a:t>
                      </a:r>
                    </a:p>
                  </a:txBody>
                  <a:tcPr marL="73152" marR="73152" marT="18288" marB="18288" anchor="ctr">
                    <a:solidFill>
                      <a:srgbClr val="F2F5F9"/>
                    </a:solidFill>
                  </a:tcPr>
                </a:tc>
              </a:tr>
              <a:tr h="329184">
                <a:tc>
                  <a:txBody>
                    <a:bodyPr/>
                    <a:lstStyle/>
                    <a:p>
                      <a:pPr algn="l"/>
                      <a:r>
                        <a:rPr sz="950" b="1">
                          <a:solidFill>
                            <a:srgbClr val="1A1A1A"/>
                          </a:solidFill>
                          <a:latin typeface="Arial"/>
                        </a:rPr>
                        <a:t>Fungal markers</a:t>
                      </a:r>
                    </a:p>
                  </a:txBody>
                  <a:tcPr marL="73152" marR="73152" marT="18288" marB="18288" anchor="ctr">
                    <a:solidFill>
                      <a:srgbClr val="FFFFFF"/>
                    </a:solidFill>
                  </a:tcPr>
                </a:tc>
                <a:tc>
                  <a:txBody>
                    <a:bodyPr/>
                    <a:lstStyle/>
                    <a:p>
                      <a:pPr algn="l"/>
                      <a:r>
                        <a:rPr sz="950" b="0">
                          <a:solidFill>
                            <a:srgbClr val="1A1A1A"/>
                          </a:solidFill>
                          <a:latin typeface="Arial"/>
                        </a:rPr>
                        <a:t>(1,3)-β-D-glucan (G), GM antigen</a:t>
                      </a:r>
                    </a:p>
                  </a:txBody>
                  <a:tcPr marL="73152" marR="73152" marT="18288" marB="18288" anchor="ctr">
                    <a:solidFill>
                      <a:srgbClr val="FFFFFF"/>
                    </a:solidFill>
                  </a:tcPr>
                </a:tc>
              </a:tr>
            </a:tbl>
          </a:graphicData>
        </a:graphic>
      </p:graphicFrame>
      <p:sp>
        <p:nvSpPr>
          <p:cNvPr id="21" name="TextBox 20"/>
          <p:cNvSpPr txBox="1"/>
          <p:nvPr/>
        </p:nvSpPr>
        <p:spPr>
          <a:xfrm>
            <a:off x="7040880" y="5577840"/>
            <a:ext cx="4343400" cy="640080"/>
          </a:xfrm>
          <a:prstGeom prst="rect">
            <a:avLst/>
          </a:prstGeom>
          <a:noFill/>
        </p:spPr>
        <p:txBody>
          <a:bodyPr wrap="square" lIns="0" rIns="0" tIns="0" bIns="0" anchor="t">
            <a:spAutoFit/>
          </a:bodyPr>
          <a:lstStyle/>
          <a:p>
            <a:pPr algn="l"/>
            <a:r>
              <a:rPr sz="900" b="0" i="1">
                <a:solidFill>
                  <a:srgbClr val="757575"/>
                </a:solidFill>
                <a:latin typeface="Arial"/>
              </a:rPr>
              <a:t>A 13th column, Pathogen Identification, is 1 for every row and is dropped. Source: ngdc.cncb.ac.cn/omix/release/OMIX014539 (released 11 Sep 2026, Wuxi People's Hospital).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Exploration — What We Found Before Modelling</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5</a:t>
            </a:r>
          </a:p>
        </p:txBody>
      </p:sp>
      <p:sp>
        <p:nvSpPr>
          <p:cNvPr id="11" name="Rectangle 10"/>
          <p:cNvSpPr/>
          <p:nvPr/>
        </p:nvSpPr>
        <p:spPr>
          <a:xfrm>
            <a:off x="822960" y="1280160"/>
            <a:ext cx="338328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3383280" cy="256032"/>
          </a:xfrm>
          <a:prstGeom prst="rect">
            <a:avLst/>
          </a:prstGeom>
          <a:noFill/>
        </p:spPr>
        <p:txBody>
          <a:bodyPr wrap="square" lIns="0" rIns="0" tIns="0" bIns="0" anchor="ctr">
            <a:spAutoFit/>
          </a:bodyPr>
          <a:lstStyle/>
          <a:p>
            <a:pPr algn="ctr"/>
            <a:r>
              <a:rPr sz="1000" b="1" i="0">
                <a:solidFill>
                  <a:srgbClr val="FFFFFF"/>
                </a:solidFill>
                <a:latin typeface="Arial"/>
              </a:rPr>
              <a:t>CLINICAL RISK FACTORS DIFFER BY CLASS</a:t>
            </a:r>
          </a:p>
        </p:txBody>
      </p:sp>
      <p:pic>
        <p:nvPicPr>
          <p:cNvPr id="13" name="Picture 12" descr="eda_prevalence.png"/>
          <p:cNvPicPr>
            <a:picLocks noChangeAspect="1"/>
          </p:cNvPicPr>
          <p:nvPr/>
        </p:nvPicPr>
        <p:blipFill>
          <a:blip r:embed="rId2"/>
          <a:stretch>
            <a:fillRect/>
          </a:stretch>
        </p:blipFill>
        <p:spPr>
          <a:xfrm>
            <a:off x="777240" y="1645920"/>
            <a:ext cx="6035040" cy="2279904"/>
          </a:xfrm>
          <a:prstGeom prst="rect">
            <a:avLst/>
          </a:prstGeom>
        </p:spPr>
      </p:pic>
      <p:sp>
        <p:nvSpPr>
          <p:cNvPr id="14" name="TextBox 13"/>
          <p:cNvSpPr txBox="1"/>
          <p:nvPr/>
        </p:nvSpPr>
        <p:spPr>
          <a:xfrm>
            <a:off x="822960" y="4160520"/>
            <a:ext cx="5943600" cy="822960"/>
          </a:xfrm>
          <a:prstGeom prst="rect">
            <a:avLst/>
          </a:prstGeom>
          <a:noFill/>
        </p:spPr>
        <p:txBody>
          <a:bodyPr wrap="square" lIns="0" rIns="0" tIns="0" bIns="0" anchor="t">
            <a:spAutoFit/>
          </a:bodyPr>
          <a:lstStyle/>
          <a:p>
            <a:pPr algn="l"/>
            <a:r>
              <a:rPr sz="1050" b="0" i="0">
                <a:solidFill>
                  <a:srgbClr val="404040"/>
                </a:solidFill>
                <a:latin typeface="Arial"/>
              </a:rPr>
              <a:t>AIDS: 39 of 41 AIDS patients are in the non-Aspergillus fungal class. GM antigen is positive in 29.4% of Aspergillus cases; G-test in 34.0% of non-Aspergillus fungal cases.</a:t>
            </a:r>
          </a:p>
        </p:txBody>
      </p:sp>
      <p:sp>
        <p:nvSpPr>
          <p:cNvPr id="15" name="Rounded Rectangle 14"/>
          <p:cNvSpPr/>
          <p:nvPr/>
        </p:nvSpPr>
        <p:spPr>
          <a:xfrm>
            <a:off x="822960" y="4709160"/>
            <a:ext cx="5943600" cy="1051560"/>
          </a:xfrm>
          <a:prstGeom prst="roundRect">
            <a:avLst>
              <a:gd name="adj" fmla="val 8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00600"/>
            <a:ext cx="5577840" cy="914400"/>
          </a:xfrm>
          <a:prstGeom prst="rect">
            <a:avLst/>
          </a:prstGeom>
          <a:noFill/>
        </p:spPr>
        <p:txBody>
          <a:bodyPr wrap="square" lIns="0" rIns="0" tIns="0" bIns="0" anchor="t">
            <a:spAutoFit/>
          </a:bodyPr>
          <a:lstStyle/>
          <a:p>
            <a:pPr algn="l"/>
            <a:r>
              <a:rPr sz="1050" b="1" i="0">
                <a:solidFill>
                  <a:srgbClr val="B05A00"/>
                </a:solidFill>
                <a:latin typeface="Arial"/>
              </a:rPr>
              <a:t>Implication: </a:t>
            </a:r>
            <a:r>
              <a:rPr sz="1050" b="0" i="0">
                <a:solidFill>
                  <a:srgbClr val="404040"/>
                </a:solidFill>
                <a:latin typeface="Arial"/>
              </a:rPr>
              <a:t>clinical data carry real signal, but no single marker separates the classes — each is positive in a minority. G / GM are themselves diagnostic criteria, so we also report results with and without them to check for label shortcuts.</a:t>
            </a:r>
          </a:p>
        </p:txBody>
      </p:sp>
      <p:sp>
        <p:nvSpPr>
          <p:cNvPr id="17" name="Rectangle 16"/>
          <p:cNvSpPr/>
          <p:nvPr/>
        </p:nvSpPr>
        <p:spPr>
          <a:xfrm>
            <a:off x="7086600" y="1280160"/>
            <a:ext cx="20116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1280160"/>
            <a:ext cx="2011680" cy="256032"/>
          </a:xfrm>
          <a:prstGeom prst="rect">
            <a:avLst/>
          </a:prstGeom>
          <a:noFill/>
        </p:spPr>
        <p:txBody>
          <a:bodyPr wrap="square" lIns="0" rIns="0" tIns="0" bIns="0" anchor="ctr">
            <a:spAutoFit/>
          </a:bodyPr>
          <a:lstStyle/>
          <a:p>
            <a:pPr algn="ctr"/>
            <a:r>
              <a:rPr sz="1000" b="1" i="0">
                <a:solidFill>
                  <a:srgbClr val="FFFFFF"/>
                </a:solidFill>
                <a:latin typeface="Arial"/>
              </a:rPr>
              <a:t>DATA-QUALITY CHECKS</a:t>
            </a:r>
          </a:p>
        </p:txBody>
      </p:sp>
      <p:sp>
        <p:nvSpPr>
          <p:cNvPr id="19" name="Rounded Rectangle 18"/>
          <p:cNvSpPr/>
          <p:nvPr/>
        </p:nvSpPr>
        <p:spPr>
          <a:xfrm>
            <a:off x="7086600" y="1645920"/>
            <a:ext cx="4297680" cy="96012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86600" y="1719072"/>
            <a:ext cx="64008" cy="813816"/>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1737360"/>
            <a:ext cx="4023360" cy="274320"/>
          </a:xfrm>
          <a:prstGeom prst="rect">
            <a:avLst/>
          </a:prstGeom>
          <a:noFill/>
        </p:spPr>
        <p:txBody>
          <a:bodyPr wrap="square" lIns="0" rIns="0" tIns="0" bIns="0" anchor="t">
            <a:spAutoFit/>
          </a:bodyPr>
          <a:lstStyle/>
          <a:p>
            <a:pPr algn="l"/>
            <a:r>
              <a:rPr sz="1150" b="1" i="0">
                <a:solidFill>
                  <a:srgbClr val="B05A00"/>
                </a:solidFill>
                <a:latin typeface="Arial"/>
              </a:rPr>
              <a:t>21 repeated clinical records</a:t>
            </a:r>
          </a:p>
        </p:txBody>
      </p:sp>
      <p:sp>
        <p:nvSpPr>
          <p:cNvPr id="22" name="TextBox 21"/>
          <p:cNvSpPr txBox="1"/>
          <p:nvPr/>
        </p:nvSpPr>
        <p:spPr>
          <a:xfrm>
            <a:off x="7269480" y="2029968"/>
            <a:ext cx="4023360" cy="502920"/>
          </a:xfrm>
          <a:prstGeom prst="rect">
            <a:avLst/>
          </a:prstGeom>
          <a:noFill/>
        </p:spPr>
        <p:txBody>
          <a:bodyPr wrap="square" lIns="0" rIns="0" tIns="0" bIns="0" anchor="t">
            <a:spAutoFit/>
          </a:bodyPr>
          <a:lstStyle/>
          <a:p>
            <a:pPr algn="l"/>
            <a:r>
              <a:rPr sz="1000" b="0" i="0">
                <a:solidFill>
                  <a:srgbClr val="404040"/>
                </a:solidFill>
                <a:latin typeface="Arial"/>
              </a:rPr>
              <a:t>21 rows repeat the previous row exactly (consecutive IDs) → likely repeat scans of one patient. Grouped into 548 patient groups; a group never crosses splits.</a:t>
            </a:r>
          </a:p>
        </p:txBody>
      </p:sp>
      <p:sp>
        <p:nvSpPr>
          <p:cNvPr id="23" name="Rounded Rectangle 22"/>
          <p:cNvSpPr/>
          <p:nvPr/>
        </p:nvSpPr>
        <p:spPr>
          <a:xfrm>
            <a:off x="7086600" y="2697480"/>
            <a:ext cx="4297680" cy="86868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86600" y="2770632"/>
            <a:ext cx="64008" cy="72237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69480" y="2788920"/>
            <a:ext cx="4023360" cy="274320"/>
          </a:xfrm>
          <a:prstGeom prst="rect">
            <a:avLst/>
          </a:prstGeom>
          <a:noFill/>
        </p:spPr>
        <p:txBody>
          <a:bodyPr wrap="square" lIns="0" rIns="0" tIns="0" bIns="0" anchor="t">
            <a:spAutoFit/>
          </a:bodyPr>
          <a:lstStyle/>
          <a:p>
            <a:pPr algn="l"/>
            <a:r>
              <a:rPr sz="1150" b="1" i="0">
                <a:solidFill>
                  <a:srgbClr val="0E7C86"/>
                </a:solidFill>
                <a:latin typeface="Arial"/>
              </a:rPr>
              <a:t>Missing values</a:t>
            </a:r>
          </a:p>
        </p:txBody>
      </p:sp>
      <p:sp>
        <p:nvSpPr>
          <p:cNvPr id="26" name="TextBox 25"/>
          <p:cNvSpPr txBox="1"/>
          <p:nvPr/>
        </p:nvSpPr>
        <p:spPr>
          <a:xfrm>
            <a:off x="7269480" y="3081528"/>
            <a:ext cx="4023360" cy="411479"/>
          </a:xfrm>
          <a:prstGeom prst="rect">
            <a:avLst/>
          </a:prstGeom>
          <a:noFill/>
        </p:spPr>
        <p:txBody>
          <a:bodyPr wrap="square" lIns="0" rIns="0" tIns="0" bIns="0" anchor="t">
            <a:spAutoFit/>
          </a:bodyPr>
          <a:lstStyle/>
          <a:p>
            <a:pPr algn="l"/>
            <a:r>
              <a:rPr sz="1000" b="0" i="0">
                <a:solidFill>
                  <a:srgbClr val="404040"/>
                </a:solidFill>
                <a:latin typeface="Arial"/>
              </a:rPr>
              <a:t>D-dimer 33 ('/'), lymphocyte count 5. Imputed with training-set median.</a:t>
            </a:r>
          </a:p>
        </p:txBody>
      </p:sp>
      <p:sp>
        <p:nvSpPr>
          <p:cNvPr id="27" name="Rounded Rectangle 26"/>
          <p:cNvSpPr/>
          <p:nvPr/>
        </p:nvSpPr>
        <p:spPr>
          <a:xfrm>
            <a:off x="7086600" y="3657600"/>
            <a:ext cx="4297680" cy="86868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86600" y="3730752"/>
            <a:ext cx="64008" cy="722375"/>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3749039"/>
            <a:ext cx="4023360" cy="274320"/>
          </a:xfrm>
          <a:prstGeom prst="rect">
            <a:avLst/>
          </a:prstGeom>
          <a:noFill/>
        </p:spPr>
        <p:txBody>
          <a:bodyPr wrap="square" lIns="0" rIns="0" tIns="0" bIns="0" anchor="t">
            <a:spAutoFit/>
          </a:bodyPr>
          <a:lstStyle/>
          <a:p>
            <a:pPr algn="l"/>
            <a:r>
              <a:rPr sz="1150" b="1" i="0">
                <a:solidFill>
                  <a:srgbClr val="203864"/>
                </a:solidFill>
                <a:latin typeface="Arial"/>
              </a:rPr>
              <a:t>Inconsistent coding</a:t>
            </a:r>
          </a:p>
        </p:txBody>
      </p:sp>
      <p:sp>
        <p:nvSpPr>
          <p:cNvPr id="30" name="TextBox 29"/>
          <p:cNvSpPr txBox="1"/>
          <p:nvPr/>
        </p:nvSpPr>
        <p:spPr>
          <a:xfrm>
            <a:off x="7269480" y="4041648"/>
            <a:ext cx="4023360" cy="411479"/>
          </a:xfrm>
          <a:prstGeom prst="rect">
            <a:avLst/>
          </a:prstGeom>
          <a:noFill/>
        </p:spPr>
        <p:txBody>
          <a:bodyPr wrap="square" lIns="0" rIns="0" tIns="0" bIns="0" anchor="t">
            <a:spAutoFit/>
          </a:bodyPr>
          <a:lstStyle/>
          <a:p>
            <a:pPr algn="l"/>
            <a:r>
              <a:rPr sz="1000" b="0" i="0">
                <a:solidFill>
                  <a:srgbClr val="404040"/>
                </a:solidFill>
                <a:latin typeface="Arial"/>
              </a:rPr>
              <a:t>Gender values with trailing spaces ('F ' vs 'F'); constant Pathogen Identification column.</a:t>
            </a:r>
          </a:p>
        </p:txBody>
      </p:sp>
      <p:sp>
        <p:nvSpPr>
          <p:cNvPr id="31" name="Rounded Rectangle 30"/>
          <p:cNvSpPr/>
          <p:nvPr/>
        </p:nvSpPr>
        <p:spPr>
          <a:xfrm>
            <a:off x="7086600" y="4617720"/>
            <a:ext cx="4297680" cy="91440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86600" y="4690872"/>
            <a:ext cx="64008" cy="768096"/>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9480" y="4709159"/>
            <a:ext cx="4023360" cy="274320"/>
          </a:xfrm>
          <a:prstGeom prst="rect">
            <a:avLst/>
          </a:prstGeom>
          <a:noFill/>
        </p:spPr>
        <p:txBody>
          <a:bodyPr wrap="square" lIns="0" rIns="0" tIns="0" bIns="0" anchor="t">
            <a:spAutoFit/>
          </a:bodyPr>
          <a:lstStyle/>
          <a:p>
            <a:pPr algn="l"/>
            <a:r>
              <a:rPr sz="1150" b="1" i="0">
                <a:solidFill>
                  <a:srgbClr val="B05A00"/>
                </a:solidFill>
                <a:latin typeface="Arial"/>
              </a:rPr>
              <a:t>No lesion / severity ground truth</a:t>
            </a:r>
          </a:p>
        </p:txBody>
      </p:sp>
      <p:sp>
        <p:nvSpPr>
          <p:cNvPr id="34" name="TextBox 33"/>
          <p:cNvSpPr txBox="1"/>
          <p:nvPr/>
        </p:nvSpPr>
        <p:spPr>
          <a:xfrm>
            <a:off x="7269480" y="5001768"/>
            <a:ext cx="4023360" cy="457200"/>
          </a:xfrm>
          <a:prstGeom prst="rect">
            <a:avLst/>
          </a:prstGeom>
          <a:noFill/>
        </p:spPr>
        <p:txBody>
          <a:bodyPr wrap="square" lIns="0" rIns="0" tIns="0" bIns="0" anchor="t">
            <a:spAutoFit/>
          </a:bodyPr>
          <a:lstStyle/>
          <a:p>
            <a:pPr algn="l"/>
            <a:r>
              <a:rPr sz="1000" b="0" i="0">
                <a:solidFill>
                  <a:srgbClr val="404040"/>
                </a:solidFill>
                <a:latin typeface="Arial"/>
              </a:rPr>
              <a:t>Localisation becomes weakly supervised (Grad-CAM); severity needs an agreed proxy definition.</a:t>
            </a:r>
          </a:p>
        </p:txBody>
      </p:sp>
      <p:sp>
        <p:nvSpPr>
          <p:cNvPr id="35" name="TextBox 34"/>
          <p:cNvSpPr txBox="1"/>
          <p:nvPr/>
        </p:nvSpPr>
        <p:spPr>
          <a:xfrm>
            <a:off x="7086600" y="5669280"/>
            <a:ext cx="4297680" cy="548640"/>
          </a:xfrm>
          <a:prstGeom prst="rect">
            <a:avLst/>
          </a:prstGeom>
          <a:noFill/>
        </p:spPr>
        <p:txBody>
          <a:bodyPr wrap="square" lIns="0" rIns="0" tIns="0" bIns="0" anchor="t">
            <a:spAutoFit/>
          </a:bodyPr>
          <a:lstStyle/>
          <a:p>
            <a:pPr algn="l"/>
            <a:r>
              <a:rPr sz="1000" b="0" i="1">
                <a:solidFill>
                  <a:srgbClr val="757575"/>
                </a:solidFill>
                <a:latin typeface="Arial"/>
              </a:rPr>
              <a:t>Class balance is moderate (153 / 209 / 207) → class-weighted loss, macro-F1 as primary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Pipeline — CT Preprocessing and Leak-Free Split</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6</a:t>
            </a:r>
          </a:p>
        </p:txBody>
      </p:sp>
      <p:sp>
        <p:nvSpPr>
          <p:cNvPr id="11" name="Rectangle 10"/>
          <p:cNvSpPr/>
          <p:nvPr/>
        </p:nvSpPr>
        <p:spPr>
          <a:xfrm>
            <a:off x="822960" y="1280160"/>
            <a:ext cx="29260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926080" cy="256032"/>
          </a:xfrm>
          <a:prstGeom prst="rect">
            <a:avLst/>
          </a:prstGeom>
          <a:noFill/>
        </p:spPr>
        <p:txBody>
          <a:bodyPr wrap="square" lIns="0" rIns="0" tIns="0" bIns="0" anchor="ctr">
            <a:spAutoFit/>
          </a:bodyPr>
          <a:lstStyle/>
          <a:p>
            <a:pPr algn="ctr"/>
            <a:r>
              <a:rPr sz="1000" b="1" i="0">
                <a:solidFill>
                  <a:srgbClr val="FFFFFF"/>
                </a:solidFill>
                <a:latin typeface="Arial"/>
              </a:rPr>
              <a:t>CT PREPROCESSING (IMPLEMENTED)</a:t>
            </a:r>
          </a:p>
        </p:txBody>
      </p:sp>
      <p:pic>
        <p:nvPicPr>
          <p:cNvPr id="13" name="Picture 12" descr="ct_pipeline.png"/>
          <p:cNvPicPr>
            <a:picLocks noChangeAspect="1"/>
          </p:cNvPicPr>
          <p:nvPr/>
        </p:nvPicPr>
        <p:blipFill>
          <a:blip r:embed="rId2"/>
          <a:stretch>
            <a:fillRect/>
          </a:stretch>
        </p:blipFill>
        <p:spPr>
          <a:xfrm>
            <a:off x="822960" y="1645920"/>
            <a:ext cx="10561320" cy="2145331"/>
          </a:xfrm>
          <a:prstGeom prst="rect">
            <a:avLst/>
          </a:prstGeom>
        </p:spPr>
      </p:pic>
      <p:sp>
        <p:nvSpPr>
          <p:cNvPr id="14" name="Rectangle 13"/>
          <p:cNvSpPr/>
          <p:nvPr/>
        </p:nvSpPr>
        <p:spPr>
          <a:xfrm>
            <a:off x="822960" y="4069080"/>
            <a:ext cx="356616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69080"/>
            <a:ext cx="3566160" cy="256032"/>
          </a:xfrm>
          <a:prstGeom prst="rect">
            <a:avLst/>
          </a:prstGeom>
          <a:noFill/>
        </p:spPr>
        <p:txBody>
          <a:bodyPr wrap="square" lIns="0" rIns="0" tIns="0" bIns="0" anchor="ctr">
            <a:spAutoFit/>
          </a:bodyPr>
          <a:lstStyle/>
          <a:p>
            <a:pPr algn="ctr"/>
            <a:r>
              <a:rPr sz="1000" b="1" i="0">
                <a:solidFill>
                  <a:srgbClr val="FFFFFF"/>
                </a:solidFill>
                <a:latin typeface="Arial"/>
              </a:rPr>
              <a:t>PATIENT-GROUP STRATIFIED SPLIT · SEED 42</a:t>
            </a:r>
          </a:p>
        </p:txBody>
      </p:sp>
      <p:graphicFrame>
        <p:nvGraphicFramePr>
          <p:cNvPr id="16" name="Table 15"/>
          <p:cNvGraphicFramePr>
            <a:graphicFrameLocks noGrp="1"/>
          </p:cNvGraphicFramePr>
          <p:nvPr/>
        </p:nvGraphicFramePr>
        <p:xfrm>
          <a:off x="822960" y="4434840"/>
          <a:ext cx="5852160" cy="1645920"/>
        </p:xfrm>
        <a:graphic>
          <a:graphicData uri="http://schemas.openxmlformats.org/drawingml/2006/table">
            <a:tbl>
              <a:tblPr firstRow="1" bandRow="1">
                <a:tableStyleId>{5C22544A-7EE6-4342-B048-85BDC9FD1C3A}</a:tableStyleId>
              </a:tblPr>
              <a:tblGrid>
                <a:gridCol w="822960"/>
                <a:gridCol w="1005840"/>
                <a:gridCol w="1143000"/>
                <a:gridCol w="960120"/>
                <a:gridCol w="868680"/>
                <a:gridCol w="1051560"/>
              </a:tblGrid>
              <a:tr h="329184">
                <a:tc>
                  <a:txBody>
                    <a:bodyPr/>
                    <a:lstStyle/>
                    <a:p>
                      <a:pPr algn="l"/>
                      <a:r>
                        <a:rPr sz="1000" b="1">
                          <a:solidFill>
                            <a:srgbClr val="FFFFFF"/>
                          </a:solidFill>
                          <a:latin typeface="Arial"/>
                        </a:rPr>
                        <a:t>Split</a:t>
                      </a:r>
                    </a:p>
                  </a:txBody>
                  <a:tcPr marL="73152" marR="73152" marT="18288" marB="18288" anchor="ctr">
                    <a:solidFill>
                      <a:srgbClr val="203864"/>
                    </a:solidFill>
                  </a:tcPr>
                </a:tc>
                <a:tc>
                  <a:txBody>
                    <a:bodyPr/>
                    <a:lstStyle/>
                    <a:p>
                      <a:pPr algn="ctr"/>
                      <a:r>
                        <a:rPr sz="1000" b="1">
                          <a:solidFill>
                            <a:srgbClr val="FFFFFF"/>
                          </a:solidFill>
                          <a:latin typeface="Arial"/>
                        </a:rPr>
                        <a:t>Aspergillus</a:t>
                      </a:r>
                    </a:p>
                  </a:txBody>
                  <a:tcPr marL="73152" marR="73152" marT="18288" marB="18288" anchor="ctr">
                    <a:solidFill>
                      <a:srgbClr val="203864"/>
                    </a:solidFill>
                  </a:tcPr>
                </a:tc>
                <a:tc>
                  <a:txBody>
                    <a:bodyPr/>
                    <a:lstStyle/>
                    <a:p>
                      <a:pPr algn="ctr"/>
                      <a:r>
                        <a:rPr sz="1000" b="1">
                          <a:solidFill>
                            <a:srgbClr val="FFFFFF"/>
                          </a:solidFill>
                          <a:latin typeface="Arial"/>
                        </a:rPr>
                        <a:t>Non-Asp. fungi</a:t>
                      </a:r>
                    </a:p>
                  </a:txBody>
                  <a:tcPr marL="73152" marR="73152" marT="18288" marB="18288" anchor="ctr">
                    <a:solidFill>
                      <a:srgbClr val="203864"/>
                    </a:solidFill>
                  </a:tcPr>
                </a:tc>
                <a:tc>
                  <a:txBody>
                    <a:bodyPr/>
                    <a:lstStyle/>
                    <a:p>
                      <a:pPr algn="ctr"/>
                      <a:r>
                        <a:rPr sz="1000" b="1">
                          <a:solidFill>
                            <a:srgbClr val="FFFFFF"/>
                          </a:solidFill>
                          <a:latin typeface="Arial"/>
                        </a:rPr>
                        <a:t>Non-fungal</a:t>
                      </a:r>
                    </a:p>
                  </a:txBody>
                  <a:tcPr marL="73152" marR="73152" marT="18288" marB="18288" anchor="ctr">
                    <a:solidFill>
                      <a:srgbClr val="203864"/>
                    </a:solidFill>
                  </a:tcPr>
                </a:tc>
                <a:tc>
                  <a:txBody>
                    <a:bodyPr/>
                    <a:lstStyle/>
                    <a:p>
                      <a:pPr algn="ctr"/>
                      <a:r>
                        <a:rPr sz="1000" b="1">
                          <a:solidFill>
                            <a:srgbClr val="FFFFFF"/>
                          </a:solidFill>
                          <a:latin typeface="Arial"/>
                        </a:rPr>
                        <a:t>Scans</a:t>
                      </a:r>
                    </a:p>
                  </a:txBody>
                  <a:tcPr marL="73152" marR="73152" marT="18288" marB="18288" anchor="ctr">
                    <a:solidFill>
                      <a:srgbClr val="203864"/>
                    </a:solidFill>
                  </a:tcPr>
                </a:tc>
                <a:tc>
                  <a:txBody>
                    <a:bodyPr/>
                    <a:lstStyle/>
                    <a:p>
                      <a:pPr algn="ctr"/>
                      <a:r>
                        <a:rPr sz="1000" b="1">
                          <a:solidFill>
                            <a:srgbClr val="FFFFFF"/>
                          </a:solidFill>
                          <a:latin typeface="Arial"/>
                        </a:rPr>
                        <a:t>Groups</a:t>
                      </a:r>
                    </a:p>
                  </a:txBody>
                  <a:tcPr marL="73152" marR="73152" marT="18288" marB="18288" anchor="ctr">
                    <a:solidFill>
                      <a:srgbClr val="203864"/>
                    </a:solidFill>
                  </a:tcPr>
                </a:tc>
              </a:tr>
              <a:tr h="329184">
                <a:tc>
                  <a:txBody>
                    <a:bodyPr/>
                    <a:lstStyle/>
                    <a:p>
                      <a:pPr algn="l"/>
                      <a:r>
                        <a:rPr sz="1000" b="1">
                          <a:solidFill>
                            <a:srgbClr val="1A1A1A"/>
                          </a:solidFill>
                          <a:latin typeface="Arial"/>
                        </a:rPr>
                        <a:t>Train</a:t>
                      </a:r>
                    </a:p>
                  </a:txBody>
                  <a:tcPr marL="73152" marR="73152" marT="18288" marB="18288" anchor="ctr">
                    <a:solidFill>
                      <a:srgbClr val="FFFFFF"/>
                    </a:solidFill>
                  </a:tcPr>
                </a:tc>
                <a:tc>
                  <a:txBody>
                    <a:bodyPr/>
                    <a:lstStyle/>
                    <a:p>
                      <a:pPr algn="ctr"/>
                      <a:r>
                        <a:rPr sz="1000" b="0">
                          <a:solidFill>
                            <a:srgbClr val="1A1A1A"/>
                          </a:solidFill>
                          <a:latin typeface="Arial"/>
                        </a:rPr>
                        <a:t>107</a:t>
                      </a:r>
                    </a:p>
                  </a:txBody>
                  <a:tcPr marL="73152" marR="73152" marT="18288" marB="18288" anchor="ctr">
                    <a:solidFill>
                      <a:srgbClr val="FFFFFF"/>
                    </a:solidFill>
                  </a:tcPr>
                </a:tc>
                <a:tc>
                  <a:txBody>
                    <a:bodyPr/>
                    <a:lstStyle/>
                    <a:p>
                      <a:pPr algn="ctr"/>
                      <a:r>
                        <a:rPr sz="1000" b="0">
                          <a:solidFill>
                            <a:srgbClr val="1A1A1A"/>
                          </a:solidFill>
                          <a:latin typeface="Arial"/>
                        </a:rPr>
                        <a:t>150</a:t>
                      </a:r>
                    </a:p>
                  </a:txBody>
                  <a:tcPr marL="73152" marR="73152" marT="18288" marB="18288" anchor="ctr">
                    <a:solidFill>
                      <a:srgbClr val="FFFFFF"/>
                    </a:solidFill>
                  </a:tcPr>
                </a:tc>
                <a:tc>
                  <a:txBody>
                    <a:bodyPr/>
                    <a:lstStyle/>
                    <a:p>
                      <a:pPr algn="ctr"/>
                      <a:r>
                        <a:rPr sz="1000" b="0">
                          <a:solidFill>
                            <a:srgbClr val="1A1A1A"/>
                          </a:solidFill>
                          <a:latin typeface="Arial"/>
                        </a:rPr>
                        <a:t>145</a:t>
                      </a:r>
                    </a:p>
                  </a:txBody>
                  <a:tcPr marL="73152" marR="73152" marT="18288" marB="18288" anchor="ctr">
                    <a:solidFill>
                      <a:srgbClr val="FFFFFF"/>
                    </a:solidFill>
                  </a:tcPr>
                </a:tc>
                <a:tc>
                  <a:txBody>
                    <a:bodyPr/>
                    <a:lstStyle/>
                    <a:p>
                      <a:pPr algn="ctr"/>
                      <a:r>
                        <a:rPr sz="1000" b="0">
                          <a:solidFill>
                            <a:srgbClr val="1A1A1A"/>
                          </a:solidFill>
                          <a:latin typeface="Arial"/>
                        </a:rPr>
                        <a:t>402</a:t>
                      </a:r>
                    </a:p>
                  </a:txBody>
                  <a:tcPr marL="73152" marR="73152" marT="18288" marB="18288" anchor="ctr">
                    <a:solidFill>
                      <a:srgbClr val="FFFFFF"/>
                    </a:solidFill>
                  </a:tcPr>
                </a:tc>
                <a:tc>
                  <a:txBody>
                    <a:bodyPr/>
                    <a:lstStyle/>
                    <a:p>
                      <a:pPr algn="ctr"/>
                      <a:r>
                        <a:rPr sz="1000" b="0">
                          <a:solidFill>
                            <a:srgbClr val="1A1A1A"/>
                          </a:solidFill>
                          <a:latin typeface="Arial"/>
                        </a:rPr>
                        <a:t>383</a:t>
                      </a:r>
                    </a:p>
                  </a:txBody>
                  <a:tcPr marL="73152" marR="73152" marT="18288" marB="18288" anchor="ctr">
                    <a:solidFill>
                      <a:srgbClr val="FFFFFF"/>
                    </a:solidFill>
                  </a:tcPr>
                </a:tc>
              </a:tr>
              <a:tr h="329184">
                <a:tc>
                  <a:txBody>
                    <a:bodyPr/>
                    <a:lstStyle/>
                    <a:p>
                      <a:pPr algn="l"/>
                      <a:r>
                        <a:rPr sz="1000" b="1">
                          <a:solidFill>
                            <a:srgbClr val="1A1A1A"/>
                          </a:solidFill>
                          <a:latin typeface="Arial"/>
                        </a:rPr>
                        <a:t>Val</a:t>
                      </a:r>
                    </a:p>
                  </a:txBody>
                  <a:tcPr marL="73152" marR="73152" marT="18288" marB="18288" anchor="ctr">
                    <a:solidFill>
                      <a:srgbClr val="F2F5F9"/>
                    </a:solidFill>
                  </a:tcPr>
                </a:tc>
                <a:tc>
                  <a:txBody>
                    <a:bodyPr/>
                    <a:lstStyle/>
                    <a:p>
                      <a:pPr algn="ctr"/>
                      <a:r>
                        <a:rPr sz="1000" b="0">
                          <a:solidFill>
                            <a:srgbClr val="1A1A1A"/>
                          </a:solidFill>
                          <a:latin typeface="Arial"/>
                        </a:rPr>
                        <a:t>23</a:t>
                      </a:r>
                    </a:p>
                  </a:txBody>
                  <a:tcPr marL="73152" marR="73152" marT="18288" marB="18288" anchor="ctr">
                    <a:solidFill>
                      <a:srgbClr val="F2F5F9"/>
                    </a:solidFill>
                  </a:tcPr>
                </a:tc>
                <a:tc>
                  <a:txBody>
                    <a:bodyPr/>
                    <a:lstStyle/>
                    <a:p>
                      <a:pPr algn="ctr"/>
                      <a:r>
                        <a:rPr sz="1000" b="0">
                          <a:solidFill>
                            <a:srgbClr val="1A1A1A"/>
                          </a:solidFill>
                          <a:latin typeface="Arial"/>
                        </a:rPr>
                        <a:t>30</a:t>
                      </a:r>
                    </a:p>
                  </a:txBody>
                  <a:tcPr marL="73152" marR="73152" marT="18288" marB="18288" anchor="ctr">
                    <a:solidFill>
                      <a:srgbClr val="F2F5F9"/>
                    </a:solidFill>
                  </a:tcPr>
                </a:tc>
                <a:tc>
                  <a:txBody>
                    <a:bodyPr/>
                    <a:lstStyle/>
                    <a:p>
                      <a:pPr algn="ctr"/>
                      <a:r>
                        <a:rPr sz="1000" b="0">
                          <a:solidFill>
                            <a:srgbClr val="1A1A1A"/>
                          </a:solidFill>
                          <a:latin typeface="Arial"/>
                        </a:rPr>
                        <a:t>31</a:t>
                      </a:r>
                    </a:p>
                  </a:txBody>
                  <a:tcPr marL="73152" marR="73152" marT="18288" marB="18288" anchor="ctr">
                    <a:solidFill>
                      <a:srgbClr val="F2F5F9"/>
                    </a:solidFill>
                  </a:tcPr>
                </a:tc>
                <a:tc>
                  <a:txBody>
                    <a:bodyPr/>
                    <a:lstStyle/>
                    <a:p>
                      <a:pPr algn="ctr"/>
                      <a:r>
                        <a:rPr sz="1000" b="0">
                          <a:solidFill>
                            <a:srgbClr val="1A1A1A"/>
                          </a:solidFill>
                          <a:latin typeface="Arial"/>
                        </a:rPr>
                        <a:t>84</a:t>
                      </a:r>
                    </a:p>
                  </a:txBody>
                  <a:tcPr marL="73152" marR="73152" marT="18288" marB="18288" anchor="ctr">
                    <a:solidFill>
                      <a:srgbClr val="F2F5F9"/>
                    </a:solidFill>
                  </a:tcPr>
                </a:tc>
                <a:tc>
                  <a:txBody>
                    <a:bodyPr/>
                    <a:lstStyle/>
                    <a:p>
                      <a:pPr algn="ctr"/>
                      <a:r>
                        <a:rPr sz="1000" b="0">
                          <a:solidFill>
                            <a:srgbClr val="1A1A1A"/>
                          </a:solidFill>
                          <a:latin typeface="Arial"/>
                        </a:rPr>
                        <a:t>82</a:t>
                      </a:r>
                    </a:p>
                  </a:txBody>
                  <a:tcPr marL="73152" marR="73152" marT="18288" marB="18288" anchor="ctr">
                    <a:solidFill>
                      <a:srgbClr val="F2F5F9"/>
                    </a:solidFill>
                  </a:tcPr>
                </a:tc>
              </a:tr>
              <a:tr h="329184">
                <a:tc>
                  <a:txBody>
                    <a:bodyPr/>
                    <a:lstStyle/>
                    <a:p>
                      <a:pPr algn="l"/>
                      <a:r>
                        <a:rPr sz="1000" b="1">
                          <a:solidFill>
                            <a:srgbClr val="1A1A1A"/>
                          </a:solidFill>
                          <a:latin typeface="Arial"/>
                        </a:rPr>
                        <a:t>Test</a:t>
                      </a:r>
                    </a:p>
                  </a:txBody>
                  <a:tcPr marL="73152" marR="73152" marT="18288" marB="18288" anchor="ctr">
                    <a:solidFill>
                      <a:srgbClr val="FFFFFF"/>
                    </a:solidFill>
                  </a:tcPr>
                </a:tc>
                <a:tc>
                  <a:txBody>
                    <a:bodyPr/>
                    <a:lstStyle/>
                    <a:p>
                      <a:pPr algn="ctr"/>
                      <a:r>
                        <a:rPr sz="1000" b="0">
                          <a:solidFill>
                            <a:srgbClr val="1A1A1A"/>
                          </a:solidFill>
                          <a:latin typeface="Arial"/>
                        </a:rPr>
                        <a:t>23</a:t>
                      </a:r>
                    </a:p>
                  </a:txBody>
                  <a:tcPr marL="73152" marR="73152" marT="18288" marB="18288" anchor="ctr">
                    <a:solidFill>
                      <a:srgbClr val="FFFFFF"/>
                    </a:solidFill>
                  </a:tcPr>
                </a:tc>
                <a:tc>
                  <a:txBody>
                    <a:bodyPr/>
                    <a:lstStyle/>
                    <a:p>
                      <a:pPr algn="ctr"/>
                      <a:r>
                        <a:rPr sz="1000" b="0">
                          <a:solidFill>
                            <a:srgbClr val="1A1A1A"/>
                          </a:solidFill>
                          <a:latin typeface="Arial"/>
                        </a:rPr>
                        <a:t>29</a:t>
                      </a:r>
                    </a:p>
                  </a:txBody>
                  <a:tcPr marL="73152" marR="73152" marT="18288" marB="18288" anchor="ctr">
                    <a:solidFill>
                      <a:srgbClr val="FFFFFF"/>
                    </a:solidFill>
                  </a:tcPr>
                </a:tc>
                <a:tc>
                  <a:txBody>
                    <a:bodyPr/>
                    <a:lstStyle/>
                    <a:p>
                      <a:pPr algn="ctr"/>
                      <a:r>
                        <a:rPr sz="1000" b="0">
                          <a:solidFill>
                            <a:srgbClr val="1A1A1A"/>
                          </a:solidFill>
                          <a:latin typeface="Arial"/>
                        </a:rPr>
                        <a:t>31</a:t>
                      </a:r>
                    </a:p>
                  </a:txBody>
                  <a:tcPr marL="73152" marR="73152" marT="18288" marB="18288" anchor="ctr">
                    <a:solidFill>
                      <a:srgbClr val="FFFFFF"/>
                    </a:solidFill>
                  </a:tcPr>
                </a:tc>
                <a:tc>
                  <a:txBody>
                    <a:bodyPr/>
                    <a:lstStyle/>
                    <a:p>
                      <a:pPr algn="ctr"/>
                      <a:r>
                        <a:rPr sz="1000" b="0">
                          <a:solidFill>
                            <a:srgbClr val="1A1A1A"/>
                          </a:solidFill>
                          <a:latin typeface="Arial"/>
                        </a:rPr>
                        <a:t>83</a:t>
                      </a:r>
                    </a:p>
                  </a:txBody>
                  <a:tcPr marL="73152" marR="73152" marT="18288" marB="18288" anchor="ctr">
                    <a:solidFill>
                      <a:srgbClr val="FFFFFF"/>
                    </a:solidFill>
                  </a:tcPr>
                </a:tc>
                <a:tc>
                  <a:txBody>
                    <a:bodyPr/>
                    <a:lstStyle/>
                    <a:p>
                      <a:pPr algn="ctr"/>
                      <a:r>
                        <a:rPr sz="1000" b="0">
                          <a:solidFill>
                            <a:srgbClr val="1A1A1A"/>
                          </a:solidFill>
                          <a:latin typeface="Arial"/>
                        </a:rPr>
                        <a:t>83</a:t>
                      </a:r>
                    </a:p>
                  </a:txBody>
                  <a:tcPr marL="73152" marR="73152" marT="18288" marB="18288" anchor="ctr">
                    <a:solidFill>
                      <a:srgbClr val="FFFFFF"/>
                    </a:solidFill>
                  </a:tcPr>
                </a:tc>
              </a:tr>
              <a:tr h="329184">
                <a:tc>
                  <a:txBody>
                    <a:bodyPr/>
                    <a:lstStyle/>
                    <a:p>
                      <a:pPr algn="l"/>
                      <a:r>
                        <a:rPr sz="1000" b="1">
                          <a:solidFill>
                            <a:srgbClr val="1A1A1A"/>
                          </a:solidFill>
                          <a:latin typeface="Arial"/>
                        </a:rPr>
                        <a:t>Total</a:t>
                      </a:r>
                    </a:p>
                  </a:txBody>
                  <a:tcPr marL="73152" marR="73152" marT="18288" marB="18288" anchor="ctr">
                    <a:solidFill>
                      <a:srgbClr val="F2F5F9"/>
                    </a:solidFill>
                  </a:tcPr>
                </a:tc>
                <a:tc>
                  <a:txBody>
                    <a:bodyPr/>
                    <a:lstStyle/>
                    <a:p>
                      <a:pPr algn="ctr"/>
                      <a:r>
                        <a:rPr sz="1000" b="0">
                          <a:solidFill>
                            <a:srgbClr val="1A1A1A"/>
                          </a:solidFill>
                          <a:latin typeface="Arial"/>
                        </a:rPr>
                        <a:t>153</a:t>
                      </a:r>
                    </a:p>
                  </a:txBody>
                  <a:tcPr marL="73152" marR="73152" marT="18288" marB="18288" anchor="ctr">
                    <a:solidFill>
                      <a:srgbClr val="F2F5F9"/>
                    </a:solidFill>
                  </a:tcPr>
                </a:tc>
                <a:tc>
                  <a:txBody>
                    <a:bodyPr/>
                    <a:lstStyle/>
                    <a:p>
                      <a:pPr algn="ctr"/>
                      <a:r>
                        <a:rPr sz="1000" b="0">
                          <a:solidFill>
                            <a:srgbClr val="1A1A1A"/>
                          </a:solidFill>
                          <a:latin typeface="Arial"/>
                        </a:rPr>
                        <a:t>209</a:t>
                      </a:r>
                    </a:p>
                  </a:txBody>
                  <a:tcPr marL="73152" marR="73152" marT="18288" marB="18288" anchor="ctr">
                    <a:solidFill>
                      <a:srgbClr val="F2F5F9"/>
                    </a:solidFill>
                  </a:tcPr>
                </a:tc>
                <a:tc>
                  <a:txBody>
                    <a:bodyPr/>
                    <a:lstStyle/>
                    <a:p>
                      <a:pPr algn="ctr"/>
                      <a:r>
                        <a:rPr sz="1000" b="0">
                          <a:solidFill>
                            <a:srgbClr val="1A1A1A"/>
                          </a:solidFill>
                          <a:latin typeface="Arial"/>
                        </a:rPr>
                        <a:t>207</a:t>
                      </a:r>
                    </a:p>
                  </a:txBody>
                  <a:tcPr marL="73152" marR="73152" marT="18288" marB="18288" anchor="ctr">
                    <a:solidFill>
                      <a:srgbClr val="F2F5F9"/>
                    </a:solidFill>
                  </a:tcPr>
                </a:tc>
                <a:tc>
                  <a:txBody>
                    <a:bodyPr/>
                    <a:lstStyle/>
                    <a:p>
                      <a:pPr algn="ctr"/>
                      <a:r>
                        <a:rPr sz="1000" b="0">
                          <a:solidFill>
                            <a:srgbClr val="1A1A1A"/>
                          </a:solidFill>
                          <a:latin typeface="Arial"/>
                        </a:rPr>
                        <a:t>569</a:t>
                      </a:r>
                    </a:p>
                  </a:txBody>
                  <a:tcPr marL="73152" marR="73152" marT="18288" marB="18288" anchor="ctr">
                    <a:solidFill>
                      <a:srgbClr val="F2F5F9"/>
                    </a:solidFill>
                  </a:tcPr>
                </a:tc>
                <a:tc>
                  <a:txBody>
                    <a:bodyPr/>
                    <a:lstStyle/>
                    <a:p>
                      <a:pPr algn="ctr"/>
                      <a:r>
                        <a:rPr sz="1000" b="0">
                          <a:solidFill>
                            <a:srgbClr val="1A1A1A"/>
                          </a:solidFill>
                          <a:latin typeface="Arial"/>
                        </a:rPr>
                        <a:t>548</a:t>
                      </a:r>
                    </a:p>
                  </a:txBody>
                  <a:tcPr marL="73152" marR="73152" marT="18288" marB="18288" anchor="ctr">
                    <a:solidFill>
                      <a:srgbClr val="F2F5F9"/>
                    </a:solidFill>
                  </a:tcPr>
                </a:tc>
              </a:tr>
            </a:tbl>
          </a:graphicData>
        </a:graphic>
      </p:graphicFrame>
      <p:sp>
        <p:nvSpPr>
          <p:cNvPr id="17" name="TextBox 16"/>
          <p:cNvSpPr txBox="1"/>
          <p:nvPr/>
        </p:nvSpPr>
        <p:spPr>
          <a:xfrm>
            <a:off x="7040880" y="4114800"/>
            <a:ext cx="4389120" cy="2103120"/>
          </a:xfrm>
          <a:prstGeom prst="rect">
            <a:avLst/>
          </a:prstGeom>
          <a:noFill/>
        </p:spPr>
        <p:txBody>
          <a:bodyPr wrap="square" lIns="0" rIns="0" tIns="0" bIns="0" anchor="t">
            <a:spAutoFit/>
          </a:bodyPr>
          <a:lstStyle/>
          <a:p>
            <a:pPr algn="l">
              <a:spcAft>
                <a:spcPts val="400"/>
              </a:spcAft>
            </a:pPr>
            <a:r>
              <a:rPr sz="1000" b="1" i="0">
                <a:solidFill>
                  <a:srgbClr val="0E7C86"/>
                </a:solidFill>
                <a:latin typeface="Arial"/>
              </a:rPr>
              <a:t>• </a:t>
            </a:r>
            <a:r>
              <a:rPr sz="1000" b="1" i="0">
                <a:solidFill>
                  <a:srgbClr val="1A1A1A"/>
                </a:solidFill>
                <a:latin typeface="Arial"/>
              </a:rPr>
              <a:t>70 / 15 / 15 </a:t>
            </a:r>
            <a:r>
              <a:rPr sz="1000" b="0" i="0">
                <a:solidFill>
                  <a:srgbClr val="404040"/>
                </a:solidFill>
                <a:latin typeface="Arial"/>
              </a:rPr>
              <a:t>split over patient groups, stratified by class</a:t>
            </a:r>
          </a:p>
          <a:p>
            <a:pPr algn="l">
              <a:spcAft>
                <a:spcPts val="400"/>
              </a:spcAft>
            </a:pPr>
            <a:r>
              <a:rPr sz="1000" b="1" i="0">
                <a:solidFill>
                  <a:srgbClr val="0E7C86"/>
                </a:solidFill>
                <a:latin typeface="Arial"/>
              </a:rPr>
              <a:t>• </a:t>
            </a:r>
            <a:r>
              <a:rPr sz="1000" b="1" i="0">
                <a:solidFill>
                  <a:srgbClr val="1A1A1A"/>
                </a:solidFill>
                <a:latin typeface="Arial"/>
              </a:rPr>
              <a:t>No leakage: </a:t>
            </a:r>
            <a:r>
              <a:rPr sz="1000" b="0" i="0">
                <a:solidFill>
                  <a:srgbClr val="404040"/>
                </a:solidFill>
                <a:latin typeface="Arial"/>
              </a:rPr>
              <a:t>repeat scans stay together; imputer, scaler and encoder are fitted on train only</a:t>
            </a:r>
          </a:p>
          <a:p>
            <a:pPr algn="l">
              <a:spcAft>
                <a:spcPts val="400"/>
              </a:spcAft>
            </a:pPr>
            <a:r>
              <a:rPr sz="1000" b="1" i="0">
                <a:solidFill>
                  <a:srgbClr val="0E7C86"/>
                </a:solidFill>
                <a:latin typeface="Arial"/>
              </a:rPr>
              <a:t>• </a:t>
            </a:r>
            <a:r>
              <a:rPr sz="1000" b="1" i="0">
                <a:solidFill>
                  <a:srgbClr val="1A1A1A"/>
                </a:solidFill>
                <a:latin typeface="Arial"/>
              </a:rPr>
              <a:t>Augmentation </a:t>
            </a:r>
            <a:r>
              <a:rPr sz="1000" b="0" i="0">
                <a:solidFill>
                  <a:srgbClr val="404040"/>
                </a:solidFill>
                <a:latin typeface="Arial"/>
              </a:rPr>
              <a:t>only on training cases: ±10° rotation, ±5% shift (same transform for all slices)</a:t>
            </a:r>
          </a:p>
          <a:p>
            <a:pPr algn="l">
              <a:spcAft>
                <a:spcPts val="400"/>
              </a:spcAft>
            </a:pPr>
            <a:r>
              <a:rPr sz="1000" b="1" i="0">
                <a:solidFill>
                  <a:srgbClr val="0E7C86"/>
                </a:solidFill>
                <a:latin typeface="Arial"/>
              </a:rPr>
              <a:t>• </a:t>
            </a:r>
            <a:r>
              <a:rPr sz="1000" b="1" i="0">
                <a:solidFill>
                  <a:srgbClr val="1A1A1A"/>
                </a:solidFill>
                <a:latin typeface="Arial"/>
              </a:rPr>
              <a:t>Crop QA: </a:t>
            </a:r>
            <a:r>
              <a:rPr sz="1000" b="0" i="0">
                <a:solidFill>
                  <a:srgbClr val="404040"/>
                </a:solidFill>
                <a:latin typeface="Arial"/>
              </a:rPr>
              <a:t>12 / 569 first-version crops kept only one lung (a fully consolidated lung is not 'air') → box now mirrored about the body midline; all models retrained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Rectangle 3"/>
          <p:cNvSpPr/>
          <p:nvPr/>
        </p:nvSpPr>
        <p:spPr>
          <a:xfrm>
            <a:off x="3749039" y="146304"/>
            <a:ext cx="16002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FFFFFF"/>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System Design — Multimodal Architecture</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7</a:t>
            </a:r>
          </a:p>
        </p:txBody>
      </p:sp>
      <p:sp>
        <p:nvSpPr>
          <p:cNvPr id="11" name="TextBox 10"/>
          <p:cNvSpPr txBox="1"/>
          <p:nvPr/>
        </p:nvSpPr>
        <p:spPr>
          <a:xfrm>
            <a:off x="777240" y="1143000"/>
            <a:ext cx="1828800" cy="228600"/>
          </a:xfrm>
          <a:prstGeom prst="rect">
            <a:avLst/>
          </a:prstGeom>
          <a:noFill/>
        </p:spPr>
        <p:txBody>
          <a:bodyPr wrap="square" lIns="0" rIns="0" tIns="0" bIns="0" anchor="t">
            <a:spAutoFit/>
          </a:bodyPr>
          <a:lstStyle/>
          <a:p>
            <a:pPr algn="l"/>
            <a:r>
              <a:rPr sz="950" b="1" i="0">
                <a:solidFill>
                  <a:srgbClr val="203864"/>
                </a:solidFill>
                <a:latin typeface="Arial"/>
              </a:rPr>
              <a:t>CT BRANCH</a:t>
            </a:r>
          </a:p>
        </p:txBody>
      </p:sp>
      <p:sp>
        <p:nvSpPr>
          <p:cNvPr id="12" name="Rounded Rectangle 11"/>
          <p:cNvSpPr/>
          <p:nvPr/>
        </p:nvSpPr>
        <p:spPr>
          <a:xfrm>
            <a:off x="777240" y="1417320"/>
            <a:ext cx="16002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1508760"/>
            <a:ext cx="1453896" cy="274320"/>
          </a:xfrm>
          <a:prstGeom prst="rect">
            <a:avLst/>
          </a:prstGeom>
          <a:noFill/>
        </p:spPr>
        <p:txBody>
          <a:bodyPr wrap="square" lIns="0" rIns="0" tIns="0" bIns="0" anchor="t">
            <a:spAutoFit/>
          </a:bodyPr>
          <a:lstStyle/>
          <a:p>
            <a:pPr algn="ctr"/>
            <a:r>
              <a:rPr sz="1150" b="1" i="0">
                <a:solidFill>
                  <a:srgbClr val="203864"/>
                </a:solidFill>
                <a:latin typeface="Arial"/>
              </a:rPr>
              <a:t>Chest CT</a:t>
            </a:r>
          </a:p>
        </p:txBody>
      </p:sp>
      <p:sp>
        <p:nvSpPr>
          <p:cNvPr id="14" name="TextBox 13"/>
          <p:cNvSpPr txBox="1"/>
          <p:nvPr/>
        </p:nvSpPr>
        <p:spPr>
          <a:xfrm>
            <a:off x="850392" y="1801368"/>
            <a:ext cx="1453896" cy="731520"/>
          </a:xfrm>
          <a:prstGeom prst="rect">
            <a:avLst/>
          </a:prstGeom>
          <a:noFill/>
        </p:spPr>
        <p:txBody>
          <a:bodyPr wrap="square" lIns="0" rIns="0" tIns="0" bIns="0" anchor="t">
            <a:spAutoFit/>
          </a:bodyPr>
          <a:lstStyle/>
          <a:p>
            <a:pPr algn="ctr"/>
            <a:r>
              <a:rPr sz="950" b="0" i="0">
                <a:solidFill>
                  <a:srgbClr val="404040"/>
                </a:solidFill>
                <a:latin typeface="Arial"/>
              </a:rPr>
              <a:t>NIfTI volume
512×512×31–81, HU</a:t>
            </a:r>
          </a:p>
        </p:txBody>
      </p:sp>
      <p:sp>
        <p:nvSpPr>
          <p:cNvPr id="15" name="Right Arrow 14"/>
          <p:cNvSpPr/>
          <p:nvPr/>
        </p:nvSpPr>
        <p:spPr>
          <a:xfrm>
            <a:off x="244144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43200" y="1417320"/>
            <a:ext cx="18288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16352" y="1508760"/>
            <a:ext cx="1682496" cy="274320"/>
          </a:xfrm>
          <a:prstGeom prst="rect">
            <a:avLst/>
          </a:prstGeom>
          <a:noFill/>
        </p:spPr>
        <p:txBody>
          <a:bodyPr wrap="square" lIns="0" rIns="0" tIns="0" bIns="0" anchor="t">
            <a:spAutoFit/>
          </a:bodyPr>
          <a:lstStyle/>
          <a:p>
            <a:pPr algn="ctr"/>
            <a:r>
              <a:rPr sz="1150" b="1" i="0">
                <a:solidFill>
                  <a:srgbClr val="203864"/>
                </a:solidFill>
                <a:latin typeface="Arial"/>
              </a:rPr>
              <a:t>Preprocess</a:t>
            </a:r>
          </a:p>
        </p:txBody>
      </p:sp>
      <p:sp>
        <p:nvSpPr>
          <p:cNvPr id="18" name="TextBox 17"/>
          <p:cNvSpPr txBox="1"/>
          <p:nvPr/>
        </p:nvSpPr>
        <p:spPr>
          <a:xfrm>
            <a:off x="2816352" y="1801368"/>
            <a:ext cx="1682496" cy="731520"/>
          </a:xfrm>
          <a:prstGeom prst="rect">
            <a:avLst/>
          </a:prstGeom>
          <a:noFill/>
        </p:spPr>
        <p:txBody>
          <a:bodyPr wrap="square" lIns="0" rIns="0" tIns="0" bIns="0" anchor="t">
            <a:spAutoFit/>
          </a:bodyPr>
          <a:lstStyle/>
          <a:p>
            <a:pPr algn="ctr"/>
            <a:r>
              <a:rPr sz="950" b="0" i="0">
                <a:solidFill>
                  <a:srgbClr val="404040"/>
                </a:solidFill>
                <a:latin typeface="Arial"/>
              </a:rPr>
              <a:t>lung window, lung crop,
16 slices × 3 adjacent
→ 224×224</a:t>
            </a:r>
          </a:p>
        </p:txBody>
      </p:sp>
      <p:sp>
        <p:nvSpPr>
          <p:cNvPr id="19" name="Right Arrow 18"/>
          <p:cNvSpPr/>
          <p:nvPr/>
        </p:nvSpPr>
        <p:spPr>
          <a:xfrm>
            <a:off x="463600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0" y="1417320"/>
            <a:ext cx="18288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10912" y="1508760"/>
            <a:ext cx="1682496" cy="274320"/>
          </a:xfrm>
          <a:prstGeom prst="rect">
            <a:avLst/>
          </a:prstGeom>
          <a:noFill/>
        </p:spPr>
        <p:txBody>
          <a:bodyPr wrap="square" lIns="0" rIns="0" tIns="0" bIns="0" anchor="t">
            <a:spAutoFit/>
          </a:bodyPr>
          <a:lstStyle/>
          <a:p>
            <a:pPr algn="ctr"/>
            <a:r>
              <a:rPr sz="1150" b="1" i="0">
                <a:solidFill>
                  <a:srgbClr val="203864"/>
                </a:solidFill>
                <a:latin typeface="Arial"/>
              </a:rPr>
              <a:t>ResNet-18</a:t>
            </a:r>
          </a:p>
        </p:txBody>
      </p:sp>
      <p:sp>
        <p:nvSpPr>
          <p:cNvPr id="22" name="TextBox 21"/>
          <p:cNvSpPr txBox="1"/>
          <p:nvPr/>
        </p:nvSpPr>
        <p:spPr>
          <a:xfrm>
            <a:off x="5010912" y="1801368"/>
            <a:ext cx="1682496" cy="731520"/>
          </a:xfrm>
          <a:prstGeom prst="rect">
            <a:avLst/>
          </a:prstGeom>
          <a:noFill/>
        </p:spPr>
        <p:txBody>
          <a:bodyPr wrap="square" lIns="0" rIns="0" tIns="0" bIns="0" anchor="t">
            <a:spAutoFit/>
          </a:bodyPr>
          <a:lstStyle/>
          <a:p>
            <a:pPr algn="ctr"/>
            <a:r>
              <a:rPr sz="950" b="0" i="0">
                <a:solidFill>
                  <a:srgbClr val="404040"/>
                </a:solidFill>
                <a:latin typeface="Arial"/>
              </a:rPr>
              <a:t>ImageNet pre-trained,
shared over 16 slices
→ 16 × 512</a:t>
            </a:r>
          </a:p>
        </p:txBody>
      </p:sp>
      <p:sp>
        <p:nvSpPr>
          <p:cNvPr id="23" name="Right Arrow 22"/>
          <p:cNvSpPr/>
          <p:nvPr/>
        </p:nvSpPr>
        <p:spPr>
          <a:xfrm>
            <a:off x="683056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32320" y="1417320"/>
            <a:ext cx="13716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05472" y="1508760"/>
            <a:ext cx="1225296" cy="274320"/>
          </a:xfrm>
          <a:prstGeom prst="rect">
            <a:avLst/>
          </a:prstGeom>
          <a:noFill/>
        </p:spPr>
        <p:txBody>
          <a:bodyPr wrap="square" lIns="0" rIns="0" tIns="0" bIns="0" anchor="t">
            <a:spAutoFit/>
          </a:bodyPr>
          <a:lstStyle/>
          <a:p>
            <a:pPr algn="ctr"/>
            <a:r>
              <a:rPr sz="1150" b="1" i="0">
                <a:solidFill>
                  <a:srgbClr val="203864"/>
                </a:solidFill>
                <a:latin typeface="Arial"/>
              </a:rPr>
              <a:t>Mean pool</a:t>
            </a:r>
          </a:p>
        </p:txBody>
      </p:sp>
      <p:sp>
        <p:nvSpPr>
          <p:cNvPr id="26" name="TextBox 25"/>
          <p:cNvSpPr txBox="1"/>
          <p:nvPr/>
        </p:nvSpPr>
        <p:spPr>
          <a:xfrm>
            <a:off x="7205472" y="1801368"/>
            <a:ext cx="1225296" cy="731520"/>
          </a:xfrm>
          <a:prstGeom prst="rect">
            <a:avLst/>
          </a:prstGeom>
          <a:noFill/>
        </p:spPr>
        <p:txBody>
          <a:bodyPr wrap="square" lIns="0" rIns="0" tIns="0" bIns="0" anchor="t">
            <a:spAutoFit/>
          </a:bodyPr>
          <a:lstStyle/>
          <a:p>
            <a:pPr algn="ctr"/>
            <a:r>
              <a:rPr sz="950" b="0" i="0">
                <a:solidFill>
                  <a:srgbClr val="404040"/>
                </a:solidFill>
                <a:latin typeface="Arial"/>
              </a:rPr>
              <a:t>patient-level
512-d</a:t>
            </a:r>
          </a:p>
        </p:txBody>
      </p:sp>
      <p:sp>
        <p:nvSpPr>
          <p:cNvPr id="27" name="TextBox 26"/>
          <p:cNvSpPr txBox="1"/>
          <p:nvPr/>
        </p:nvSpPr>
        <p:spPr>
          <a:xfrm>
            <a:off x="777240" y="2926080"/>
            <a:ext cx="2286000" cy="228600"/>
          </a:xfrm>
          <a:prstGeom prst="rect">
            <a:avLst/>
          </a:prstGeom>
          <a:noFill/>
        </p:spPr>
        <p:txBody>
          <a:bodyPr wrap="square" lIns="0" rIns="0" tIns="0" bIns="0" anchor="t">
            <a:spAutoFit/>
          </a:bodyPr>
          <a:lstStyle/>
          <a:p>
            <a:pPr algn="l"/>
            <a:r>
              <a:rPr sz="950" b="1" i="0">
                <a:solidFill>
                  <a:srgbClr val="0E7C86"/>
                </a:solidFill>
                <a:latin typeface="Arial"/>
              </a:rPr>
              <a:t>CLINICAL BRANCH</a:t>
            </a:r>
          </a:p>
        </p:txBody>
      </p:sp>
      <p:sp>
        <p:nvSpPr>
          <p:cNvPr id="28" name="Rounded Rectangle 27"/>
          <p:cNvSpPr/>
          <p:nvPr/>
        </p:nvSpPr>
        <p:spPr>
          <a:xfrm>
            <a:off x="777240" y="3200400"/>
            <a:ext cx="16002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 y="3291840"/>
            <a:ext cx="1453896" cy="274320"/>
          </a:xfrm>
          <a:prstGeom prst="rect">
            <a:avLst/>
          </a:prstGeom>
          <a:noFill/>
        </p:spPr>
        <p:txBody>
          <a:bodyPr wrap="square" lIns="0" rIns="0" tIns="0" bIns="0" anchor="t">
            <a:spAutoFit/>
          </a:bodyPr>
          <a:lstStyle/>
          <a:p>
            <a:pPr algn="ctr"/>
            <a:r>
              <a:rPr sz="1150" b="1" i="0">
                <a:solidFill>
                  <a:srgbClr val="0E7C86"/>
                </a:solidFill>
                <a:latin typeface="Arial"/>
              </a:rPr>
              <a:t>Clinical record</a:t>
            </a:r>
          </a:p>
        </p:txBody>
      </p:sp>
      <p:sp>
        <p:nvSpPr>
          <p:cNvPr id="30" name="TextBox 29"/>
          <p:cNvSpPr txBox="1"/>
          <p:nvPr/>
        </p:nvSpPr>
        <p:spPr>
          <a:xfrm>
            <a:off x="850392" y="3584448"/>
            <a:ext cx="1453896" cy="640080"/>
          </a:xfrm>
          <a:prstGeom prst="rect">
            <a:avLst/>
          </a:prstGeom>
          <a:noFill/>
        </p:spPr>
        <p:txBody>
          <a:bodyPr wrap="square" lIns="0" rIns="0" tIns="0" bIns="0" anchor="t">
            <a:spAutoFit/>
          </a:bodyPr>
          <a:lstStyle/>
          <a:p>
            <a:pPr algn="ctr"/>
            <a:r>
              <a:rPr sz="950" b="0" i="0">
                <a:solidFill>
                  <a:srgbClr val="404040"/>
                </a:solidFill>
                <a:latin typeface="Arial"/>
              </a:rPr>
              <a:t>12 variables</a:t>
            </a:r>
          </a:p>
        </p:txBody>
      </p:sp>
      <p:sp>
        <p:nvSpPr>
          <p:cNvPr id="31" name="Right Arrow 30"/>
          <p:cNvSpPr/>
          <p:nvPr/>
        </p:nvSpPr>
        <p:spPr>
          <a:xfrm>
            <a:off x="244144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743200" y="3200400"/>
            <a:ext cx="18288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16352" y="3291840"/>
            <a:ext cx="1682496" cy="274320"/>
          </a:xfrm>
          <a:prstGeom prst="rect">
            <a:avLst/>
          </a:prstGeom>
          <a:noFill/>
        </p:spPr>
        <p:txBody>
          <a:bodyPr wrap="square" lIns="0" rIns="0" tIns="0" bIns="0" anchor="t">
            <a:spAutoFit/>
          </a:bodyPr>
          <a:lstStyle/>
          <a:p>
            <a:pPr algn="ctr"/>
            <a:r>
              <a:rPr sz="1150" b="1" i="0">
                <a:solidFill>
                  <a:srgbClr val="0E7C86"/>
                </a:solidFill>
                <a:latin typeface="Arial"/>
              </a:rPr>
              <a:t>Encode</a:t>
            </a:r>
          </a:p>
        </p:txBody>
      </p:sp>
      <p:sp>
        <p:nvSpPr>
          <p:cNvPr id="34" name="TextBox 33"/>
          <p:cNvSpPr txBox="1"/>
          <p:nvPr/>
        </p:nvSpPr>
        <p:spPr>
          <a:xfrm>
            <a:off x="2816352" y="3584448"/>
            <a:ext cx="1682496" cy="640080"/>
          </a:xfrm>
          <a:prstGeom prst="rect">
            <a:avLst/>
          </a:prstGeom>
          <a:noFill/>
        </p:spPr>
        <p:txBody>
          <a:bodyPr wrap="square" lIns="0" rIns="0" tIns="0" bIns="0" anchor="t">
            <a:spAutoFit/>
          </a:bodyPr>
          <a:lstStyle/>
          <a:p>
            <a:pPr algn="ctr"/>
            <a:r>
              <a:rPr sz="950" b="0" i="0">
                <a:solidFill>
                  <a:srgbClr val="404040"/>
                </a:solidFill>
                <a:latin typeface="Arial"/>
              </a:rPr>
              <a:t>median impute, z-score,
one-hot (train-fit only)</a:t>
            </a:r>
          </a:p>
        </p:txBody>
      </p:sp>
      <p:sp>
        <p:nvSpPr>
          <p:cNvPr id="35" name="Right Arrow 34"/>
          <p:cNvSpPr/>
          <p:nvPr/>
        </p:nvSpPr>
        <p:spPr>
          <a:xfrm>
            <a:off x="463600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937760" y="3200400"/>
            <a:ext cx="18288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10912" y="3291840"/>
            <a:ext cx="1682496" cy="274320"/>
          </a:xfrm>
          <a:prstGeom prst="rect">
            <a:avLst/>
          </a:prstGeom>
          <a:noFill/>
        </p:spPr>
        <p:txBody>
          <a:bodyPr wrap="square" lIns="0" rIns="0" tIns="0" bIns="0" anchor="t">
            <a:spAutoFit/>
          </a:bodyPr>
          <a:lstStyle/>
          <a:p>
            <a:pPr algn="ctr"/>
            <a:r>
              <a:rPr sz="1150" b="1" i="0">
                <a:solidFill>
                  <a:srgbClr val="0E7C86"/>
                </a:solidFill>
                <a:latin typeface="Arial"/>
              </a:rPr>
              <a:t>Clinical MLP</a:t>
            </a:r>
          </a:p>
        </p:txBody>
      </p:sp>
      <p:sp>
        <p:nvSpPr>
          <p:cNvPr id="38" name="TextBox 37"/>
          <p:cNvSpPr txBox="1"/>
          <p:nvPr/>
        </p:nvSpPr>
        <p:spPr>
          <a:xfrm>
            <a:off x="5010912" y="3584448"/>
            <a:ext cx="1682496" cy="640080"/>
          </a:xfrm>
          <a:prstGeom prst="rect">
            <a:avLst/>
          </a:prstGeom>
          <a:noFill/>
        </p:spPr>
        <p:txBody>
          <a:bodyPr wrap="square" lIns="0" rIns="0" tIns="0" bIns="0" anchor="t">
            <a:spAutoFit/>
          </a:bodyPr>
          <a:lstStyle/>
          <a:p>
            <a:pPr algn="ctr"/>
            <a:r>
              <a:rPr sz="950" b="0" i="0">
                <a:solidFill>
                  <a:srgbClr val="404040"/>
                </a:solidFill>
                <a:latin typeface="Arial"/>
              </a:rPr>
              <a:t>2 layers → 64-d</a:t>
            </a:r>
          </a:p>
        </p:txBody>
      </p:sp>
      <p:sp>
        <p:nvSpPr>
          <p:cNvPr id="39" name="Right Arrow 38"/>
          <p:cNvSpPr/>
          <p:nvPr/>
        </p:nvSpPr>
        <p:spPr>
          <a:xfrm>
            <a:off x="683056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823960" y="2148840"/>
            <a:ext cx="1234440" cy="1280160"/>
          </a:xfrm>
          <a:prstGeom prst="roundRect">
            <a:avLst>
              <a:gd name="adj" fmla="val 10000"/>
            </a:avLst>
          </a:prstGeom>
          <a:solidFill>
            <a:srgbClr val="FDF2DE"/>
          </a:solidFill>
          <a:ln w="12700">
            <a:solidFill>
              <a:srgbClr val="B0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97112" y="2240280"/>
            <a:ext cx="1088136" cy="274320"/>
          </a:xfrm>
          <a:prstGeom prst="rect">
            <a:avLst/>
          </a:prstGeom>
          <a:noFill/>
        </p:spPr>
        <p:txBody>
          <a:bodyPr wrap="square" lIns="0" rIns="0" tIns="0" bIns="0" anchor="t">
            <a:spAutoFit/>
          </a:bodyPr>
          <a:lstStyle/>
          <a:p>
            <a:pPr algn="ctr"/>
            <a:r>
              <a:rPr sz="1150" b="1" i="0">
                <a:solidFill>
                  <a:srgbClr val="B05A00"/>
                </a:solidFill>
                <a:latin typeface="Arial"/>
              </a:rPr>
              <a:t>Concat</a:t>
            </a:r>
          </a:p>
        </p:txBody>
      </p:sp>
      <p:sp>
        <p:nvSpPr>
          <p:cNvPr id="42" name="TextBox 41"/>
          <p:cNvSpPr txBox="1"/>
          <p:nvPr/>
        </p:nvSpPr>
        <p:spPr>
          <a:xfrm>
            <a:off x="8897112" y="2532888"/>
            <a:ext cx="1088136" cy="868680"/>
          </a:xfrm>
          <a:prstGeom prst="rect">
            <a:avLst/>
          </a:prstGeom>
          <a:noFill/>
        </p:spPr>
        <p:txBody>
          <a:bodyPr wrap="square" lIns="0" rIns="0" tIns="0" bIns="0" anchor="t">
            <a:spAutoFit/>
          </a:bodyPr>
          <a:lstStyle/>
          <a:p>
            <a:pPr algn="ctr"/>
            <a:r>
              <a:rPr sz="950" b="0" i="0">
                <a:solidFill>
                  <a:srgbClr val="404040"/>
                </a:solidFill>
                <a:latin typeface="Arial"/>
              </a:rPr>
              <a:t>512 + 64
= 576-d</a:t>
            </a:r>
          </a:p>
        </p:txBody>
      </p:sp>
      <p:cxnSp>
        <p:nvCxnSpPr>
          <p:cNvPr id="43" name="Connector 42"/>
          <p:cNvCxnSpPr/>
          <p:nvPr/>
        </p:nvCxnSpPr>
        <p:spPr>
          <a:xfrm>
            <a:off x="8503920" y="1984248"/>
            <a:ext cx="320040" cy="804672"/>
          </a:xfrm>
          <a:prstGeom prst="line">
            <a:avLst/>
          </a:prstGeom>
          <a:ln w="25400">
            <a:solidFill>
              <a:srgbClr val="8AA0B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132320" y="2788920"/>
            <a:ext cx="1691640" cy="932688"/>
          </a:xfrm>
          <a:prstGeom prst="line">
            <a:avLst/>
          </a:prstGeom>
          <a:ln w="25400">
            <a:solidFill>
              <a:srgbClr val="8AA0B8"/>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241280" y="2148840"/>
            <a:ext cx="1234440" cy="1280160"/>
          </a:xfrm>
          <a:prstGeom prst="roundRect">
            <a:avLst>
              <a:gd name="adj" fmla="val 10000"/>
            </a:avLst>
          </a:prstGeom>
          <a:solidFill>
            <a:srgbClr val="FDF2DE"/>
          </a:solidFill>
          <a:ln w="12700">
            <a:solidFill>
              <a:srgbClr val="B0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14432" y="2240280"/>
            <a:ext cx="1088136" cy="274320"/>
          </a:xfrm>
          <a:prstGeom prst="rect">
            <a:avLst/>
          </a:prstGeom>
          <a:noFill/>
        </p:spPr>
        <p:txBody>
          <a:bodyPr wrap="square" lIns="0" rIns="0" tIns="0" bIns="0" anchor="t">
            <a:spAutoFit/>
          </a:bodyPr>
          <a:lstStyle/>
          <a:p>
            <a:pPr algn="ctr"/>
            <a:r>
              <a:rPr sz="1150" b="1" i="0">
                <a:solidFill>
                  <a:srgbClr val="B05A00"/>
                </a:solidFill>
                <a:latin typeface="Arial"/>
              </a:rPr>
              <a:t>MLP head</a:t>
            </a:r>
          </a:p>
        </p:txBody>
      </p:sp>
      <p:sp>
        <p:nvSpPr>
          <p:cNvPr id="47" name="TextBox 46"/>
          <p:cNvSpPr txBox="1"/>
          <p:nvPr/>
        </p:nvSpPr>
        <p:spPr>
          <a:xfrm>
            <a:off x="10314432" y="2532888"/>
            <a:ext cx="1088136" cy="868680"/>
          </a:xfrm>
          <a:prstGeom prst="rect">
            <a:avLst/>
          </a:prstGeom>
          <a:noFill/>
        </p:spPr>
        <p:txBody>
          <a:bodyPr wrap="square" lIns="0" rIns="0" tIns="0" bIns="0" anchor="t">
            <a:spAutoFit/>
          </a:bodyPr>
          <a:lstStyle/>
          <a:p>
            <a:pPr algn="ctr"/>
            <a:r>
              <a:rPr sz="950" b="0" i="0">
                <a:solidFill>
                  <a:srgbClr val="404040"/>
                </a:solidFill>
                <a:latin typeface="Arial"/>
              </a:rPr>
              <a:t>dropout,
softmax ×3</a:t>
            </a:r>
          </a:p>
        </p:txBody>
      </p:sp>
      <p:sp>
        <p:nvSpPr>
          <p:cNvPr id="48" name="Right Arrow 47"/>
          <p:cNvSpPr/>
          <p:nvPr/>
        </p:nvSpPr>
        <p:spPr>
          <a:xfrm>
            <a:off x="10085832" y="2670048"/>
            <a:ext cx="146304"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10744200" y="3474720"/>
            <a:ext cx="219456" cy="237744"/>
          </a:xfrm>
          <a:prstGeom prst="down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555480" y="3794760"/>
            <a:ext cx="1920240" cy="9144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28632" y="3886200"/>
            <a:ext cx="1773936" cy="274320"/>
          </a:xfrm>
          <a:prstGeom prst="rect">
            <a:avLst/>
          </a:prstGeom>
          <a:noFill/>
        </p:spPr>
        <p:txBody>
          <a:bodyPr wrap="square" lIns="0" rIns="0" tIns="0" bIns="0" anchor="t">
            <a:spAutoFit/>
          </a:bodyPr>
          <a:lstStyle/>
          <a:p>
            <a:pPr algn="ctr"/>
            <a:r>
              <a:rPr sz="1150" b="1" i="0">
                <a:solidFill>
                  <a:srgbClr val="203864"/>
                </a:solidFill>
                <a:latin typeface="Arial"/>
              </a:rPr>
              <a:t>Outputs</a:t>
            </a:r>
          </a:p>
        </p:txBody>
      </p:sp>
      <p:sp>
        <p:nvSpPr>
          <p:cNvPr id="52" name="TextBox 51"/>
          <p:cNvSpPr txBox="1"/>
          <p:nvPr/>
        </p:nvSpPr>
        <p:spPr>
          <a:xfrm>
            <a:off x="9628632" y="4178808"/>
            <a:ext cx="1773936" cy="502920"/>
          </a:xfrm>
          <a:prstGeom prst="rect">
            <a:avLst/>
          </a:prstGeom>
          <a:noFill/>
        </p:spPr>
        <p:txBody>
          <a:bodyPr wrap="square" lIns="0" rIns="0" tIns="0" bIns="0" anchor="t">
            <a:spAutoFit/>
          </a:bodyPr>
          <a:lstStyle/>
          <a:p>
            <a:pPr algn="ctr"/>
            <a:r>
              <a:rPr sz="950" b="0" i="0">
                <a:solidFill>
                  <a:srgbClr val="404040"/>
                </a:solidFill>
                <a:latin typeface="Arial"/>
              </a:rPr>
              <a:t>class probabilities,
'uncertain' flag</a:t>
            </a:r>
          </a:p>
        </p:txBody>
      </p:sp>
      <p:sp>
        <p:nvSpPr>
          <p:cNvPr id="53" name="Rounded Rectangle 52"/>
          <p:cNvSpPr/>
          <p:nvPr/>
        </p:nvSpPr>
        <p:spPr>
          <a:xfrm>
            <a:off x="7132320" y="3794760"/>
            <a:ext cx="2194560" cy="9144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05472" y="3886200"/>
            <a:ext cx="2048255" cy="274320"/>
          </a:xfrm>
          <a:prstGeom prst="rect">
            <a:avLst/>
          </a:prstGeom>
          <a:noFill/>
        </p:spPr>
        <p:txBody>
          <a:bodyPr wrap="square" lIns="0" rIns="0" tIns="0" bIns="0" anchor="t">
            <a:spAutoFit/>
          </a:bodyPr>
          <a:lstStyle/>
          <a:p>
            <a:pPr algn="ctr"/>
            <a:r>
              <a:rPr sz="1150" b="1" i="0">
                <a:solidFill>
                  <a:srgbClr val="203864"/>
                </a:solidFill>
                <a:latin typeface="Arial"/>
              </a:rPr>
              <a:t>Grad-CAM</a:t>
            </a:r>
          </a:p>
        </p:txBody>
      </p:sp>
      <p:sp>
        <p:nvSpPr>
          <p:cNvPr id="55" name="TextBox 54"/>
          <p:cNvSpPr txBox="1"/>
          <p:nvPr/>
        </p:nvSpPr>
        <p:spPr>
          <a:xfrm>
            <a:off x="7205472" y="4178808"/>
            <a:ext cx="2048255" cy="502920"/>
          </a:xfrm>
          <a:prstGeom prst="rect">
            <a:avLst/>
          </a:prstGeom>
          <a:noFill/>
        </p:spPr>
        <p:txBody>
          <a:bodyPr wrap="square" lIns="0" rIns="0" tIns="0" bIns="0" anchor="t">
            <a:spAutoFit/>
          </a:bodyPr>
          <a:lstStyle/>
          <a:p>
            <a:pPr algn="ctr"/>
            <a:r>
              <a:rPr sz="950" b="0" i="0">
                <a:solidFill>
                  <a:srgbClr val="404040"/>
                </a:solidFill>
                <a:latin typeface="Arial"/>
              </a:rPr>
              <a:t>saliency on the CT slices
→ lesion localisation</a:t>
            </a:r>
          </a:p>
        </p:txBody>
      </p:sp>
      <p:sp>
        <p:nvSpPr>
          <p:cNvPr id="56" name="Rectangle 55"/>
          <p:cNvSpPr/>
          <p:nvPr/>
        </p:nvSpPr>
        <p:spPr>
          <a:xfrm>
            <a:off x="777240" y="4572000"/>
            <a:ext cx="29260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4572000"/>
            <a:ext cx="2926080" cy="256032"/>
          </a:xfrm>
          <a:prstGeom prst="rect">
            <a:avLst/>
          </a:prstGeom>
          <a:noFill/>
        </p:spPr>
        <p:txBody>
          <a:bodyPr wrap="square" lIns="0" rIns="0" tIns="0" bIns="0" anchor="ctr">
            <a:spAutoFit/>
          </a:bodyPr>
          <a:lstStyle/>
          <a:p>
            <a:pPr algn="ctr"/>
            <a:r>
              <a:rPr sz="1000" b="1" i="0">
                <a:solidFill>
                  <a:srgbClr val="FFFFFF"/>
                </a:solidFill>
                <a:latin typeface="Arial"/>
              </a:rPr>
              <a:t>BASELINES SHARE THE SAME PARTS</a:t>
            </a:r>
          </a:p>
        </p:txBody>
      </p:sp>
      <p:sp>
        <p:nvSpPr>
          <p:cNvPr id="58" name="TextBox 57"/>
          <p:cNvSpPr txBox="1"/>
          <p:nvPr/>
        </p:nvSpPr>
        <p:spPr>
          <a:xfrm>
            <a:off x="777240" y="4937760"/>
            <a:ext cx="6126480" cy="128016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CT-only: </a:t>
            </a:r>
            <a:r>
              <a:rPr sz="1050" b="0" i="0">
                <a:solidFill>
                  <a:srgbClr val="404040"/>
                </a:solidFill>
                <a:latin typeface="Arial"/>
              </a:rPr>
              <a:t>same CT branch + head, clinical branch removed</a:t>
            </a:r>
          </a:p>
          <a:p>
            <a:pPr algn="l">
              <a:spcAft>
                <a:spcPts val="400"/>
              </a:spcAft>
            </a:pPr>
            <a:r>
              <a:rPr sz="1050" b="1" i="0">
                <a:solidFill>
                  <a:srgbClr val="0E7C86"/>
                </a:solidFill>
                <a:latin typeface="Arial"/>
              </a:rPr>
              <a:t>• </a:t>
            </a:r>
            <a:r>
              <a:rPr sz="1050" b="1" i="0">
                <a:solidFill>
                  <a:srgbClr val="1A1A1A"/>
                </a:solidFill>
                <a:latin typeface="Arial"/>
              </a:rPr>
              <a:t>Clinical-only: </a:t>
            </a:r>
            <a:r>
              <a:rPr sz="1050" b="0" i="0">
                <a:solidFill>
                  <a:srgbClr val="404040"/>
                </a:solidFill>
                <a:latin typeface="Arial"/>
              </a:rPr>
              <a:t>logistic regression / random forest / LightGBM on the encoded record</a:t>
            </a:r>
          </a:p>
          <a:p>
            <a:pPr algn="l">
              <a:spcAft>
                <a:spcPts val="400"/>
              </a:spcAft>
            </a:pPr>
            <a:r>
              <a:rPr sz="1050" b="1" i="0">
                <a:solidFill>
                  <a:srgbClr val="0E7C86"/>
                </a:solidFill>
                <a:latin typeface="Arial"/>
              </a:rPr>
              <a:t>• </a:t>
            </a:r>
            <a:r>
              <a:rPr sz="1050" b="1" i="0">
                <a:solidFill>
                  <a:srgbClr val="1A1A1A"/>
                </a:solidFill>
                <a:latin typeface="Arial"/>
              </a:rPr>
              <a:t>Training: </a:t>
            </a:r>
            <a:r>
              <a:rPr sz="1050" b="0" i="0">
                <a:solidFill>
                  <a:srgbClr val="404040"/>
                </a:solidFill>
                <a:latin typeface="Arial"/>
              </a:rPr>
              <a:t>class-weighted cross-entropy, AdamW, cosine LR, mixed precision; model chosen on validation macro-F1</a:t>
            </a:r>
          </a:p>
        </p:txBody>
      </p:sp>
      <p:sp>
        <p:nvSpPr>
          <p:cNvPr id="59" name="Rounded Rectangle 58"/>
          <p:cNvSpPr/>
          <p:nvPr/>
        </p:nvSpPr>
        <p:spPr>
          <a:xfrm>
            <a:off x="7132320" y="4937760"/>
            <a:ext cx="4343400" cy="914400"/>
          </a:xfrm>
          <a:prstGeom prst="roundRect">
            <a:avLst>
              <a:gd name="adj" fmla="val 8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69480" y="5010912"/>
            <a:ext cx="4114800" cy="1188720"/>
          </a:xfrm>
          <a:prstGeom prst="rect">
            <a:avLst/>
          </a:prstGeom>
          <a:noFill/>
        </p:spPr>
        <p:txBody>
          <a:bodyPr wrap="square" lIns="0" rIns="0" tIns="0" bIns="0" anchor="t">
            <a:spAutoFit/>
          </a:bodyPr>
          <a:lstStyle/>
          <a:p>
            <a:pPr algn="l"/>
            <a:r>
              <a:rPr sz="1000" b="1" i="0">
                <a:solidFill>
                  <a:srgbClr val="203864"/>
                </a:solidFill>
                <a:latin typeface="Arial"/>
              </a:rPr>
              <a:t>Why 2.5D, not 3D? </a:t>
            </a:r>
            <a:r>
              <a:rPr sz="1000" b="0" i="0">
                <a:solidFill>
                  <a:srgbClr val="404040"/>
                </a:solidFill>
                <a:latin typeface="Arial"/>
              </a:rPr>
              <a:t>Slices are 5 mm thick, so a 3D network gains little along z; 2D ImageNet weights transfer directly, and 16 slices × 224² fits our 8 GB GPU. 3 adjacent slices as RGB keep local z-context.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Rectangle 3"/>
          <p:cNvSpPr/>
          <p:nvPr/>
        </p:nvSpPr>
        <p:spPr>
          <a:xfrm>
            <a:off x="3749039" y="146304"/>
            <a:ext cx="16002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FFFFFF"/>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Experimental Design — Two Comparison Groups: Data First, Then Model</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8</a:t>
            </a:r>
          </a:p>
        </p:txBody>
      </p:sp>
      <p:sp>
        <p:nvSpPr>
          <p:cNvPr id="11" name="Rounded Rectangle 10"/>
          <p:cNvSpPr/>
          <p:nvPr/>
        </p:nvSpPr>
        <p:spPr>
          <a:xfrm>
            <a:off x="822960" y="1280160"/>
            <a:ext cx="5166360" cy="3154680"/>
          </a:xfrm>
          <a:prstGeom prst="roundRect">
            <a:avLst>
              <a:gd name="adj" fmla="val 4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1280160"/>
            <a:ext cx="5166360" cy="65836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1316736"/>
            <a:ext cx="4846320" cy="320040"/>
          </a:xfrm>
          <a:prstGeom prst="rect">
            <a:avLst/>
          </a:prstGeom>
          <a:noFill/>
        </p:spPr>
        <p:txBody>
          <a:bodyPr wrap="square" lIns="0" rIns="0" tIns="0" bIns="0" anchor="t">
            <a:spAutoFit/>
          </a:bodyPr>
          <a:lstStyle/>
          <a:p>
            <a:pPr algn="l"/>
            <a:r>
              <a:rPr sz="1300" b="1" i="0">
                <a:solidFill>
                  <a:srgbClr val="FFFFFF"/>
                </a:solidFill>
                <a:latin typeface="Arial"/>
              </a:rPr>
              <a:t>Experiment 1 · Data</a:t>
            </a:r>
          </a:p>
        </p:txBody>
      </p:sp>
      <p:sp>
        <p:nvSpPr>
          <p:cNvPr id="14" name="TextBox 13"/>
          <p:cNvSpPr txBox="1"/>
          <p:nvPr/>
        </p:nvSpPr>
        <p:spPr>
          <a:xfrm>
            <a:off x="960120" y="1618488"/>
            <a:ext cx="4846320" cy="274320"/>
          </a:xfrm>
          <a:prstGeom prst="rect">
            <a:avLst/>
          </a:prstGeom>
          <a:noFill/>
        </p:spPr>
        <p:txBody>
          <a:bodyPr wrap="square" lIns="0" rIns="0" tIns="0" bIns="0" anchor="t">
            <a:spAutoFit/>
          </a:bodyPr>
          <a:lstStyle/>
          <a:p>
            <a:pPr algn="l"/>
            <a:r>
              <a:rPr sz="1000" b="0" i="1">
                <a:solidFill>
                  <a:srgbClr val="FFFFFF"/>
                </a:solidFill>
                <a:latin typeface="Arial"/>
              </a:rPr>
              <a:t>What goes into the model? — run first</a:t>
            </a:r>
          </a:p>
        </p:txBody>
      </p:sp>
      <p:sp>
        <p:nvSpPr>
          <p:cNvPr id="15" name="TextBox 14"/>
          <p:cNvSpPr txBox="1"/>
          <p:nvPr/>
        </p:nvSpPr>
        <p:spPr>
          <a:xfrm>
            <a:off x="960120" y="2057400"/>
            <a:ext cx="1600200" cy="411480"/>
          </a:xfrm>
          <a:prstGeom prst="rect">
            <a:avLst/>
          </a:prstGeom>
          <a:noFill/>
        </p:spPr>
        <p:txBody>
          <a:bodyPr wrap="square" lIns="0" rIns="0" tIns="0" bIns="0" anchor="ctr">
            <a:spAutoFit/>
          </a:bodyPr>
          <a:lstStyle/>
          <a:p>
            <a:pPr algn="l"/>
            <a:r>
              <a:rPr sz="1000" b="1" i="0">
                <a:solidFill>
                  <a:srgbClr val="0E7C86"/>
                </a:solidFill>
                <a:latin typeface="Arial"/>
              </a:rPr>
              <a:t>1a · Preprocessing</a:t>
            </a:r>
          </a:p>
        </p:txBody>
      </p:sp>
      <p:sp>
        <p:nvSpPr>
          <p:cNvPr id="16" name="TextBox 15"/>
          <p:cNvSpPr txBox="1"/>
          <p:nvPr/>
        </p:nvSpPr>
        <p:spPr>
          <a:xfrm>
            <a:off x="2560320" y="2057400"/>
            <a:ext cx="3291840" cy="411480"/>
          </a:xfrm>
          <a:prstGeom prst="rect">
            <a:avLst/>
          </a:prstGeom>
          <a:noFill/>
        </p:spPr>
        <p:txBody>
          <a:bodyPr wrap="square" lIns="0" rIns="0" tIns="0" bIns="0" anchor="ctr">
            <a:spAutoFit/>
          </a:bodyPr>
          <a:lstStyle/>
          <a:p>
            <a:pPr algn="l"/>
            <a:r>
              <a:rPr sz="950" b="0" i="0">
                <a:solidFill>
                  <a:srgbClr val="404040"/>
                </a:solidFill>
                <a:latin typeface="Arial"/>
              </a:rPr>
              <a:t>lung masking on / off; lung window vs multi-window channels</a:t>
            </a:r>
          </a:p>
        </p:txBody>
      </p:sp>
      <p:sp>
        <p:nvSpPr>
          <p:cNvPr id="17" name="TextBox 16"/>
          <p:cNvSpPr txBox="1"/>
          <p:nvPr/>
        </p:nvSpPr>
        <p:spPr>
          <a:xfrm>
            <a:off x="960120" y="2514600"/>
            <a:ext cx="1600200" cy="411480"/>
          </a:xfrm>
          <a:prstGeom prst="rect">
            <a:avLst/>
          </a:prstGeom>
          <a:noFill/>
        </p:spPr>
        <p:txBody>
          <a:bodyPr wrap="square" lIns="0" rIns="0" tIns="0" bIns="0" anchor="ctr">
            <a:spAutoFit/>
          </a:bodyPr>
          <a:lstStyle/>
          <a:p>
            <a:pPr algn="l"/>
            <a:r>
              <a:rPr sz="1000" b="1" i="0">
                <a:solidFill>
                  <a:srgbClr val="0E7C86"/>
                </a:solidFill>
                <a:latin typeface="Arial"/>
              </a:rPr>
              <a:t>1b · Augmentation</a:t>
            </a:r>
          </a:p>
        </p:txBody>
      </p:sp>
      <p:sp>
        <p:nvSpPr>
          <p:cNvPr id="18" name="TextBox 17"/>
          <p:cNvSpPr txBox="1"/>
          <p:nvPr/>
        </p:nvSpPr>
        <p:spPr>
          <a:xfrm>
            <a:off x="2560320" y="2514600"/>
            <a:ext cx="2331720" cy="411480"/>
          </a:xfrm>
          <a:prstGeom prst="rect">
            <a:avLst/>
          </a:prstGeom>
          <a:noFill/>
        </p:spPr>
        <p:txBody>
          <a:bodyPr wrap="square" lIns="0" rIns="0" tIns="0" bIns="0" anchor="ctr">
            <a:spAutoFit/>
          </a:bodyPr>
          <a:lstStyle/>
          <a:p>
            <a:pPr algn="l"/>
            <a:r>
              <a:rPr sz="950" b="0" i="0">
                <a:solidFill>
                  <a:srgbClr val="404040"/>
                </a:solidFill>
                <a:latin typeface="Arial"/>
              </a:rPr>
              <a:t>none / basic / extended (scale, intensity, noise, cut-out)</a:t>
            </a:r>
          </a:p>
        </p:txBody>
      </p:sp>
      <p:sp>
        <p:nvSpPr>
          <p:cNvPr id="19" name="Rectangle 18"/>
          <p:cNvSpPr/>
          <p:nvPr/>
        </p:nvSpPr>
        <p:spPr>
          <a:xfrm>
            <a:off x="4937760" y="2587752"/>
            <a:ext cx="960120" cy="274320"/>
          </a:xfrm>
          <a:prstGeom prst="rect">
            <a:avLst/>
          </a:prstGeom>
          <a:solidFill>
            <a:srgbClr val="FDF2DE"/>
          </a:solidFill>
          <a:ln w="635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0" y="2587752"/>
            <a:ext cx="960120" cy="274320"/>
          </a:xfrm>
          <a:prstGeom prst="rect">
            <a:avLst/>
          </a:prstGeom>
          <a:noFill/>
        </p:spPr>
        <p:txBody>
          <a:bodyPr wrap="square" lIns="0" rIns="0" tIns="0" bIns="0" anchor="ctr">
            <a:spAutoFit/>
          </a:bodyPr>
          <a:lstStyle/>
          <a:p>
            <a:pPr algn="ctr"/>
            <a:r>
              <a:rPr sz="700" b="1" i="0">
                <a:solidFill>
                  <a:srgbClr val="B05A00"/>
                </a:solidFill>
                <a:latin typeface="Arial"/>
              </a:rPr>
              <a:t>Supervisor: augmentation</a:t>
            </a:r>
          </a:p>
        </p:txBody>
      </p:sp>
      <p:sp>
        <p:nvSpPr>
          <p:cNvPr id="21" name="TextBox 20"/>
          <p:cNvSpPr txBox="1"/>
          <p:nvPr/>
        </p:nvSpPr>
        <p:spPr>
          <a:xfrm>
            <a:off x="960120" y="2971800"/>
            <a:ext cx="1600200" cy="411480"/>
          </a:xfrm>
          <a:prstGeom prst="rect">
            <a:avLst/>
          </a:prstGeom>
          <a:noFill/>
        </p:spPr>
        <p:txBody>
          <a:bodyPr wrap="square" lIns="0" rIns="0" tIns="0" bIns="0" anchor="ctr">
            <a:spAutoFit/>
          </a:bodyPr>
          <a:lstStyle/>
          <a:p>
            <a:pPr algn="l"/>
            <a:r>
              <a:rPr sz="1000" b="1" i="0">
                <a:solidFill>
                  <a:srgbClr val="0E7C86"/>
                </a:solidFill>
                <a:latin typeface="Arial"/>
              </a:rPr>
              <a:t>1c · Training size</a:t>
            </a:r>
          </a:p>
        </p:txBody>
      </p:sp>
      <p:sp>
        <p:nvSpPr>
          <p:cNvPr id="22" name="TextBox 21"/>
          <p:cNvSpPr txBox="1"/>
          <p:nvPr/>
        </p:nvSpPr>
        <p:spPr>
          <a:xfrm>
            <a:off x="2560320" y="2971800"/>
            <a:ext cx="2331720" cy="411480"/>
          </a:xfrm>
          <a:prstGeom prst="rect">
            <a:avLst/>
          </a:prstGeom>
          <a:noFill/>
        </p:spPr>
        <p:txBody>
          <a:bodyPr wrap="square" lIns="0" rIns="0" tIns="0" bIns="0" anchor="ctr">
            <a:spAutoFit/>
          </a:bodyPr>
          <a:lstStyle/>
          <a:p>
            <a:pPr algn="l"/>
            <a:r>
              <a:rPr sz="950" b="0" i="0">
                <a:solidFill>
                  <a:srgbClr val="404040"/>
                </a:solidFill>
                <a:latin typeface="Arial"/>
              </a:rPr>
              <a:t>25 / 50 / 75 / 100% of training groups; val + test fixed</a:t>
            </a:r>
          </a:p>
        </p:txBody>
      </p:sp>
      <p:sp>
        <p:nvSpPr>
          <p:cNvPr id="23" name="Rectangle 22"/>
          <p:cNvSpPr/>
          <p:nvPr/>
        </p:nvSpPr>
        <p:spPr>
          <a:xfrm>
            <a:off x="4937760" y="3044952"/>
            <a:ext cx="960120" cy="274320"/>
          </a:xfrm>
          <a:prstGeom prst="rect">
            <a:avLst/>
          </a:prstGeom>
          <a:solidFill>
            <a:srgbClr val="FDF2DE"/>
          </a:solidFill>
          <a:ln w="635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37760" y="3044952"/>
            <a:ext cx="960120" cy="274320"/>
          </a:xfrm>
          <a:prstGeom prst="rect">
            <a:avLst/>
          </a:prstGeom>
          <a:noFill/>
        </p:spPr>
        <p:txBody>
          <a:bodyPr wrap="square" lIns="0" rIns="0" tIns="0" bIns="0" anchor="ctr">
            <a:spAutoFit/>
          </a:bodyPr>
          <a:lstStyle/>
          <a:p>
            <a:pPr algn="ctr"/>
            <a:r>
              <a:rPr sz="700" b="1" i="0">
                <a:solidFill>
                  <a:srgbClr val="B05A00"/>
                </a:solidFill>
                <a:latin typeface="Arial"/>
              </a:rPr>
              <a:t>Supervisor: training size</a:t>
            </a:r>
          </a:p>
        </p:txBody>
      </p:sp>
      <p:sp>
        <p:nvSpPr>
          <p:cNvPr id="25" name="Rectangle 24"/>
          <p:cNvSpPr/>
          <p:nvPr/>
        </p:nvSpPr>
        <p:spPr>
          <a:xfrm>
            <a:off x="932688" y="4005072"/>
            <a:ext cx="4946904" cy="320040"/>
          </a:xfrm>
          <a:prstGeom prst="rect">
            <a:avLst/>
          </a:prstGeom>
          <a:solidFill>
            <a:srgbClr val="E8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005072"/>
            <a:ext cx="4846320" cy="320040"/>
          </a:xfrm>
          <a:prstGeom prst="rect">
            <a:avLst/>
          </a:prstGeom>
          <a:noFill/>
        </p:spPr>
        <p:txBody>
          <a:bodyPr wrap="square" lIns="0" rIns="0" tIns="0" bIns="0" anchor="ctr">
            <a:spAutoFit/>
          </a:bodyPr>
          <a:lstStyle/>
          <a:p>
            <a:pPr algn="l"/>
            <a:r>
              <a:rPr sz="950" b="1" i="0">
                <a:solidFill>
                  <a:srgbClr val="2E7D32"/>
                </a:solidFill>
                <a:latin typeface="Arial"/>
              </a:rPr>
              <a:t>So far only the baseline: </a:t>
            </a:r>
            <a:r>
              <a:rPr sz="950" b="0" i="0">
                <a:solidFill>
                  <a:srgbClr val="404040"/>
                </a:solidFill>
                <a:latin typeface="Arial"/>
              </a:rPr>
              <a:t>no masking, basic augmentation, 100% data</a:t>
            </a:r>
          </a:p>
        </p:txBody>
      </p:sp>
      <p:sp>
        <p:nvSpPr>
          <p:cNvPr id="27" name="Rounded Rectangle 26"/>
          <p:cNvSpPr/>
          <p:nvPr/>
        </p:nvSpPr>
        <p:spPr>
          <a:xfrm>
            <a:off x="6217920" y="1280160"/>
            <a:ext cx="5166360" cy="3154680"/>
          </a:xfrm>
          <a:prstGeom prst="roundRect">
            <a:avLst>
              <a:gd name="adj" fmla="val 4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280160"/>
            <a:ext cx="5166360" cy="658368"/>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1316736"/>
            <a:ext cx="4846320" cy="320040"/>
          </a:xfrm>
          <a:prstGeom prst="rect">
            <a:avLst/>
          </a:prstGeom>
          <a:noFill/>
        </p:spPr>
        <p:txBody>
          <a:bodyPr wrap="square" lIns="0" rIns="0" tIns="0" bIns="0" anchor="t">
            <a:spAutoFit/>
          </a:bodyPr>
          <a:lstStyle/>
          <a:p>
            <a:pPr algn="l"/>
            <a:r>
              <a:rPr sz="1300" b="1" i="0">
                <a:solidFill>
                  <a:srgbClr val="FFFFFF"/>
                </a:solidFill>
                <a:latin typeface="Arial"/>
              </a:rPr>
              <a:t>Experiment 2 · Model</a:t>
            </a:r>
          </a:p>
        </p:txBody>
      </p:sp>
      <p:sp>
        <p:nvSpPr>
          <p:cNvPr id="30" name="TextBox 29"/>
          <p:cNvSpPr txBox="1"/>
          <p:nvPr/>
        </p:nvSpPr>
        <p:spPr>
          <a:xfrm>
            <a:off x="6355080" y="1618488"/>
            <a:ext cx="4846320" cy="274320"/>
          </a:xfrm>
          <a:prstGeom prst="rect">
            <a:avLst/>
          </a:prstGeom>
          <a:noFill/>
        </p:spPr>
        <p:txBody>
          <a:bodyPr wrap="square" lIns="0" rIns="0" tIns="0" bIns="0" anchor="t">
            <a:spAutoFit/>
          </a:bodyPr>
          <a:lstStyle/>
          <a:p>
            <a:pPr algn="l"/>
            <a:r>
              <a:rPr sz="1000" b="0" i="1">
                <a:solidFill>
                  <a:srgbClr val="FFFFFF"/>
                </a:solidFill>
                <a:latin typeface="Arial"/>
              </a:rPr>
              <a:t>How should it learn? — on the best data setting</a:t>
            </a:r>
          </a:p>
        </p:txBody>
      </p:sp>
      <p:sp>
        <p:nvSpPr>
          <p:cNvPr id="31" name="TextBox 30"/>
          <p:cNvSpPr txBox="1"/>
          <p:nvPr/>
        </p:nvSpPr>
        <p:spPr>
          <a:xfrm>
            <a:off x="6355080" y="2057400"/>
            <a:ext cx="1600200" cy="411480"/>
          </a:xfrm>
          <a:prstGeom prst="rect">
            <a:avLst/>
          </a:prstGeom>
          <a:noFill/>
        </p:spPr>
        <p:txBody>
          <a:bodyPr wrap="square" lIns="0" rIns="0" tIns="0" bIns="0" anchor="ctr">
            <a:spAutoFit/>
          </a:bodyPr>
          <a:lstStyle/>
          <a:p>
            <a:pPr algn="l"/>
            <a:r>
              <a:rPr sz="1000" b="1" i="0">
                <a:solidFill>
                  <a:srgbClr val="203864"/>
                </a:solidFill>
                <a:latin typeface="Arial"/>
              </a:rPr>
              <a:t>2a · Modality</a:t>
            </a:r>
          </a:p>
        </p:txBody>
      </p:sp>
      <p:sp>
        <p:nvSpPr>
          <p:cNvPr id="32" name="TextBox 31"/>
          <p:cNvSpPr txBox="1"/>
          <p:nvPr/>
        </p:nvSpPr>
        <p:spPr>
          <a:xfrm>
            <a:off x="7955280" y="2057400"/>
            <a:ext cx="2331720" cy="411480"/>
          </a:xfrm>
          <a:prstGeom prst="rect">
            <a:avLst/>
          </a:prstGeom>
          <a:noFill/>
        </p:spPr>
        <p:txBody>
          <a:bodyPr wrap="square" lIns="0" rIns="0" tIns="0" bIns="0" anchor="ctr">
            <a:spAutoFit/>
          </a:bodyPr>
          <a:lstStyle/>
          <a:p>
            <a:pPr algn="l"/>
            <a:r>
              <a:rPr sz="950" b="0" i="0">
                <a:solidFill>
                  <a:srgbClr val="404040"/>
                </a:solidFill>
                <a:latin typeface="Arial"/>
              </a:rPr>
              <a:t>CT only / clinical only / fusion; clinical with / without G &amp; GM</a:t>
            </a:r>
          </a:p>
        </p:txBody>
      </p:sp>
      <p:sp>
        <p:nvSpPr>
          <p:cNvPr id="33" name="Rectangle 32"/>
          <p:cNvSpPr/>
          <p:nvPr/>
        </p:nvSpPr>
        <p:spPr>
          <a:xfrm>
            <a:off x="10332720" y="2130552"/>
            <a:ext cx="960120" cy="274320"/>
          </a:xfrm>
          <a:prstGeom prst="rect">
            <a:avLst/>
          </a:prstGeom>
          <a:solidFill>
            <a:srgbClr val="FDF2DE"/>
          </a:solidFill>
          <a:ln w="635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32720" y="2130552"/>
            <a:ext cx="960120" cy="274320"/>
          </a:xfrm>
          <a:prstGeom prst="rect">
            <a:avLst/>
          </a:prstGeom>
          <a:noFill/>
        </p:spPr>
        <p:txBody>
          <a:bodyPr wrap="square" lIns="0" rIns="0" tIns="0" bIns="0" anchor="ctr">
            <a:spAutoFit/>
          </a:bodyPr>
          <a:lstStyle/>
          <a:p>
            <a:pPr algn="ctr"/>
            <a:r>
              <a:rPr sz="700" b="1" i="0">
                <a:solidFill>
                  <a:srgbClr val="B05A00"/>
                </a:solidFill>
                <a:latin typeface="Arial"/>
              </a:rPr>
              <a:t>Supervisor: pre-trained baseline</a:t>
            </a:r>
          </a:p>
        </p:txBody>
      </p:sp>
      <p:sp>
        <p:nvSpPr>
          <p:cNvPr id="35" name="TextBox 34"/>
          <p:cNvSpPr txBox="1"/>
          <p:nvPr/>
        </p:nvSpPr>
        <p:spPr>
          <a:xfrm>
            <a:off x="6355080" y="2514600"/>
            <a:ext cx="1600200" cy="411480"/>
          </a:xfrm>
          <a:prstGeom prst="rect">
            <a:avLst/>
          </a:prstGeom>
          <a:noFill/>
        </p:spPr>
        <p:txBody>
          <a:bodyPr wrap="square" lIns="0" rIns="0" tIns="0" bIns="0" anchor="ctr">
            <a:spAutoFit/>
          </a:bodyPr>
          <a:lstStyle/>
          <a:p>
            <a:pPr algn="l"/>
            <a:r>
              <a:rPr sz="1000" b="1" i="0">
                <a:solidFill>
                  <a:srgbClr val="203864"/>
                </a:solidFill>
                <a:latin typeface="Arial"/>
              </a:rPr>
              <a:t>2b · Fusion method</a:t>
            </a:r>
          </a:p>
        </p:txBody>
      </p:sp>
      <p:sp>
        <p:nvSpPr>
          <p:cNvPr id="36" name="TextBox 35"/>
          <p:cNvSpPr txBox="1"/>
          <p:nvPr/>
        </p:nvSpPr>
        <p:spPr>
          <a:xfrm>
            <a:off x="7955280" y="2514600"/>
            <a:ext cx="3291840" cy="411480"/>
          </a:xfrm>
          <a:prstGeom prst="rect">
            <a:avLst/>
          </a:prstGeom>
          <a:noFill/>
        </p:spPr>
        <p:txBody>
          <a:bodyPr wrap="square" lIns="0" rIns="0" tIns="0" bIns="0" anchor="ctr">
            <a:spAutoFit/>
          </a:bodyPr>
          <a:lstStyle/>
          <a:p>
            <a:pPr algn="l"/>
            <a:r>
              <a:rPr sz="950" b="0" i="0">
                <a:solidFill>
                  <a:srgbClr val="404040"/>
                </a:solidFill>
                <a:latin typeface="Arial"/>
              </a:rPr>
              <a:t>feature concatenation vs late fusion of probabilities</a:t>
            </a:r>
          </a:p>
        </p:txBody>
      </p:sp>
      <p:sp>
        <p:nvSpPr>
          <p:cNvPr id="37" name="TextBox 36"/>
          <p:cNvSpPr txBox="1"/>
          <p:nvPr/>
        </p:nvSpPr>
        <p:spPr>
          <a:xfrm>
            <a:off x="6355080" y="2971800"/>
            <a:ext cx="1600200" cy="411480"/>
          </a:xfrm>
          <a:prstGeom prst="rect">
            <a:avLst/>
          </a:prstGeom>
          <a:noFill/>
        </p:spPr>
        <p:txBody>
          <a:bodyPr wrap="square" lIns="0" rIns="0" tIns="0" bIns="0" anchor="ctr">
            <a:spAutoFit/>
          </a:bodyPr>
          <a:lstStyle/>
          <a:p>
            <a:pPr algn="l"/>
            <a:r>
              <a:rPr sz="1000" b="1" i="0">
                <a:solidFill>
                  <a:srgbClr val="203864"/>
                </a:solidFill>
                <a:latin typeface="Arial"/>
              </a:rPr>
              <a:t>2c · Backbone</a:t>
            </a:r>
          </a:p>
        </p:txBody>
      </p:sp>
      <p:sp>
        <p:nvSpPr>
          <p:cNvPr id="38" name="TextBox 37"/>
          <p:cNvSpPr txBox="1"/>
          <p:nvPr/>
        </p:nvSpPr>
        <p:spPr>
          <a:xfrm>
            <a:off x="7955280" y="2971800"/>
            <a:ext cx="2331720" cy="411480"/>
          </a:xfrm>
          <a:prstGeom prst="rect">
            <a:avLst/>
          </a:prstGeom>
          <a:noFill/>
        </p:spPr>
        <p:txBody>
          <a:bodyPr wrap="square" lIns="0" rIns="0" tIns="0" bIns="0" anchor="ctr">
            <a:spAutoFit/>
          </a:bodyPr>
          <a:lstStyle/>
          <a:p>
            <a:pPr algn="l"/>
            <a:r>
              <a:rPr sz="950" b="0" i="0">
                <a:solidFill>
                  <a:srgbClr val="404040"/>
                </a:solidFill>
                <a:latin typeface="Arial"/>
              </a:rPr>
              <a:t>ImageNet ResNet-18 vs ResNet-50</a:t>
            </a:r>
          </a:p>
        </p:txBody>
      </p:sp>
      <p:sp>
        <p:nvSpPr>
          <p:cNvPr id="39" name="Rectangle 38"/>
          <p:cNvSpPr/>
          <p:nvPr/>
        </p:nvSpPr>
        <p:spPr>
          <a:xfrm>
            <a:off x="10332720" y="3044952"/>
            <a:ext cx="960120" cy="274320"/>
          </a:xfrm>
          <a:prstGeom prst="rect">
            <a:avLst/>
          </a:prstGeom>
          <a:solidFill>
            <a:srgbClr val="FDF2DE"/>
          </a:solidFill>
          <a:ln w="635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0" y="3044952"/>
            <a:ext cx="960120" cy="274320"/>
          </a:xfrm>
          <a:prstGeom prst="rect">
            <a:avLst/>
          </a:prstGeom>
          <a:noFill/>
        </p:spPr>
        <p:txBody>
          <a:bodyPr wrap="square" lIns="0" rIns="0" tIns="0" bIns="0" anchor="ctr">
            <a:spAutoFit/>
          </a:bodyPr>
          <a:lstStyle/>
          <a:p>
            <a:pPr algn="ctr"/>
            <a:r>
              <a:rPr sz="700" b="1" i="0">
                <a:solidFill>
                  <a:srgbClr val="B05A00"/>
                </a:solidFill>
                <a:latin typeface="Arial"/>
              </a:rPr>
              <a:t>Supervisor: pre-trained baseline</a:t>
            </a:r>
          </a:p>
        </p:txBody>
      </p:sp>
      <p:sp>
        <p:nvSpPr>
          <p:cNvPr id="41" name="TextBox 40"/>
          <p:cNvSpPr txBox="1"/>
          <p:nvPr/>
        </p:nvSpPr>
        <p:spPr>
          <a:xfrm>
            <a:off x="6355080" y="3429000"/>
            <a:ext cx="1600200" cy="411480"/>
          </a:xfrm>
          <a:prstGeom prst="rect">
            <a:avLst/>
          </a:prstGeom>
          <a:noFill/>
        </p:spPr>
        <p:txBody>
          <a:bodyPr wrap="square" lIns="0" rIns="0" tIns="0" bIns="0" anchor="ctr">
            <a:spAutoFit/>
          </a:bodyPr>
          <a:lstStyle/>
          <a:p>
            <a:pPr algn="l"/>
            <a:r>
              <a:rPr sz="1000" b="1" i="0">
                <a:solidFill>
                  <a:srgbClr val="203864"/>
                </a:solidFill>
                <a:latin typeface="Arial"/>
              </a:rPr>
              <a:t>2d · Structure (optional)</a:t>
            </a:r>
          </a:p>
        </p:txBody>
      </p:sp>
      <p:sp>
        <p:nvSpPr>
          <p:cNvPr id="42" name="TextBox 41"/>
          <p:cNvSpPr txBox="1"/>
          <p:nvPr/>
        </p:nvSpPr>
        <p:spPr>
          <a:xfrm>
            <a:off x="7955280" y="3429000"/>
            <a:ext cx="3291840" cy="411480"/>
          </a:xfrm>
          <a:prstGeom prst="rect">
            <a:avLst/>
          </a:prstGeom>
          <a:noFill/>
        </p:spPr>
        <p:txBody>
          <a:bodyPr wrap="square" lIns="0" rIns="0" tIns="0" bIns="0" anchor="ctr">
            <a:spAutoFit/>
          </a:bodyPr>
          <a:lstStyle/>
          <a:p>
            <a:pPr algn="l"/>
            <a:r>
              <a:rPr sz="950" b="0" i="0">
                <a:solidFill>
                  <a:srgbClr val="404040"/>
                </a:solidFill>
                <a:latin typeface="Arial"/>
              </a:rPr>
              <a:t>flat 3-class vs fungal / non-fungal first, then Aspergillus</a:t>
            </a:r>
          </a:p>
        </p:txBody>
      </p:sp>
      <p:sp>
        <p:nvSpPr>
          <p:cNvPr id="43" name="Rectangle 42"/>
          <p:cNvSpPr/>
          <p:nvPr/>
        </p:nvSpPr>
        <p:spPr>
          <a:xfrm>
            <a:off x="6327648" y="4005072"/>
            <a:ext cx="4946904" cy="320040"/>
          </a:xfrm>
          <a:prstGeom prst="rect">
            <a:avLst/>
          </a:prstGeom>
          <a:solidFill>
            <a:srgbClr val="E8F4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4005072"/>
            <a:ext cx="4846320" cy="320040"/>
          </a:xfrm>
          <a:prstGeom prst="rect">
            <a:avLst/>
          </a:prstGeom>
          <a:noFill/>
        </p:spPr>
        <p:txBody>
          <a:bodyPr wrap="square" lIns="0" rIns="0" tIns="0" bIns="0" anchor="ctr">
            <a:spAutoFit/>
          </a:bodyPr>
          <a:lstStyle/>
          <a:p>
            <a:pPr algn="l"/>
            <a:r>
              <a:rPr sz="950" b="1" i="0">
                <a:solidFill>
                  <a:srgbClr val="2E7D32"/>
                </a:solidFill>
                <a:latin typeface="Arial"/>
              </a:rPr>
              <a:t>So far only the baseline: </a:t>
            </a:r>
            <a:r>
              <a:rPr sz="950" b="0" i="0">
                <a:solidFill>
                  <a:srgbClr val="404040"/>
                </a:solidFill>
                <a:latin typeface="Arial"/>
              </a:rPr>
              <a:t>ResNet-18, 3 modalities, concatenation</a:t>
            </a:r>
          </a:p>
        </p:txBody>
      </p:sp>
      <p:sp>
        <p:nvSpPr>
          <p:cNvPr id="45" name="Right Arrow 44"/>
          <p:cNvSpPr/>
          <p:nvPr/>
        </p:nvSpPr>
        <p:spPr>
          <a:xfrm>
            <a:off x="6007608" y="2606040"/>
            <a:ext cx="201168" cy="292608"/>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22960" y="4572000"/>
            <a:ext cx="20116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4572000"/>
            <a:ext cx="2011680" cy="256032"/>
          </a:xfrm>
          <a:prstGeom prst="rect">
            <a:avLst/>
          </a:prstGeom>
          <a:noFill/>
        </p:spPr>
        <p:txBody>
          <a:bodyPr wrap="square" lIns="0" rIns="0" tIns="0" bIns="0" anchor="ctr">
            <a:spAutoFit/>
          </a:bodyPr>
          <a:lstStyle/>
          <a:p>
            <a:pPr algn="ctr"/>
            <a:r>
              <a:rPr sz="1000" b="1" i="0">
                <a:solidFill>
                  <a:srgbClr val="FFFFFF"/>
                </a:solidFill>
                <a:latin typeface="Arial"/>
              </a:rPr>
              <a:t>EVALUATION PROTOCOL</a:t>
            </a:r>
          </a:p>
        </p:txBody>
      </p:sp>
      <p:sp>
        <p:nvSpPr>
          <p:cNvPr id="48" name="TextBox 47"/>
          <p:cNvSpPr txBox="1"/>
          <p:nvPr/>
        </p:nvSpPr>
        <p:spPr>
          <a:xfrm>
            <a:off x="822960" y="4919472"/>
            <a:ext cx="6035040" cy="137160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Primary metric: </a:t>
            </a:r>
            <a:r>
              <a:rPr sz="1050" b="0" i="0">
                <a:solidFill>
                  <a:srgbClr val="404040"/>
                </a:solidFill>
                <a:latin typeface="Arial"/>
              </a:rPr>
              <a:t>macro-F1; also balanced accuracy, per-class recall, confusion matrix</a:t>
            </a:r>
          </a:p>
          <a:p>
            <a:pPr algn="l">
              <a:spcAft>
                <a:spcPts val="400"/>
              </a:spcAft>
            </a:pPr>
            <a:r>
              <a:rPr sz="1050" b="1" i="0">
                <a:solidFill>
                  <a:srgbClr val="0E7C86"/>
                </a:solidFill>
                <a:latin typeface="Arial"/>
              </a:rPr>
              <a:t>• </a:t>
            </a:r>
            <a:r>
              <a:rPr sz="1050" b="1" i="0">
                <a:solidFill>
                  <a:srgbClr val="1A1A1A"/>
                </a:solidFill>
                <a:latin typeface="Arial"/>
              </a:rPr>
              <a:t>Model selection: </a:t>
            </a:r>
            <a:r>
              <a:rPr sz="1050" b="0" i="0">
                <a:solidFill>
                  <a:srgbClr val="404040"/>
                </a:solidFill>
                <a:latin typeface="Arial"/>
              </a:rPr>
              <a:t>on validation / 5-fold group CV only</a:t>
            </a:r>
          </a:p>
          <a:p>
            <a:pPr algn="l">
              <a:spcAft>
                <a:spcPts val="400"/>
              </a:spcAft>
            </a:pPr>
            <a:r>
              <a:rPr sz="1050" b="1" i="0">
                <a:solidFill>
                  <a:srgbClr val="0E7C86"/>
                </a:solidFill>
                <a:latin typeface="Arial"/>
              </a:rPr>
              <a:t>• </a:t>
            </a:r>
            <a:r>
              <a:rPr sz="1050" b="1" i="0">
                <a:solidFill>
                  <a:srgbClr val="1A1A1A"/>
                </a:solidFill>
                <a:latin typeface="Arial"/>
              </a:rPr>
              <a:t>Test set (83 scans): </a:t>
            </a:r>
            <a:r>
              <a:rPr sz="1050" b="0" i="0">
                <a:solidFill>
                  <a:srgbClr val="404040"/>
                </a:solidFill>
                <a:latin typeface="Arial"/>
              </a:rPr>
              <a:t>used once per final configuration; 3 seeds, mean ± SD</a:t>
            </a:r>
          </a:p>
        </p:txBody>
      </p:sp>
      <p:sp>
        <p:nvSpPr>
          <p:cNvPr id="49" name="Rounded Rectangle 48"/>
          <p:cNvSpPr/>
          <p:nvPr/>
        </p:nvSpPr>
        <p:spPr>
          <a:xfrm>
            <a:off x="7086600" y="4572000"/>
            <a:ext cx="4297680" cy="1188720"/>
          </a:xfrm>
          <a:prstGeom prst="roundRect">
            <a:avLst>
              <a:gd name="adj" fmla="val 6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23760" y="4645152"/>
            <a:ext cx="4023360" cy="1051560"/>
          </a:xfrm>
          <a:prstGeom prst="rect">
            <a:avLst/>
          </a:prstGeom>
          <a:noFill/>
        </p:spPr>
        <p:txBody>
          <a:bodyPr wrap="square" lIns="0" rIns="0" tIns="0" bIns="0" anchor="ctr">
            <a:spAutoFit/>
          </a:bodyPr>
          <a:lstStyle/>
          <a:p>
            <a:pPr algn="l"/>
            <a:r>
              <a:rPr sz="1000" b="1" i="0">
                <a:solidFill>
                  <a:srgbClr val="203864"/>
                </a:solidFill>
                <a:latin typeface="Arial"/>
              </a:rPr>
              <a:t>One factor at a time. </a:t>
            </a:r>
            <a:r>
              <a:rPr sz="1000" b="0" i="0">
                <a:solidFill>
                  <a:srgbClr val="404040"/>
                </a:solidFill>
                <a:latin typeface="Arial"/>
              </a:rPr>
              <a:t>Each comparison changes one thing against the baseline. The best data setting from Experiment 1 becomes the starting point for Experiment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Where We Are — Data Ready, Baseline Established, Main Work Ahead</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9</a:t>
            </a:r>
          </a:p>
        </p:txBody>
      </p:sp>
      <p:sp>
        <p:nvSpPr>
          <p:cNvPr id="11" name="Pentagon 10"/>
          <p:cNvSpPr/>
          <p:nvPr/>
        </p:nvSpPr>
        <p:spPr>
          <a:xfrm>
            <a:off x="822960" y="1600200"/>
            <a:ext cx="1709928" cy="566928"/>
          </a:xfrm>
          <a:prstGeom prst="homePlat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1600200"/>
            <a:ext cx="1371600" cy="566928"/>
          </a:xfrm>
          <a:prstGeom prst="rect">
            <a:avLst/>
          </a:prstGeom>
          <a:noFill/>
        </p:spPr>
        <p:txBody>
          <a:bodyPr wrap="square" lIns="0" rIns="0" tIns="0" bIns="0" anchor="ctr">
            <a:spAutoFit/>
          </a:bodyPr>
          <a:lstStyle/>
          <a:p>
            <a:pPr algn="ctr"/>
            <a:r>
              <a:rPr sz="950" b="1" i="0">
                <a:solidFill>
                  <a:srgbClr val="FFFFFF"/>
                </a:solidFill>
                <a:latin typeface="Arial"/>
              </a:rPr>
              <a:t>✓ 0 · Data foundation</a:t>
            </a:r>
          </a:p>
        </p:txBody>
      </p:sp>
      <p:sp>
        <p:nvSpPr>
          <p:cNvPr id="13" name="Rectangle 12"/>
          <p:cNvSpPr/>
          <p:nvPr/>
        </p:nvSpPr>
        <p:spPr>
          <a:xfrm>
            <a:off x="868680" y="2286000"/>
            <a:ext cx="1527048" cy="1828800"/>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331720"/>
            <a:ext cx="1417320" cy="228600"/>
          </a:xfrm>
          <a:prstGeom prst="rect">
            <a:avLst/>
          </a:prstGeom>
          <a:noFill/>
        </p:spPr>
        <p:txBody>
          <a:bodyPr wrap="square" lIns="0" rIns="0" tIns="0" bIns="0" anchor="t">
            <a:spAutoFit/>
          </a:bodyPr>
          <a:lstStyle/>
          <a:p>
            <a:pPr algn="l"/>
            <a:r>
              <a:rPr sz="900" b="1" i="0">
                <a:solidFill>
                  <a:srgbClr val="2E7D32"/>
                </a:solidFill>
                <a:latin typeface="Arial"/>
              </a:rPr>
              <a:t>DONE</a:t>
            </a:r>
          </a:p>
        </p:txBody>
      </p:sp>
      <p:sp>
        <p:nvSpPr>
          <p:cNvPr id="15" name="TextBox 14"/>
          <p:cNvSpPr txBox="1"/>
          <p:nvPr/>
        </p:nvSpPr>
        <p:spPr>
          <a:xfrm>
            <a:off x="932688" y="2578608"/>
            <a:ext cx="141732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Download + ID / label check</a:t>
            </a:r>
          </a:p>
          <a:p>
            <a:pPr algn="l">
              <a:spcAft>
                <a:spcPts val="200"/>
              </a:spcAft>
            </a:pPr>
            <a:r>
              <a:rPr sz="900" b="0" i="0">
                <a:solidFill>
                  <a:srgbClr val="404040"/>
                </a:solidFill>
                <a:latin typeface="Arial"/>
              </a:rPr>
              <a:t>• EDA, cleaning, repeat-scan groups</a:t>
            </a:r>
          </a:p>
          <a:p>
            <a:pPr algn="l">
              <a:spcAft>
                <a:spcPts val="200"/>
              </a:spcAft>
            </a:pPr>
            <a:r>
              <a:rPr sz="900" b="0" i="0">
                <a:solidFill>
                  <a:srgbClr val="404040"/>
                </a:solidFill>
                <a:latin typeface="Arial"/>
              </a:rPr>
              <a:t>• Leak-free group split</a:t>
            </a:r>
          </a:p>
          <a:p>
            <a:pPr algn="l">
              <a:spcAft>
                <a:spcPts val="200"/>
              </a:spcAft>
            </a:pPr>
            <a:r>
              <a:rPr sz="900" b="0" i="0">
                <a:solidFill>
                  <a:srgbClr val="404040"/>
                </a:solidFill>
                <a:latin typeface="Arial"/>
              </a:rPr>
              <a:t>• CT preprocessing + crop QA</a:t>
            </a:r>
          </a:p>
        </p:txBody>
      </p:sp>
      <p:sp>
        <p:nvSpPr>
          <p:cNvPr id="16" name="Chevron 15"/>
          <p:cNvSpPr/>
          <p:nvPr/>
        </p:nvSpPr>
        <p:spPr>
          <a:xfrm>
            <a:off x="2404872" y="1600200"/>
            <a:ext cx="1709928" cy="566928"/>
          </a:xfrm>
          <a:prstGeom prst="chevron">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06040" y="1600200"/>
            <a:ext cx="1371600" cy="566928"/>
          </a:xfrm>
          <a:prstGeom prst="rect">
            <a:avLst/>
          </a:prstGeom>
          <a:noFill/>
        </p:spPr>
        <p:txBody>
          <a:bodyPr wrap="square" lIns="0" rIns="0" tIns="0" bIns="0" anchor="ctr">
            <a:spAutoFit/>
          </a:bodyPr>
          <a:lstStyle/>
          <a:p>
            <a:pPr algn="ctr"/>
            <a:r>
              <a:rPr sz="950" b="1" i="0">
                <a:solidFill>
                  <a:srgbClr val="FFFFFF"/>
                </a:solidFill>
                <a:latin typeface="Arial"/>
              </a:rPr>
              <a:t>✓ 1 · Baseline</a:t>
            </a:r>
          </a:p>
        </p:txBody>
      </p:sp>
      <p:sp>
        <p:nvSpPr>
          <p:cNvPr id="18" name="Rectangle 17"/>
          <p:cNvSpPr/>
          <p:nvPr/>
        </p:nvSpPr>
        <p:spPr>
          <a:xfrm>
            <a:off x="2450591" y="2286000"/>
            <a:ext cx="1527048" cy="1828800"/>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4600" y="2331720"/>
            <a:ext cx="1417320" cy="228600"/>
          </a:xfrm>
          <a:prstGeom prst="rect">
            <a:avLst/>
          </a:prstGeom>
          <a:noFill/>
        </p:spPr>
        <p:txBody>
          <a:bodyPr wrap="square" lIns="0" rIns="0" tIns="0" bIns="0" anchor="t">
            <a:spAutoFit/>
          </a:bodyPr>
          <a:lstStyle/>
          <a:p>
            <a:pPr algn="l"/>
            <a:r>
              <a:rPr sz="900" b="1" i="0">
                <a:solidFill>
                  <a:srgbClr val="2E7D32"/>
                </a:solidFill>
                <a:latin typeface="Arial"/>
              </a:rPr>
              <a:t>DONE</a:t>
            </a:r>
          </a:p>
        </p:txBody>
      </p:sp>
      <p:sp>
        <p:nvSpPr>
          <p:cNvPr id="20" name="TextBox 19"/>
          <p:cNvSpPr txBox="1"/>
          <p:nvPr/>
        </p:nvSpPr>
        <p:spPr>
          <a:xfrm>
            <a:off x="2514600" y="2578608"/>
            <a:ext cx="141732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One default config, untuned</a:t>
            </a:r>
          </a:p>
          <a:p>
            <a:pPr algn="l">
              <a:spcAft>
                <a:spcPts val="200"/>
              </a:spcAft>
            </a:pPr>
            <a:r>
              <a:rPr sz="900" b="0" i="0">
                <a:solidFill>
                  <a:srgbClr val="404040"/>
                </a:solidFill>
                <a:latin typeface="Arial"/>
              </a:rPr>
              <a:t>• Clinical / CT / fusion, 3 seeds</a:t>
            </a:r>
          </a:p>
          <a:p>
            <a:pPr algn="l">
              <a:spcAft>
                <a:spcPts val="200"/>
              </a:spcAft>
            </a:pPr>
            <a:r>
              <a:rPr sz="900" b="0" i="0">
                <a:solidFill>
                  <a:srgbClr val="404040"/>
                </a:solidFill>
                <a:latin typeface="Arial"/>
              </a:rPr>
              <a:t>• Grad-CAM sanity check</a:t>
            </a:r>
          </a:p>
          <a:p>
            <a:pPr algn="l">
              <a:spcAft>
                <a:spcPts val="200"/>
              </a:spcAft>
            </a:pPr>
            <a:r>
              <a:rPr sz="900" b="0" i="0">
                <a:solidFill>
                  <a:srgbClr val="404040"/>
                </a:solidFill>
                <a:latin typeface="Arial"/>
              </a:rPr>
              <a:t>• → diagnosis (slide 12)</a:t>
            </a:r>
          </a:p>
        </p:txBody>
      </p:sp>
      <p:sp>
        <p:nvSpPr>
          <p:cNvPr id="21" name="Chevron 20"/>
          <p:cNvSpPr/>
          <p:nvPr/>
        </p:nvSpPr>
        <p:spPr>
          <a:xfrm>
            <a:off x="3986783" y="1600200"/>
            <a:ext cx="1801368" cy="566928"/>
          </a:xfrm>
          <a:prstGeom prst="chevron">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87951" y="1600200"/>
            <a:ext cx="1463040" cy="566928"/>
          </a:xfrm>
          <a:prstGeom prst="rect">
            <a:avLst/>
          </a:prstGeom>
          <a:noFill/>
        </p:spPr>
        <p:txBody>
          <a:bodyPr wrap="square" lIns="0" rIns="0" tIns="0" bIns="0" anchor="ctr">
            <a:spAutoFit/>
          </a:bodyPr>
          <a:lstStyle/>
          <a:p>
            <a:pPr algn="ctr"/>
            <a:r>
              <a:rPr sz="950" b="1" i="0">
                <a:solidFill>
                  <a:srgbClr val="FFFFFF"/>
                </a:solidFill>
                <a:latin typeface="Arial"/>
              </a:rPr>
              <a:t>2 · Fix data &amp; training</a:t>
            </a:r>
          </a:p>
        </p:txBody>
      </p:sp>
      <p:sp>
        <p:nvSpPr>
          <p:cNvPr id="23" name="Rectangle 22"/>
          <p:cNvSpPr/>
          <p:nvPr/>
        </p:nvSpPr>
        <p:spPr>
          <a:xfrm>
            <a:off x="4032503" y="2286000"/>
            <a:ext cx="1618488" cy="1828800"/>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96511" y="2331720"/>
            <a:ext cx="1508760" cy="228600"/>
          </a:xfrm>
          <a:prstGeom prst="rect">
            <a:avLst/>
          </a:prstGeom>
          <a:noFill/>
        </p:spPr>
        <p:txBody>
          <a:bodyPr wrap="square" lIns="0" rIns="0" tIns="0" bIns="0" anchor="t">
            <a:spAutoFit/>
          </a:bodyPr>
          <a:lstStyle/>
          <a:p>
            <a:pPr algn="l"/>
            <a:r>
              <a:rPr sz="900" b="1" i="0">
                <a:solidFill>
                  <a:srgbClr val="757575"/>
                </a:solidFill>
                <a:latin typeface="Arial"/>
              </a:rPr>
              <a:t>WK 1</a:t>
            </a:r>
          </a:p>
        </p:txBody>
      </p:sp>
      <p:sp>
        <p:nvSpPr>
          <p:cNvPr id="25" name="TextBox 24"/>
          <p:cNvSpPr txBox="1"/>
          <p:nvPr/>
        </p:nvSpPr>
        <p:spPr>
          <a:xfrm>
            <a:off x="4096511" y="2578608"/>
            <a:ext cx="150876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Lung masking</a:t>
            </a:r>
          </a:p>
          <a:p>
            <a:pPr algn="l">
              <a:spcAft>
                <a:spcPts val="200"/>
              </a:spcAft>
            </a:pPr>
            <a:r>
              <a:rPr sz="900" b="0" i="0">
                <a:solidFill>
                  <a:srgbClr val="404040"/>
                </a:solidFill>
                <a:latin typeface="Arial"/>
              </a:rPr>
              <a:t>• Regularisation, partial freezing</a:t>
            </a:r>
          </a:p>
          <a:p>
            <a:pPr algn="l">
              <a:spcAft>
                <a:spcPts val="200"/>
              </a:spcAft>
            </a:pPr>
            <a:r>
              <a:rPr sz="900" b="0" i="0">
                <a:solidFill>
                  <a:srgbClr val="404040"/>
                </a:solidFill>
                <a:latin typeface="Arial"/>
              </a:rPr>
              <a:t>• Re-run baseline</a:t>
            </a:r>
          </a:p>
        </p:txBody>
      </p:sp>
      <p:sp>
        <p:nvSpPr>
          <p:cNvPr id="26" name="Chevron 25"/>
          <p:cNvSpPr/>
          <p:nvPr/>
        </p:nvSpPr>
        <p:spPr>
          <a:xfrm>
            <a:off x="5660136" y="1600200"/>
            <a:ext cx="2258568" cy="566928"/>
          </a:xfrm>
          <a:prstGeom prst="chevron">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1303" y="1600200"/>
            <a:ext cx="1920240" cy="566928"/>
          </a:xfrm>
          <a:prstGeom prst="rect">
            <a:avLst/>
          </a:prstGeom>
          <a:noFill/>
        </p:spPr>
        <p:txBody>
          <a:bodyPr wrap="square" lIns="0" rIns="0" tIns="0" bIns="0" anchor="ctr">
            <a:spAutoFit/>
          </a:bodyPr>
          <a:lstStyle/>
          <a:p>
            <a:pPr algn="ctr"/>
            <a:r>
              <a:rPr sz="950" b="1" i="0">
                <a:solidFill>
                  <a:srgbClr val="FFFFFF"/>
                </a:solidFill>
                <a:latin typeface="Arial"/>
              </a:rPr>
              <a:t>3 · Main experiments</a:t>
            </a:r>
          </a:p>
        </p:txBody>
      </p:sp>
      <p:sp>
        <p:nvSpPr>
          <p:cNvPr id="28" name="Rectangle 27"/>
          <p:cNvSpPr/>
          <p:nvPr/>
        </p:nvSpPr>
        <p:spPr>
          <a:xfrm>
            <a:off x="5705855" y="2286000"/>
            <a:ext cx="2075688" cy="1828800"/>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9864" y="2331720"/>
            <a:ext cx="1965960" cy="228600"/>
          </a:xfrm>
          <a:prstGeom prst="rect">
            <a:avLst/>
          </a:prstGeom>
          <a:noFill/>
        </p:spPr>
        <p:txBody>
          <a:bodyPr wrap="square" lIns="0" rIns="0" tIns="0" bIns="0" anchor="t">
            <a:spAutoFit/>
          </a:bodyPr>
          <a:lstStyle/>
          <a:p>
            <a:pPr algn="l"/>
            <a:r>
              <a:rPr sz="900" b="1" i="0">
                <a:solidFill>
                  <a:srgbClr val="757575"/>
                </a:solidFill>
                <a:latin typeface="Arial"/>
              </a:rPr>
              <a:t>WK 2–4</a:t>
            </a:r>
          </a:p>
        </p:txBody>
      </p:sp>
      <p:sp>
        <p:nvSpPr>
          <p:cNvPr id="30" name="TextBox 29"/>
          <p:cNvSpPr txBox="1"/>
          <p:nvPr/>
        </p:nvSpPr>
        <p:spPr>
          <a:xfrm>
            <a:off x="5769864" y="2578608"/>
            <a:ext cx="196596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Exp. 1 · Data: preprocessing, augmentation, training size</a:t>
            </a:r>
          </a:p>
          <a:p>
            <a:pPr algn="l">
              <a:spcAft>
                <a:spcPts val="200"/>
              </a:spcAft>
            </a:pPr>
            <a:r>
              <a:rPr sz="900" b="0" i="0">
                <a:solidFill>
                  <a:srgbClr val="404040"/>
                </a:solidFill>
                <a:latin typeface="Arial"/>
              </a:rPr>
              <a:t>• Exp. 2 · Model: modality, fusion, backbone</a:t>
            </a:r>
          </a:p>
          <a:p>
            <a:pPr algn="l">
              <a:spcAft>
                <a:spcPts val="200"/>
              </a:spcAft>
            </a:pPr>
            <a:r>
              <a:rPr sz="900" b="0" i="0">
                <a:solidFill>
                  <a:srgbClr val="404040"/>
                </a:solidFill>
                <a:latin typeface="Arial"/>
              </a:rPr>
              <a:t>• 3 seeds each</a:t>
            </a:r>
          </a:p>
        </p:txBody>
      </p:sp>
      <p:sp>
        <p:nvSpPr>
          <p:cNvPr id="31" name="Chevron 30"/>
          <p:cNvSpPr/>
          <p:nvPr/>
        </p:nvSpPr>
        <p:spPr>
          <a:xfrm>
            <a:off x="7790688" y="1600200"/>
            <a:ext cx="1938528" cy="566928"/>
          </a:xfrm>
          <a:prstGeom prst="chevron">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91856" y="1600200"/>
            <a:ext cx="1600200" cy="566928"/>
          </a:xfrm>
          <a:prstGeom prst="rect">
            <a:avLst/>
          </a:prstGeom>
          <a:noFill/>
        </p:spPr>
        <p:txBody>
          <a:bodyPr wrap="square" lIns="0" rIns="0" tIns="0" bIns="0" anchor="ctr">
            <a:spAutoFit/>
          </a:bodyPr>
          <a:lstStyle/>
          <a:p>
            <a:pPr algn="ctr"/>
            <a:r>
              <a:rPr sz="950" b="1" i="0">
                <a:solidFill>
                  <a:srgbClr val="FFFFFF"/>
                </a:solidFill>
                <a:latin typeface="Arial"/>
              </a:rPr>
              <a:t>4 · Explain, severity, UI</a:t>
            </a:r>
          </a:p>
        </p:txBody>
      </p:sp>
      <p:sp>
        <p:nvSpPr>
          <p:cNvPr id="33" name="Rectangle 32"/>
          <p:cNvSpPr/>
          <p:nvPr/>
        </p:nvSpPr>
        <p:spPr>
          <a:xfrm>
            <a:off x="7836408" y="2286000"/>
            <a:ext cx="1755648" cy="1828800"/>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00415" y="2331720"/>
            <a:ext cx="1645920" cy="228600"/>
          </a:xfrm>
          <a:prstGeom prst="rect">
            <a:avLst/>
          </a:prstGeom>
          <a:noFill/>
        </p:spPr>
        <p:txBody>
          <a:bodyPr wrap="square" lIns="0" rIns="0" tIns="0" bIns="0" anchor="t">
            <a:spAutoFit/>
          </a:bodyPr>
          <a:lstStyle/>
          <a:p>
            <a:pPr algn="l"/>
            <a:r>
              <a:rPr sz="900" b="1" i="0">
                <a:solidFill>
                  <a:srgbClr val="757575"/>
                </a:solidFill>
                <a:latin typeface="Arial"/>
              </a:rPr>
              <a:t>WK 4–5</a:t>
            </a:r>
          </a:p>
        </p:txBody>
      </p:sp>
      <p:sp>
        <p:nvSpPr>
          <p:cNvPr id="35" name="TextBox 34"/>
          <p:cNvSpPr txBox="1"/>
          <p:nvPr/>
        </p:nvSpPr>
        <p:spPr>
          <a:xfrm>
            <a:off x="7900415" y="2578608"/>
            <a:ext cx="164592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Grad-CAM review</a:t>
            </a:r>
          </a:p>
          <a:p>
            <a:pPr algn="l">
              <a:spcAft>
                <a:spcPts val="200"/>
              </a:spcAft>
            </a:pPr>
            <a:r>
              <a:rPr sz="900" b="0" i="0">
                <a:solidFill>
                  <a:srgbClr val="404040"/>
                </a:solidFill>
                <a:latin typeface="Arial"/>
              </a:rPr>
              <a:t>• Severity proxy</a:t>
            </a:r>
          </a:p>
          <a:p>
            <a:pPr algn="l">
              <a:spcAft>
                <a:spcPts val="200"/>
              </a:spcAft>
            </a:pPr>
            <a:r>
              <a:rPr sz="900" b="0" i="0">
                <a:solidFill>
                  <a:srgbClr val="404040"/>
                </a:solidFill>
                <a:latin typeface="Arial"/>
              </a:rPr>
              <a:t>• Calibration + 'uncertain'</a:t>
            </a:r>
          </a:p>
          <a:p>
            <a:pPr algn="l">
              <a:spcAft>
                <a:spcPts val="200"/>
              </a:spcAft>
            </a:pPr>
            <a:r>
              <a:rPr sz="900" b="0" i="0">
                <a:solidFill>
                  <a:srgbClr val="404040"/>
                </a:solidFill>
                <a:latin typeface="Arial"/>
              </a:rPr>
              <a:t>• Prototype UI</a:t>
            </a:r>
          </a:p>
        </p:txBody>
      </p:sp>
      <p:sp>
        <p:nvSpPr>
          <p:cNvPr id="36" name="Chevron 35"/>
          <p:cNvSpPr/>
          <p:nvPr/>
        </p:nvSpPr>
        <p:spPr>
          <a:xfrm>
            <a:off x="9601200" y="1600200"/>
            <a:ext cx="1709928" cy="566928"/>
          </a:xfrm>
          <a:prstGeom prst="chevron">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02368" y="1600200"/>
            <a:ext cx="1371600" cy="566928"/>
          </a:xfrm>
          <a:prstGeom prst="rect">
            <a:avLst/>
          </a:prstGeom>
          <a:noFill/>
        </p:spPr>
        <p:txBody>
          <a:bodyPr wrap="square" lIns="0" rIns="0" tIns="0" bIns="0" anchor="ctr">
            <a:spAutoFit/>
          </a:bodyPr>
          <a:lstStyle/>
          <a:p>
            <a:pPr algn="ctr"/>
            <a:r>
              <a:rPr sz="950" b="1" i="0">
                <a:solidFill>
                  <a:srgbClr val="FFFFFF"/>
                </a:solidFill>
                <a:latin typeface="Arial"/>
              </a:rPr>
              <a:t>5 · Final evaluation</a:t>
            </a:r>
          </a:p>
        </p:txBody>
      </p:sp>
      <p:sp>
        <p:nvSpPr>
          <p:cNvPr id="38" name="Rectangle 37"/>
          <p:cNvSpPr/>
          <p:nvPr/>
        </p:nvSpPr>
        <p:spPr>
          <a:xfrm>
            <a:off x="9646920" y="2286000"/>
            <a:ext cx="1527048" cy="1828800"/>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10928" y="2331720"/>
            <a:ext cx="1417320" cy="228600"/>
          </a:xfrm>
          <a:prstGeom prst="rect">
            <a:avLst/>
          </a:prstGeom>
          <a:noFill/>
        </p:spPr>
        <p:txBody>
          <a:bodyPr wrap="square" lIns="0" rIns="0" tIns="0" bIns="0" anchor="t">
            <a:spAutoFit/>
          </a:bodyPr>
          <a:lstStyle/>
          <a:p>
            <a:pPr algn="l"/>
            <a:r>
              <a:rPr sz="900" b="1" i="0">
                <a:solidFill>
                  <a:srgbClr val="757575"/>
                </a:solidFill>
                <a:latin typeface="Arial"/>
              </a:rPr>
              <a:t>WK 6</a:t>
            </a:r>
          </a:p>
        </p:txBody>
      </p:sp>
      <p:sp>
        <p:nvSpPr>
          <p:cNvPr id="40" name="TextBox 39"/>
          <p:cNvSpPr txBox="1"/>
          <p:nvPr/>
        </p:nvSpPr>
        <p:spPr>
          <a:xfrm>
            <a:off x="9710928" y="2578608"/>
            <a:ext cx="1417320" cy="1508760"/>
          </a:xfrm>
          <a:prstGeom prst="rect">
            <a:avLst/>
          </a:prstGeom>
          <a:noFill/>
        </p:spPr>
        <p:txBody>
          <a:bodyPr wrap="square" lIns="0" rIns="0" tIns="0" bIns="0" anchor="t">
            <a:spAutoFit/>
          </a:bodyPr>
          <a:lstStyle/>
          <a:p>
            <a:pPr algn="l">
              <a:spcAft>
                <a:spcPts val="200"/>
              </a:spcAft>
            </a:pPr>
            <a:r>
              <a:rPr sz="900" b="0" i="0">
                <a:solidFill>
                  <a:srgbClr val="404040"/>
                </a:solidFill>
                <a:latin typeface="Arial"/>
              </a:rPr>
              <a:t>• Test set, once</a:t>
            </a:r>
          </a:p>
          <a:p>
            <a:pPr algn="l">
              <a:spcAft>
                <a:spcPts val="200"/>
              </a:spcAft>
            </a:pPr>
            <a:r>
              <a:rPr sz="900" b="0" i="0">
                <a:solidFill>
                  <a:srgbClr val="404040"/>
                </a:solidFill>
                <a:latin typeface="Arial"/>
              </a:rPr>
              <a:t>• Error analysis</a:t>
            </a:r>
          </a:p>
          <a:p>
            <a:pPr algn="l">
              <a:spcAft>
                <a:spcPts val="200"/>
              </a:spcAft>
            </a:pPr>
            <a:r>
              <a:rPr sz="900" b="0" i="0">
                <a:solidFill>
                  <a:srgbClr val="404040"/>
                </a:solidFill>
                <a:latin typeface="Arial"/>
              </a:rPr>
              <a:t>• Report + demo</a:t>
            </a:r>
          </a:p>
        </p:txBody>
      </p:sp>
      <p:sp>
        <p:nvSpPr>
          <p:cNvPr id="41" name="Isosceles Triangle 40"/>
          <p:cNvSpPr/>
          <p:nvPr/>
        </p:nvSpPr>
        <p:spPr>
          <a:xfrm rot="10800000">
            <a:off x="3941063" y="1344168"/>
            <a:ext cx="237744" cy="201168"/>
          </a:xfrm>
          <a:prstGeom prst="triangle">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45535" y="1097280"/>
            <a:ext cx="1828800" cy="237744"/>
          </a:xfrm>
          <a:prstGeom prst="rect">
            <a:avLst/>
          </a:prstGeom>
          <a:noFill/>
        </p:spPr>
        <p:txBody>
          <a:bodyPr wrap="square" lIns="0" rIns="0" tIns="0" bIns="0" anchor="t">
            <a:spAutoFit/>
          </a:bodyPr>
          <a:lstStyle/>
          <a:p>
            <a:pPr algn="ctr"/>
            <a:r>
              <a:rPr sz="1000" b="1" i="0">
                <a:solidFill>
                  <a:srgbClr val="B05A00"/>
                </a:solidFill>
                <a:latin typeface="Arial"/>
              </a:rPr>
              <a:t>WE ARE HERE</a:t>
            </a:r>
          </a:p>
        </p:txBody>
      </p:sp>
      <p:sp>
        <p:nvSpPr>
          <p:cNvPr id="43" name="TextBox 42"/>
          <p:cNvSpPr txBox="1"/>
          <p:nvPr/>
        </p:nvSpPr>
        <p:spPr>
          <a:xfrm>
            <a:off x="5157216" y="1097280"/>
            <a:ext cx="5120640" cy="237744"/>
          </a:xfrm>
          <a:prstGeom prst="rect">
            <a:avLst/>
          </a:prstGeom>
          <a:noFill/>
        </p:spPr>
        <p:txBody>
          <a:bodyPr wrap="square" lIns="0" rIns="0" tIns="0" bIns="0" anchor="t">
            <a:spAutoFit/>
          </a:bodyPr>
          <a:lstStyle/>
          <a:p>
            <a:pPr algn="l"/>
            <a:r>
              <a:rPr sz="1000" b="0" i="1">
                <a:solidFill>
                  <a:srgbClr val="757575"/>
                </a:solidFill>
                <a:latin typeface="Arial"/>
              </a:rPr>
              <a:t>the main work — phases 2 to 5 — has not started yet</a:t>
            </a:r>
          </a:p>
        </p:txBody>
      </p:sp>
      <p:sp>
        <p:nvSpPr>
          <p:cNvPr id="44" name="Rectangle 43"/>
          <p:cNvSpPr/>
          <p:nvPr/>
        </p:nvSpPr>
        <p:spPr>
          <a:xfrm>
            <a:off x="822960" y="4343400"/>
            <a:ext cx="320040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4343400"/>
            <a:ext cx="3200400" cy="256032"/>
          </a:xfrm>
          <a:prstGeom prst="rect">
            <a:avLst/>
          </a:prstGeom>
          <a:noFill/>
        </p:spPr>
        <p:txBody>
          <a:bodyPr wrap="square" lIns="0" rIns="0" tIns="0" bIns="0" anchor="ctr">
            <a:spAutoFit/>
          </a:bodyPr>
          <a:lstStyle/>
          <a:p>
            <a:pPr algn="ctr"/>
            <a:r>
              <a:rPr sz="1000" b="1" i="0">
                <a:solidFill>
                  <a:srgbClr val="FFFFFF"/>
                </a:solidFill>
                <a:latin typeface="Arial"/>
              </a:rPr>
              <a:t>WHAT THE BASELINE IS — AND IS NOT</a:t>
            </a:r>
          </a:p>
        </p:txBody>
      </p:sp>
      <p:sp>
        <p:nvSpPr>
          <p:cNvPr id="46" name="TextBox 45"/>
          <p:cNvSpPr txBox="1"/>
          <p:nvPr/>
        </p:nvSpPr>
        <p:spPr>
          <a:xfrm>
            <a:off x="822960" y="4709160"/>
            <a:ext cx="5394960" cy="1645920"/>
          </a:xfrm>
          <a:prstGeom prst="rect">
            <a:avLst/>
          </a:prstGeom>
          <a:noFill/>
        </p:spPr>
        <p:txBody>
          <a:bodyPr wrap="square" lIns="0" rIns="0" tIns="0" bIns="0" anchor="t">
            <a:spAutoFit/>
          </a:bodyPr>
          <a:lstStyle/>
          <a:p>
            <a:pPr algn="l">
              <a:spcAft>
                <a:spcPts val="400"/>
              </a:spcAft>
            </a:pPr>
            <a:r>
              <a:rPr sz="1000" b="1" i="0">
                <a:solidFill>
                  <a:srgbClr val="0E7C86"/>
                </a:solidFill>
                <a:latin typeface="Arial"/>
              </a:rPr>
              <a:t>• </a:t>
            </a:r>
            <a:r>
              <a:rPr sz="1000" b="1" i="0">
                <a:solidFill>
                  <a:srgbClr val="1A1A1A"/>
                </a:solidFill>
                <a:latin typeface="Arial"/>
              </a:rPr>
              <a:t>Is: </a:t>
            </a:r>
            <a:r>
              <a:rPr sz="1000" b="0" i="0">
                <a:solidFill>
                  <a:srgbClr val="404040"/>
                </a:solidFill>
                <a:latin typeface="Arial"/>
              </a:rPr>
              <a:t>one default configuration (ResNet-18, full training set, basic augmentation), run end-to-end with 3 seeds — it proves the pipeline works and gives the reference point.</a:t>
            </a:r>
          </a:p>
          <a:p>
            <a:pPr algn="l">
              <a:spcAft>
                <a:spcPts val="400"/>
              </a:spcAft>
            </a:pPr>
            <a:r>
              <a:rPr sz="1000" b="1" i="0">
                <a:solidFill>
                  <a:srgbClr val="0E7C86"/>
                </a:solidFill>
                <a:latin typeface="Arial"/>
              </a:rPr>
              <a:t>• </a:t>
            </a:r>
            <a:r>
              <a:rPr sz="1000" b="1" i="0">
                <a:solidFill>
                  <a:srgbClr val="1A1A1A"/>
                </a:solidFill>
                <a:latin typeface="Arial"/>
              </a:rPr>
              <a:t>Is not: </a:t>
            </a:r>
            <a:r>
              <a:rPr sz="1000" b="0" i="0">
                <a:solidFill>
                  <a:srgbClr val="404040"/>
                </a:solidFill>
                <a:latin typeface="Arial"/>
              </a:rPr>
              <a:t>tuned, ablated or final. Neither comparison group — data or model — has been run beyond its default cell.</a:t>
            </a:r>
          </a:p>
          <a:p>
            <a:pPr algn="l">
              <a:spcAft>
                <a:spcPts val="400"/>
              </a:spcAft>
            </a:pPr>
            <a:r>
              <a:rPr sz="1000" b="1" i="0">
                <a:solidFill>
                  <a:srgbClr val="0E7C86"/>
                </a:solidFill>
                <a:latin typeface="Arial"/>
              </a:rPr>
              <a:t>• </a:t>
            </a:r>
            <a:r>
              <a:rPr sz="1000" b="1" i="0">
                <a:solidFill>
                  <a:srgbClr val="1A1A1A"/>
                </a:solidFill>
                <a:latin typeface="Arial"/>
              </a:rPr>
              <a:t>Test numbers today </a:t>
            </a:r>
            <a:r>
              <a:rPr sz="1000" b="0" i="0">
                <a:solidFill>
                  <a:srgbClr val="404040"/>
                </a:solidFill>
                <a:latin typeface="Arial"/>
              </a:rPr>
              <a:t>are a first look; later choices use validation / cross-validation.</a:t>
            </a:r>
          </a:p>
        </p:txBody>
      </p:sp>
      <p:pic>
        <p:nvPicPr>
          <p:cNvPr id="47" name="Picture 46" descr="training_curves.png"/>
          <p:cNvPicPr>
            <a:picLocks noChangeAspect="1"/>
          </p:cNvPicPr>
          <p:nvPr/>
        </p:nvPicPr>
        <p:blipFill>
          <a:blip r:embed="rId2"/>
          <a:stretch>
            <a:fillRect/>
          </a:stretch>
        </p:blipFill>
        <p:spPr>
          <a:xfrm>
            <a:off x="6446520" y="4297680"/>
            <a:ext cx="4937760" cy="1779046"/>
          </a:xfrm>
          <a:prstGeom prst="rect">
            <a:avLst/>
          </a:prstGeom>
        </p:spPr>
      </p:pic>
      <p:sp>
        <p:nvSpPr>
          <p:cNvPr id="48" name="TextBox 47"/>
          <p:cNvSpPr txBox="1"/>
          <p:nvPr/>
        </p:nvSpPr>
        <p:spPr>
          <a:xfrm>
            <a:off x="6492240" y="6099048"/>
            <a:ext cx="4892040" cy="320040"/>
          </a:xfrm>
          <a:prstGeom prst="rect">
            <a:avLst/>
          </a:prstGeom>
          <a:noFill/>
        </p:spPr>
        <p:txBody>
          <a:bodyPr wrap="square" lIns="0" rIns="0" tIns="0" bIns="0" anchor="t">
            <a:spAutoFit/>
          </a:bodyPr>
          <a:lstStyle/>
          <a:p>
            <a:pPr algn="l"/>
            <a:r>
              <a:rPr sz="900" b="0" i="1">
                <a:solidFill>
                  <a:srgbClr val="757575"/>
                </a:solidFill>
                <a:latin typeface="Arial"/>
              </a:rPr>
              <a:t>Baseline training, mean ± SD over 3 seeds: training loss 0.05–0.08, best validation F1 only 0.59–0.63.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Baseline Results — One Untuned Configuration on the Fixed Split</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10</a:t>
            </a:r>
          </a:p>
        </p:txBody>
      </p:sp>
      <p:sp>
        <p:nvSpPr>
          <p:cNvPr id="11" name="Rectangle 10"/>
          <p:cNvSpPr/>
          <p:nvPr/>
        </p:nvSpPr>
        <p:spPr>
          <a:xfrm>
            <a:off x="822960" y="1280160"/>
            <a:ext cx="265176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651760" cy="256032"/>
          </a:xfrm>
          <a:prstGeom prst="rect">
            <a:avLst/>
          </a:prstGeom>
          <a:noFill/>
        </p:spPr>
        <p:txBody>
          <a:bodyPr wrap="square" lIns="0" rIns="0" tIns="0" bIns="0" anchor="ctr">
            <a:spAutoFit/>
          </a:bodyPr>
          <a:lstStyle/>
          <a:p>
            <a:pPr algn="ctr"/>
            <a:r>
              <a:rPr sz="1000" b="1" i="0">
                <a:solidFill>
                  <a:srgbClr val="FFFFFF"/>
                </a:solidFill>
                <a:latin typeface="Arial"/>
              </a:rPr>
              <a:t>MACRO-F1 (CHANCE = 0.333)</a:t>
            </a:r>
          </a:p>
        </p:txBody>
      </p:sp>
      <p:graphicFrame>
        <p:nvGraphicFramePr>
          <p:cNvPr id="13" name="Table 12"/>
          <p:cNvGraphicFramePr>
            <a:graphicFrameLocks noGrp="1"/>
          </p:cNvGraphicFramePr>
          <p:nvPr/>
        </p:nvGraphicFramePr>
        <p:xfrm>
          <a:off x="822960" y="1645920"/>
          <a:ext cx="6400800" cy="2432304"/>
        </p:xfrm>
        <a:graphic>
          <a:graphicData uri="http://schemas.openxmlformats.org/drawingml/2006/table">
            <a:tbl>
              <a:tblPr firstRow="1" bandRow="1">
                <a:tableStyleId>{5C22544A-7EE6-4342-B048-85BDC9FD1C3A}</a:tableStyleId>
              </a:tblPr>
              <a:tblGrid>
                <a:gridCol w="1737360"/>
                <a:gridCol w="1371600"/>
                <a:gridCol w="1737360"/>
                <a:gridCol w="1554480"/>
              </a:tblGrid>
              <a:tr h="347472">
                <a:tc>
                  <a:txBody>
                    <a:bodyPr/>
                    <a:lstStyle/>
                    <a:p>
                      <a:pPr algn="l"/>
                      <a:r>
                        <a:rPr sz="1000" b="1">
                          <a:solidFill>
                            <a:srgbClr val="FFFFFF"/>
                          </a:solidFill>
                          <a:latin typeface="Arial"/>
                        </a:rPr>
                        <a:t>Model</a:t>
                      </a:r>
                    </a:p>
                  </a:txBody>
                  <a:tcPr marL="73152" marR="73152" marT="18288" marB="18288" anchor="ctr">
                    <a:solidFill>
                      <a:srgbClr val="203864"/>
                    </a:solidFill>
                  </a:tcPr>
                </a:tc>
                <a:tc>
                  <a:txBody>
                    <a:bodyPr/>
                    <a:lstStyle/>
                    <a:p>
                      <a:pPr algn="ctr"/>
                      <a:r>
                        <a:rPr sz="1000" b="1">
                          <a:solidFill>
                            <a:srgbClr val="FFFFFF"/>
                          </a:solidFill>
                          <a:latin typeface="Arial"/>
                        </a:rPr>
                        <a:t>Features</a:t>
                      </a:r>
                    </a:p>
                  </a:txBody>
                  <a:tcPr marL="73152" marR="73152" marT="18288" marB="18288" anchor="ctr">
                    <a:solidFill>
                      <a:srgbClr val="203864"/>
                    </a:solidFill>
                  </a:tcPr>
                </a:tc>
                <a:tc>
                  <a:txBody>
                    <a:bodyPr/>
                    <a:lstStyle/>
                    <a:p>
                      <a:pPr algn="ctr"/>
                      <a:r>
                        <a:rPr sz="1000" b="1">
                          <a:solidFill>
                            <a:srgbClr val="FFFFFF"/>
                          </a:solidFill>
                          <a:latin typeface="Arial"/>
                        </a:rPr>
                        <a:t>5-fold CV (train+val)</a:t>
                      </a:r>
                    </a:p>
                  </a:txBody>
                  <a:tcPr marL="73152" marR="73152" marT="18288" marB="18288" anchor="ctr">
                    <a:solidFill>
                      <a:srgbClr val="203864"/>
                    </a:solidFill>
                  </a:tcPr>
                </a:tc>
                <a:tc>
                  <a:txBody>
                    <a:bodyPr/>
                    <a:lstStyle/>
                    <a:p>
                      <a:pPr algn="ctr"/>
                      <a:r>
                        <a:rPr sz="1000" b="1">
                          <a:solidFill>
                            <a:srgbClr val="FFFFFF"/>
                          </a:solidFill>
                          <a:latin typeface="Arial"/>
                        </a:rPr>
                        <a:t>Test, 3 seeds</a:t>
                      </a:r>
                    </a:p>
                  </a:txBody>
                  <a:tcPr marL="73152" marR="73152" marT="18288" marB="18288" anchor="ctr">
                    <a:solidFill>
                      <a:srgbClr val="203864"/>
                    </a:solidFill>
                  </a:tcPr>
                </a:tc>
              </a:tr>
              <a:tr h="347472">
                <a:tc>
                  <a:txBody>
                    <a:bodyPr/>
                    <a:lstStyle/>
                    <a:p>
                      <a:pPr algn="l"/>
                      <a:r>
                        <a:rPr sz="1000" b="1">
                          <a:solidFill>
                            <a:srgbClr val="1A1A1A"/>
                          </a:solidFill>
                          <a:latin typeface="Arial"/>
                        </a:rPr>
                        <a:t>Logistic regression</a:t>
                      </a:r>
                    </a:p>
                  </a:txBody>
                  <a:tcPr marL="73152" marR="73152" marT="18288" marB="18288" anchor="ctr">
                    <a:solidFill>
                      <a:srgbClr val="FFFFFF"/>
                    </a:solidFill>
                  </a:tcPr>
                </a:tc>
                <a:tc>
                  <a:txBody>
                    <a:bodyPr/>
                    <a:lstStyle/>
                    <a:p>
                      <a:pPr algn="ctr"/>
                      <a:r>
                        <a:rPr sz="1000" b="0">
                          <a:solidFill>
                            <a:srgbClr val="1A1A1A"/>
                          </a:solidFill>
                          <a:latin typeface="Arial"/>
                        </a:rPr>
                        <a:t>clinical</a:t>
                      </a:r>
                    </a:p>
                  </a:txBody>
                  <a:tcPr marL="73152" marR="73152" marT="18288" marB="18288" anchor="ctr">
                    <a:solidFill>
                      <a:srgbClr val="FFFFFF"/>
                    </a:solidFill>
                  </a:tcPr>
                </a:tc>
                <a:tc>
                  <a:txBody>
                    <a:bodyPr/>
                    <a:lstStyle/>
                    <a:p>
                      <a:pPr algn="ctr"/>
                      <a:r>
                        <a:rPr sz="1000" b="0">
                          <a:solidFill>
                            <a:srgbClr val="1A1A1A"/>
                          </a:solidFill>
                          <a:latin typeface="Arial"/>
                        </a:rPr>
                        <a:t>0.495 ± 0.065</a:t>
                      </a:r>
                    </a:p>
                  </a:txBody>
                  <a:tcPr marL="73152" marR="73152" marT="18288" marB="18288" anchor="ctr">
                    <a:solidFill>
                      <a:srgbClr val="FFFFFF"/>
                    </a:solidFill>
                  </a:tcPr>
                </a:tc>
                <a:tc>
                  <a:txBody>
                    <a:bodyPr/>
                    <a:lstStyle/>
                    <a:p>
                      <a:pPr algn="ctr"/>
                      <a:r>
                        <a:rPr sz="1000" b="0">
                          <a:solidFill>
                            <a:srgbClr val="1A1A1A"/>
                          </a:solidFill>
                          <a:latin typeface="Arial"/>
                        </a:rPr>
                        <a:t>0.512 (deterministic)</a:t>
                      </a:r>
                    </a:p>
                  </a:txBody>
                  <a:tcPr marL="73152" marR="73152" marT="18288" marB="18288" anchor="ctr">
                    <a:solidFill>
                      <a:srgbClr val="FFFFFF"/>
                    </a:solidFill>
                  </a:tcPr>
                </a:tc>
              </a:tr>
              <a:tr h="347472">
                <a:tc>
                  <a:txBody>
                    <a:bodyPr/>
                    <a:lstStyle/>
                    <a:p>
                      <a:pPr algn="l"/>
                      <a:r>
                        <a:rPr sz="1000" b="1">
                          <a:solidFill>
                            <a:srgbClr val="1A1A1A"/>
                          </a:solidFill>
                          <a:latin typeface="Arial"/>
                        </a:rPr>
                        <a:t>Random forest</a:t>
                      </a:r>
                    </a:p>
                  </a:txBody>
                  <a:tcPr marL="73152" marR="73152" marT="18288" marB="18288" anchor="ctr">
                    <a:solidFill>
                      <a:srgbClr val="E8F5F4"/>
                    </a:solidFill>
                  </a:tcPr>
                </a:tc>
                <a:tc>
                  <a:txBody>
                    <a:bodyPr/>
                    <a:lstStyle/>
                    <a:p>
                      <a:pPr algn="ctr"/>
                      <a:r>
                        <a:rPr sz="1000" b="1">
                          <a:solidFill>
                            <a:srgbClr val="1A1A1A"/>
                          </a:solidFill>
                          <a:latin typeface="Arial"/>
                        </a:rPr>
                        <a:t>clinical</a:t>
                      </a:r>
                    </a:p>
                  </a:txBody>
                  <a:tcPr marL="73152" marR="73152" marT="18288" marB="18288" anchor="ctr">
                    <a:solidFill>
                      <a:srgbClr val="E8F5F4"/>
                    </a:solidFill>
                  </a:tcPr>
                </a:tc>
                <a:tc>
                  <a:txBody>
                    <a:bodyPr/>
                    <a:lstStyle/>
                    <a:p>
                      <a:pPr algn="ctr"/>
                      <a:r>
                        <a:rPr sz="1000" b="1">
                          <a:solidFill>
                            <a:srgbClr val="1A1A1A"/>
                          </a:solidFill>
                          <a:latin typeface="Arial"/>
                        </a:rPr>
                        <a:t>0.569 ± 0.035</a:t>
                      </a:r>
                    </a:p>
                  </a:txBody>
                  <a:tcPr marL="73152" marR="73152" marT="18288" marB="18288" anchor="ctr">
                    <a:solidFill>
                      <a:srgbClr val="E8F5F4"/>
                    </a:solidFill>
                  </a:tcPr>
                </a:tc>
                <a:tc>
                  <a:txBody>
                    <a:bodyPr/>
                    <a:lstStyle/>
                    <a:p>
                      <a:pPr algn="ctr"/>
                      <a:r>
                        <a:rPr sz="1000" b="1">
                          <a:solidFill>
                            <a:srgbClr val="1A1A1A"/>
                          </a:solidFill>
                          <a:latin typeface="Arial"/>
                        </a:rPr>
                        <a:t>0.539 ± 0.017</a:t>
                      </a:r>
                    </a:p>
                  </a:txBody>
                  <a:tcPr marL="73152" marR="73152" marT="18288" marB="18288" anchor="ctr">
                    <a:solidFill>
                      <a:srgbClr val="E8F5F4"/>
                    </a:solidFill>
                  </a:tcPr>
                </a:tc>
              </a:tr>
              <a:tr h="347472">
                <a:tc>
                  <a:txBody>
                    <a:bodyPr/>
                    <a:lstStyle/>
                    <a:p>
                      <a:pPr algn="l"/>
                      <a:r>
                        <a:rPr sz="1000" b="1">
                          <a:solidFill>
                            <a:srgbClr val="1A1A1A"/>
                          </a:solidFill>
                          <a:latin typeface="Arial"/>
                        </a:rPr>
                        <a:t>LightGBM</a:t>
                      </a:r>
                    </a:p>
                  </a:txBody>
                  <a:tcPr marL="73152" marR="73152" marT="18288" marB="18288" anchor="ctr">
                    <a:solidFill>
                      <a:srgbClr val="FFFFFF"/>
                    </a:solidFill>
                  </a:tcPr>
                </a:tc>
                <a:tc>
                  <a:txBody>
                    <a:bodyPr/>
                    <a:lstStyle/>
                    <a:p>
                      <a:pPr algn="ctr"/>
                      <a:r>
                        <a:rPr sz="1000" b="0">
                          <a:solidFill>
                            <a:srgbClr val="1A1A1A"/>
                          </a:solidFill>
                          <a:latin typeface="Arial"/>
                        </a:rPr>
                        <a:t>clinical</a:t>
                      </a:r>
                    </a:p>
                  </a:txBody>
                  <a:tcPr marL="73152" marR="73152" marT="18288" marB="18288" anchor="ctr">
                    <a:solidFill>
                      <a:srgbClr val="FFFFFF"/>
                    </a:solidFill>
                  </a:tcPr>
                </a:tc>
                <a:tc>
                  <a:txBody>
                    <a:bodyPr/>
                    <a:lstStyle/>
                    <a:p>
                      <a:pPr algn="ctr"/>
                      <a:r>
                        <a:rPr sz="1000" b="0">
                          <a:solidFill>
                            <a:srgbClr val="1A1A1A"/>
                          </a:solidFill>
                          <a:latin typeface="Arial"/>
                        </a:rPr>
                        <a:t>0.524 ± 0.061</a:t>
                      </a:r>
                    </a:p>
                  </a:txBody>
                  <a:tcPr marL="73152" marR="73152" marT="18288" marB="18288" anchor="ctr">
                    <a:solidFill>
                      <a:srgbClr val="FFFFFF"/>
                    </a:solidFill>
                  </a:tcPr>
                </a:tc>
                <a:tc>
                  <a:txBody>
                    <a:bodyPr/>
                    <a:lstStyle/>
                    <a:p>
                      <a:pPr algn="ctr"/>
                      <a:r>
                        <a:rPr sz="1000" b="0">
                          <a:solidFill>
                            <a:srgbClr val="1A1A1A"/>
                          </a:solidFill>
                          <a:latin typeface="Arial"/>
                        </a:rPr>
                        <a:t>0.597 (deterministic)</a:t>
                      </a:r>
                    </a:p>
                  </a:txBody>
                  <a:tcPr marL="73152" marR="73152" marT="18288" marB="18288" anchor="ctr">
                    <a:solidFill>
                      <a:srgbClr val="FFFFFF"/>
                    </a:solidFill>
                  </a:tcPr>
                </a:tc>
              </a:tr>
              <a:tr h="347472">
                <a:tc>
                  <a:txBody>
                    <a:bodyPr/>
                    <a:lstStyle/>
                    <a:p>
                      <a:pPr algn="l"/>
                      <a:r>
                        <a:rPr sz="1000" b="1">
                          <a:solidFill>
                            <a:srgbClr val="1A1A1A"/>
                          </a:solidFill>
                          <a:latin typeface="Arial"/>
                        </a:rPr>
                        <a:t>Random forest</a:t>
                      </a:r>
                    </a:p>
                  </a:txBody>
                  <a:tcPr marL="73152" marR="73152" marT="18288" marB="18288" anchor="ctr">
                    <a:solidFill>
                      <a:srgbClr val="F2F5F9"/>
                    </a:solidFill>
                  </a:tcPr>
                </a:tc>
                <a:tc>
                  <a:txBody>
                    <a:bodyPr/>
                    <a:lstStyle/>
                    <a:p>
                      <a:pPr algn="ctr"/>
                      <a:r>
                        <a:rPr sz="1000" b="0">
                          <a:solidFill>
                            <a:srgbClr val="1A1A1A"/>
                          </a:solidFill>
                          <a:latin typeface="Arial"/>
                        </a:rPr>
                        <a:t>clinical − G/GM</a:t>
                      </a:r>
                    </a:p>
                  </a:txBody>
                  <a:tcPr marL="73152" marR="73152" marT="18288" marB="18288" anchor="ctr">
                    <a:solidFill>
                      <a:srgbClr val="F2F5F9"/>
                    </a:solidFill>
                  </a:tcPr>
                </a:tc>
                <a:tc>
                  <a:txBody>
                    <a:bodyPr/>
                    <a:lstStyle/>
                    <a:p>
                      <a:pPr algn="ctr"/>
                      <a:r>
                        <a:rPr sz="1000" b="0">
                          <a:solidFill>
                            <a:srgbClr val="1A1A1A"/>
                          </a:solidFill>
                          <a:latin typeface="Arial"/>
                        </a:rPr>
                        <a:t>0.532 ± 0.062</a:t>
                      </a:r>
                    </a:p>
                  </a:txBody>
                  <a:tcPr marL="73152" marR="73152" marT="18288" marB="18288" anchor="ctr">
                    <a:solidFill>
                      <a:srgbClr val="F2F5F9"/>
                    </a:solidFill>
                  </a:tcPr>
                </a:tc>
                <a:tc>
                  <a:txBody>
                    <a:bodyPr/>
                    <a:lstStyle/>
                    <a:p>
                      <a:pPr algn="ctr"/>
                      <a:r>
                        <a:rPr sz="1000" b="0">
                          <a:solidFill>
                            <a:srgbClr val="1A1A1A"/>
                          </a:solidFill>
                          <a:latin typeface="Arial"/>
                        </a:rPr>
                        <a:t>0.561 ± 0.010</a:t>
                      </a:r>
                    </a:p>
                  </a:txBody>
                  <a:tcPr marL="73152" marR="73152" marT="18288" marB="18288" anchor="ctr">
                    <a:solidFill>
                      <a:srgbClr val="F2F5F9"/>
                    </a:solidFill>
                  </a:tcPr>
                </a:tc>
              </a:tr>
              <a:tr h="347472">
                <a:tc>
                  <a:txBody>
                    <a:bodyPr/>
                    <a:lstStyle/>
                    <a:p>
                      <a:pPr algn="l"/>
                      <a:r>
                        <a:rPr sz="1000" b="1">
                          <a:solidFill>
                            <a:srgbClr val="1A1A1A"/>
                          </a:solidFill>
                          <a:latin typeface="Arial"/>
                        </a:rPr>
                        <a:t>ResNet-18 (2.5D)</a:t>
                      </a:r>
                    </a:p>
                  </a:txBody>
                  <a:tcPr marL="73152" marR="73152" marT="18288" marB="18288" anchor="ctr">
                    <a:solidFill>
                      <a:srgbClr val="E8F5F4"/>
                    </a:solidFill>
                  </a:tcPr>
                </a:tc>
                <a:tc>
                  <a:txBody>
                    <a:bodyPr/>
                    <a:lstStyle/>
                    <a:p>
                      <a:pPr algn="ctr"/>
                      <a:r>
                        <a:rPr sz="1000" b="1">
                          <a:solidFill>
                            <a:srgbClr val="1A1A1A"/>
                          </a:solidFill>
                          <a:latin typeface="Arial"/>
                        </a:rPr>
                        <a:t>CT only</a:t>
                      </a:r>
                    </a:p>
                  </a:txBody>
                  <a:tcPr marL="73152" marR="73152" marT="18288" marB="18288" anchor="ctr">
                    <a:solidFill>
                      <a:srgbClr val="E8F5F4"/>
                    </a:solidFill>
                  </a:tcPr>
                </a:tc>
                <a:tc>
                  <a:txBody>
                    <a:bodyPr/>
                    <a:lstStyle/>
                    <a:p>
                      <a:pPr algn="ctr"/>
                      <a:r>
                        <a:rPr sz="1000" b="1">
                          <a:solidFill>
                            <a:srgbClr val="1A1A1A"/>
                          </a:solidFill>
                          <a:latin typeface="Arial"/>
                        </a:rPr>
                        <a:t>—</a:t>
                      </a:r>
                    </a:p>
                  </a:txBody>
                  <a:tcPr marL="73152" marR="73152" marT="18288" marB="18288" anchor="ctr">
                    <a:solidFill>
                      <a:srgbClr val="E8F5F4"/>
                    </a:solidFill>
                  </a:tcPr>
                </a:tc>
                <a:tc>
                  <a:txBody>
                    <a:bodyPr/>
                    <a:lstStyle/>
                    <a:p>
                      <a:pPr algn="ctr"/>
                      <a:r>
                        <a:rPr sz="1000" b="1">
                          <a:solidFill>
                            <a:srgbClr val="1A1A1A"/>
                          </a:solidFill>
                          <a:latin typeface="Arial"/>
                        </a:rPr>
                        <a:t>0.642 ± 0.014</a:t>
                      </a:r>
                    </a:p>
                  </a:txBody>
                  <a:tcPr marL="73152" marR="73152" marT="18288" marB="18288" anchor="ctr">
                    <a:solidFill>
                      <a:srgbClr val="E8F5F4"/>
                    </a:solidFill>
                  </a:tcPr>
                </a:tc>
              </a:tr>
              <a:tr h="347472">
                <a:tc>
                  <a:txBody>
                    <a:bodyPr/>
                    <a:lstStyle/>
                    <a:p>
                      <a:pPr algn="l"/>
                      <a:r>
                        <a:rPr sz="1000" b="1">
                          <a:solidFill>
                            <a:srgbClr val="1A1A1A"/>
                          </a:solidFill>
                          <a:latin typeface="Arial"/>
                        </a:rPr>
                        <a:t>ResNet-18 (2.5D)</a:t>
                      </a:r>
                    </a:p>
                  </a:txBody>
                  <a:tcPr marL="73152" marR="73152" marT="18288" marB="18288" anchor="ctr">
                    <a:solidFill>
                      <a:srgbClr val="F2F5F9"/>
                    </a:solidFill>
                  </a:tcPr>
                </a:tc>
                <a:tc>
                  <a:txBody>
                    <a:bodyPr/>
                    <a:lstStyle/>
                    <a:p>
                      <a:pPr algn="ctr"/>
                      <a:r>
                        <a:rPr sz="1000" b="0">
                          <a:solidFill>
                            <a:srgbClr val="1A1A1A"/>
                          </a:solidFill>
                          <a:latin typeface="Arial"/>
                        </a:rPr>
                        <a:t>CT + clinical</a:t>
                      </a:r>
                    </a:p>
                  </a:txBody>
                  <a:tcPr marL="73152" marR="73152" marT="18288" marB="18288" anchor="ctr">
                    <a:solidFill>
                      <a:srgbClr val="F2F5F9"/>
                    </a:solidFill>
                  </a:tcPr>
                </a:tc>
                <a:tc>
                  <a:txBody>
                    <a:bodyPr/>
                    <a:lstStyle/>
                    <a:p>
                      <a:pPr algn="ctr"/>
                      <a:r>
                        <a:rPr sz="1000" b="0">
                          <a:solidFill>
                            <a:srgbClr val="1A1A1A"/>
                          </a:solidFill>
                          <a:latin typeface="Arial"/>
                        </a:rPr>
                        <a:t>—</a:t>
                      </a:r>
                    </a:p>
                  </a:txBody>
                  <a:tcPr marL="73152" marR="73152" marT="18288" marB="18288" anchor="ctr">
                    <a:solidFill>
                      <a:srgbClr val="F2F5F9"/>
                    </a:solidFill>
                  </a:tcPr>
                </a:tc>
                <a:tc>
                  <a:txBody>
                    <a:bodyPr/>
                    <a:lstStyle/>
                    <a:p>
                      <a:pPr algn="ctr"/>
                      <a:r>
                        <a:rPr sz="1000" b="0">
                          <a:solidFill>
                            <a:srgbClr val="1A1A1A"/>
                          </a:solidFill>
                          <a:latin typeface="Arial"/>
                        </a:rPr>
                        <a:t>0.618 ± 0.020</a:t>
                      </a:r>
                    </a:p>
                  </a:txBody>
                  <a:tcPr marL="73152" marR="73152" marT="18288" marB="18288" anchor="ctr">
                    <a:solidFill>
                      <a:srgbClr val="F2F5F9"/>
                    </a:solidFill>
                  </a:tcPr>
                </a:tc>
              </a:tr>
            </a:tbl>
          </a:graphicData>
        </a:graphic>
      </p:graphicFrame>
      <p:sp>
        <p:nvSpPr>
          <p:cNvPr id="14" name="TextBox 13"/>
          <p:cNvSpPr txBox="1"/>
          <p:nvPr/>
        </p:nvSpPr>
        <p:spPr>
          <a:xfrm>
            <a:off x="822960" y="4114800"/>
            <a:ext cx="6400800" cy="274320"/>
          </a:xfrm>
          <a:prstGeom prst="rect">
            <a:avLst/>
          </a:prstGeom>
          <a:noFill/>
        </p:spPr>
        <p:txBody>
          <a:bodyPr wrap="square" lIns="0" rIns="0" tIns="0" bIns="0" anchor="t">
            <a:spAutoFit/>
          </a:bodyPr>
          <a:lstStyle/>
          <a:p>
            <a:pPr algn="l"/>
            <a:r>
              <a:rPr sz="950" b="0" i="1">
                <a:solidFill>
                  <a:srgbClr val="757575"/>
                </a:solidFill>
                <a:latin typeface="Arial"/>
              </a:rPr>
              <a:t>Highlighted: best clinical model and best image model, chosen on validation macro-F1.</a:t>
            </a:r>
          </a:p>
        </p:txBody>
      </p:sp>
      <p:sp>
        <p:nvSpPr>
          <p:cNvPr id="15" name="Rounded Rectangle 14"/>
          <p:cNvSpPr/>
          <p:nvPr/>
        </p:nvSpPr>
        <p:spPr>
          <a:xfrm>
            <a:off x="822960" y="4434840"/>
            <a:ext cx="6400800" cy="1417320"/>
          </a:xfrm>
          <a:prstGeom prst="roundRect">
            <a:avLst>
              <a:gd name="adj" fmla="val 6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507992"/>
            <a:ext cx="6035040" cy="1737360"/>
          </a:xfrm>
          <a:prstGeom prst="rect">
            <a:avLst/>
          </a:prstGeom>
          <a:noFill/>
        </p:spPr>
        <p:txBody>
          <a:bodyPr wrap="square" lIns="0" rIns="0" tIns="0" bIns="0" anchor="t">
            <a:spAutoFit/>
          </a:bodyPr>
          <a:lstStyle/>
          <a:p>
            <a:pPr algn="l">
              <a:spcAft>
                <a:spcPts val="400"/>
              </a:spcAft>
            </a:pPr>
            <a:r>
              <a:rPr sz="1200" b="1" i="0">
                <a:solidFill>
                  <a:srgbClr val="B05A00"/>
                </a:solidFill>
                <a:latin typeface="Arial"/>
              </a:rPr>
              <a:t>Reading so far (first, untuned runs)</a:t>
            </a:r>
          </a:p>
          <a:p>
            <a:pPr algn="l">
              <a:spcAft>
                <a:spcPts val="400"/>
              </a:spcAft>
            </a:pPr>
            <a:r>
              <a:rPr sz="1050" b="0" i="0">
                <a:solidFill>
                  <a:srgbClr val="404040"/>
                </a:solidFill>
                <a:latin typeface="Arial"/>
              </a:rPr>
              <a:t>• Clinical alone: CV macro-F1 ≈ 0.57; dropping G/GM costs only 0.037 → no obvious marker shortcut.</a:t>
            </a:r>
          </a:p>
          <a:p>
            <a:pPr algn="l">
              <a:spcAft>
                <a:spcPts val="400"/>
              </a:spcAft>
            </a:pPr>
            <a:r>
              <a:rPr sz="1050" b="0" i="0">
                <a:solidFill>
                  <a:srgbClr val="404040"/>
                </a:solidFill>
                <a:latin typeface="Arial"/>
              </a:rPr>
              <a:t>• CT-only ResNet-18 is the best so far (0.642 ± 0.014).</a:t>
            </a:r>
          </a:p>
          <a:p>
            <a:pPr algn="l">
              <a:spcAft>
                <a:spcPts val="400"/>
              </a:spcAft>
            </a:pPr>
            <a:r>
              <a:rPr sz="1050" b="1" i="0">
                <a:solidFill>
                  <a:srgbClr val="404040"/>
                </a:solidFill>
                <a:latin typeface="Arial"/>
              </a:rPr>
              <a:t>• Fusion (0.618 ± 0.020) does not beat CT-only yet. </a:t>
            </a:r>
            <a:r>
              <a:rPr sz="1050" b="0" i="0">
                <a:solidFill>
                  <a:srgbClr val="404040"/>
                </a:solidFill>
                <a:latin typeface="Arial"/>
              </a:rPr>
              <a:t/>
            </a:r>
          </a:p>
          <a:p>
            <a:pPr algn="l">
              <a:spcAft>
                <a:spcPts val="400"/>
              </a:spcAft>
            </a:pPr>
            <a:r>
              <a:rPr sz="1050" b="0" i="1">
                <a:solidFill>
                  <a:srgbClr val="404040"/>
                </a:solidFill>
                <a:latin typeface="Arial"/>
              </a:rPr>
              <a:t>• These are baseline numbers — why, and what we change next, is on slide 12.</a:t>
            </a:r>
          </a:p>
        </p:txBody>
      </p:sp>
      <p:pic>
        <p:nvPicPr>
          <p:cNvPr id="17" name="Picture 16" descr="fusion_cm.png"/>
          <p:cNvPicPr>
            <a:picLocks noChangeAspect="1"/>
          </p:cNvPicPr>
          <p:nvPr/>
        </p:nvPicPr>
        <p:blipFill>
          <a:blip r:embed="rId2"/>
          <a:stretch>
            <a:fillRect/>
          </a:stretch>
        </p:blipFill>
        <p:spPr>
          <a:xfrm>
            <a:off x="7543800" y="1280160"/>
            <a:ext cx="3917482" cy="3383280"/>
          </a:xfrm>
          <a:prstGeom prst="rect">
            <a:avLst/>
          </a:prstGeom>
        </p:spPr>
      </p:pic>
      <p:sp>
        <p:nvSpPr>
          <p:cNvPr id="18" name="TextBox 17"/>
          <p:cNvSpPr txBox="1"/>
          <p:nvPr/>
        </p:nvSpPr>
        <p:spPr>
          <a:xfrm>
            <a:off x="7543800" y="4754880"/>
            <a:ext cx="3840480" cy="1371600"/>
          </a:xfrm>
          <a:prstGeom prst="rect">
            <a:avLst/>
          </a:prstGeom>
          <a:noFill/>
        </p:spPr>
        <p:txBody>
          <a:bodyPr wrap="square" lIns="0" rIns="0" tIns="0" bIns="0" anchor="t">
            <a:spAutoFit/>
          </a:bodyPr>
          <a:lstStyle/>
          <a:p>
            <a:pPr algn="l"/>
            <a:r>
              <a:rPr sz="1000" b="0" i="0">
                <a:solidFill>
                  <a:srgbClr val="404040"/>
                </a:solidFill>
                <a:latin typeface="Arial"/>
              </a:rPr>
              <a:t>Fusion model, seed 0, 83-scan test set. Most common error: non-Asp. fungi predicted as non-fungal (7 of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Baseline Sanity Check — Where Does the Model Look? (Grad-CAM)</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11</a:t>
            </a:r>
          </a:p>
        </p:txBody>
      </p:sp>
      <p:pic>
        <p:nvPicPr>
          <p:cNvPr id="11" name="Picture 10" descr="gradcam.png"/>
          <p:cNvPicPr>
            <a:picLocks noChangeAspect="1"/>
          </p:cNvPicPr>
          <p:nvPr/>
        </p:nvPicPr>
        <p:blipFill>
          <a:blip r:embed="rId2"/>
          <a:stretch>
            <a:fillRect/>
          </a:stretch>
        </p:blipFill>
        <p:spPr>
          <a:xfrm>
            <a:off x="777240" y="1143000"/>
            <a:ext cx="6691745" cy="5257800"/>
          </a:xfrm>
          <a:prstGeom prst="rect">
            <a:avLst/>
          </a:prstGeom>
        </p:spPr>
      </p:pic>
      <p:sp>
        <p:nvSpPr>
          <p:cNvPr id="12" name="Rectangle 11"/>
          <p:cNvSpPr/>
          <p:nvPr/>
        </p:nvSpPr>
        <p:spPr>
          <a:xfrm>
            <a:off x="7589520" y="1280160"/>
            <a:ext cx="146304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280160"/>
            <a:ext cx="1463040" cy="256032"/>
          </a:xfrm>
          <a:prstGeom prst="rect">
            <a:avLst/>
          </a:prstGeom>
          <a:noFill/>
        </p:spPr>
        <p:txBody>
          <a:bodyPr wrap="square" lIns="0" rIns="0" tIns="0" bIns="0" anchor="ctr">
            <a:spAutoFit/>
          </a:bodyPr>
          <a:lstStyle/>
          <a:p>
            <a:pPr algn="ctr"/>
            <a:r>
              <a:rPr sz="1000" b="1" i="0">
                <a:solidFill>
                  <a:srgbClr val="FFFFFF"/>
                </a:solidFill>
                <a:latin typeface="Arial"/>
              </a:rPr>
              <a:t>WHAT WE SEE</a:t>
            </a:r>
          </a:p>
        </p:txBody>
      </p:sp>
      <p:sp>
        <p:nvSpPr>
          <p:cNvPr id="14" name="TextBox 13"/>
          <p:cNvSpPr txBox="1"/>
          <p:nvPr/>
        </p:nvSpPr>
        <p:spPr>
          <a:xfrm>
            <a:off x="7589520" y="1645920"/>
            <a:ext cx="3840480" cy="2560320"/>
          </a:xfrm>
          <a:prstGeom prst="rect">
            <a:avLst/>
          </a:prstGeom>
          <a:noFill/>
        </p:spPr>
        <p:txBody>
          <a:bodyPr wrap="square" lIns="0" rIns="0" tIns="0" bIns="0" anchor="t">
            <a:spAutoFit/>
          </a:bodyPr>
          <a:lstStyle/>
          <a:p>
            <a:pPr algn="l">
              <a:spcAft>
                <a:spcPts val="600"/>
              </a:spcAft>
            </a:pPr>
            <a:r>
              <a:rPr sz="1050" b="1" i="0">
                <a:solidFill>
                  <a:srgbClr val="0E7C86"/>
                </a:solidFill>
                <a:latin typeface="Arial"/>
              </a:rPr>
              <a:t>• </a:t>
            </a:r>
            <a:r>
              <a:rPr sz="1050" b="1" i="0">
                <a:solidFill>
                  <a:srgbClr val="1A1A1A"/>
                </a:solidFill>
                <a:latin typeface="Arial"/>
              </a:rPr>
              <a:t>Method: </a:t>
            </a:r>
            <a:r>
              <a:rPr sz="1050" b="0" i="0">
                <a:solidFill>
                  <a:srgbClr val="404040"/>
                </a:solidFill>
                <a:latin typeface="Arial"/>
              </a:rPr>
              <a:t>Grad-CAM on ResNet layer 4 for the predicted class; 4 slices with the most saliency per case (most confident correct test case per class).</a:t>
            </a:r>
          </a:p>
          <a:p>
            <a:pPr algn="l">
              <a:spcAft>
                <a:spcPts val="600"/>
              </a:spcAft>
            </a:pPr>
            <a:r>
              <a:rPr sz="1050" b="1" i="0">
                <a:solidFill>
                  <a:srgbClr val="0E7C86"/>
                </a:solidFill>
                <a:latin typeface="Arial"/>
              </a:rPr>
              <a:t>• </a:t>
            </a:r>
            <a:r>
              <a:rPr sz="1050" b="1" i="0">
                <a:solidFill>
                  <a:srgbClr val="1A1A1A"/>
                </a:solidFill>
                <a:latin typeface="Arial"/>
              </a:rPr>
              <a:t>Consistent pattern: </a:t>
            </a:r>
            <a:r>
              <a:rPr sz="1050" b="0" i="0">
                <a:solidFill>
                  <a:srgbClr val="404040"/>
                </a:solidFill>
                <a:latin typeface="Arial"/>
              </a:rPr>
              <a:t>in all three cases the heat sits on the mediastinum and hila (heart, great vessels, central bronchi), not on peripheral lung opacities.</a:t>
            </a:r>
          </a:p>
          <a:p>
            <a:pPr algn="l">
              <a:spcAft>
                <a:spcPts val="600"/>
              </a:spcAft>
            </a:pPr>
            <a:r>
              <a:rPr sz="1050" b="1" i="0">
                <a:solidFill>
                  <a:srgbClr val="0E7C86"/>
                </a:solidFill>
                <a:latin typeface="Arial"/>
              </a:rPr>
              <a:t>• </a:t>
            </a:r>
            <a:r>
              <a:rPr sz="1050" b="1" i="0">
                <a:solidFill>
                  <a:srgbClr val="1A1A1A"/>
                </a:solidFill>
                <a:latin typeface="Arial"/>
              </a:rPr>
              <a:t>Interpretation: </a:t>
            </a:r>
            <a:r>
              <a:rPr sz="1050" b="0" i="0">
                <a:solidFill>
                  <a:srgbClr val="404040"/>
                </a:solidFill>
                <a:latin typeface="Arial"/>
              </a:rPr>
              <a:t>the model may be using anatomy or scan-specific cues rather than infection patterns — a warning sign rather than a finding.</a:t>
            </a:r>
          </a:p>
        </p:txBody>
      </p:sp>
      <p:sp>
        <p:nvSpPr>
          <p:cNvPr id="15" name="Rounded Rectangle 14"/>
          <p:cNvSpPr/>
          <p:nvPr/>
        </p:nvSpPr>
        <p:spPr>
          <a:xfrm>
            <a:off x="7589520" y="4343400"/>
            <a:ext cx="3840480" cy="1600200"/>
          </a:xfrm>
          <a:prstGeom prst="roundRect">
            <a:avLst>
              <a:gd name="adj" fmla="val 6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4434840"/>
            <a:ext cx="3566160" cy="1463040"/>
          </a:xfrm>
          <a:prstGeom prst="rect">
            <a:avLst/>
          </a:prstGeom>
          <a:noFill/>
        </p:spPr>
        <p:txBody>
          <a:bodyPr wrap="square" lIns="0" rIns="0" tIns="0" bIns="0" anchor="t">
            <a:spAutoFit/>
          </a:bodyPr>
          <a:lstStyle/>
          <a:p>
            <a:pPr algn="l">
              <a:spcAft>
                <a:spcPts val="400"/>
              </a:spcAft>
            </a:pPr>
            <a:r>
              <a:rPr sz="1200" b="1" i="0">
                <a:solidFill>
                  <a:srgbClr val="B05A00"/>
                </a:solidFill>
                <a:latin typeface="Arial"/>
              </a:rPr>
              <a:t>Why it matters</a:t>
            </a:r>
          </a:p>
          <a:p>
            <a:pPr algn="l">
              <a:spcAft>
                <a:spcPts val="400"/>
              </a:spcAft>
            </a:pPr>
            <a:r>
              <a:rPr sz="1050" b="0" i="0">
                <a:solidFill>
                  <a:srgbClr val="404040"/>
                </a:solidFill>
                <a:latin typeface="Arial"/>
              </a:rPr>
              <a:t>• A good F1 is not enough — we must check where the model looks</a:t>
            </a:r>
          </a:p>
          <a:p>
            <a:pPr algn="l">
              <a:spcAft>
                <a:spcPts val="400"/>
              </a:spcAft>
            </a:pPr>
            <a:r>
              <a:rPr sz="1050" b="0" i="0">
                <a:solidFill>
                  <a:srgbClr val="404040"/>
                </a:solidFill>
                <a:latin typeface="Arial"/>
              </a:rPr>
              <a:t>• Every case shows p = 1.00 → the probabilities are overconfident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TextBox 4"/>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6" name="Rectangle 5"/>
          <p:cNvSpPr/>
          <p:nvPr/>
        </p:nvSpPr>
        <p:spPr>
          <a:xfrm>
            <a:off x="7589520" y="146304"/>
            <a:ext cx="9144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FFFFFF"/>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From Baseline to Next Experiments — What the First Run Tells Us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12</a:t>
            </a:r>
          </a:p>
        </p:txBody>
      </p:sp>
      <p:sp>
        <p:nvSpPr>
          <p:cNvPr id="11" name="Rectangle 10"/>
          <p:cNvSpPr/>
          <p:nvPr/>
        </p:nvSpPr>
        <p:spPr>
          <a:xfrm>
            <a:off x="822960" y="1280160"/>
            <a:ext cx="347472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3474720" cy="256032"/>
          </a:xfrm>
          <a:prstGeom prst="rect">
            <a:avLst/>
          </a:prstGeom>
          <a:noFill/>
        </p:spPr>
        <p:txBody>
          <a:bodyPr wrap="square" lIns="0" rIns="0" tIns="0" bIns="0" anchor="ctr">
            <a:spAutoFit/>
          </a:bodyPr>
          <a:lstStyle/>
          <a:p>
            <a:pPr algn="ctr"/>
            <a:r>
              <a:rPr sz="1000" b="1" i="0">
                <a:solidFill>
                  <a:srgbClr val="FFFFFF"/>
                </a:solidFill>
                <a:latin typeface="Arial"/>
              </a:rPr>
              <a:t>OBSERVATION → DIAGNOSIS → NEXT STEP</a:t>
            </a:r>
          </a:p>
        </p:txBody>
      </p:sp>
      <p:graphicFrame>
        <p:nvGraphicFramePr>
          <p:cNvPr id="13" name="Table 12"/>
          <p:cNvGraphicFramePr>
            <a:graphicFrameLocks noGrp="1"/>
          </p:cNvGraphicFramePr>
          <p:nvPr/>
        </p:nvGraphicFramePr>
        <p:xfrm>
          <a:off x="822960" y="1645920"/>
          <a:ext cx="10561319" cy="2468880"/>
        </p:xfrm>
        <a:graphic>
          <a:graphicData uri="http://schemas.openxmlformats.org/drawingml/2006/table">
            <a:tbl>
              <a:tblPr firstRow="1" bandRow="1">
                <a:tableStyleId>{5C22544A-7EE6-4342-B048-85BDC9FD1C3A}</a:tableStyleId>
              </a:tblPr>
              <a:tblGrid>
                <a:gridCol w="3520440"/>
                <a:gridCol w="3291840"/>
                <a:gridCol w="3749039"/>
              </a:tblGrid>
              <a:tr h="411480">
                <a:tc>
                  <a:txBody>
                    <a:bodyPr/>
                    <a:lstStyle/>
                    <a:p>
                      <a:pPr algn="l"/>
                      <a:r>
                        <a:rPr sz="1000" b="1">
                          <a:solidFill>
                            <a:srgbClr val="FFFFFF"/>
                          </a:solidFill>
                          <a:latin typeface="Arial"/>
                        </a:rPr>
                        <a:t>What we observed</a:t>
                      </a:r>
                    </a:p>
                  </a:txBody>
                  <a:tcPr marL="73152" marR="73152" marT="18288" marB="18288" anchor="ctr">
                    <a:solidFill>
                      <a:srgbClr val="203864"/>
                    </a:solidFill>
                  </a:tcPr>
                </a:tc>
                <a:tc>
                  <a:txBody>
                    <a:bodyPr/>
                    <a:lstStyle/>
                    <a:p>
                      <a:pPr algn="l"/>
                      <a:r>
                        <a:rPr sz="1000" b="1">
                          <a:solidFill>
                            <a:srgbClr val="FFFFFF"/>
                          </a:solidFill>
                          <a:latin typeface="Arial"/>
                        </a:rPr>
                        <a:t>What it suggests</a:t>
                      </a:r>
                    </a:p>
                  </a:txBody>
                  <a:tcPr marL="73152" marR="73152" marT="18288" marB="18288" anchor="ctr">
                    <a:solidFill>
                      <a:srgbClr val="203864"/>
                    </a:solidFill>
                  </a:tcPr>
                </a:tc>
                <a:tc>
                  <a:txBody>
                    <a:bodyPr/>
                    <a:lstStyle/>
                    <a:p>
                      <a:pPr algn="l"/>
                      <a:r>
                        <a:rPr sz="1000" b="1">
                          <a:solidFill>
                            <a:srgbClr val="FFFFFF"/>
                          </a:solidFill>
                          <a:latin typeface="Arial"/>
                        </a:rPr>
                        <a:t>What we change next</a:t>
                      </a:r>
                    </a:p>
                  </a:txBody>
                  <a:tcPr marL="73152" marR="73152" marT="18288" marB="18288" anchor="ctr">
                    <a:solidFill>
                      <a:srgbClr val="203864"/>
                    </a:solidFill>
                  </a:tcPr>
                </a:tc>
              </a:tr>
              <a:tr h="411480">
                <a:tc>
                  <a:txBody>
                    <a:bodyPr/>
                    <a:lstStyle/>
                    <a:p>
                      <a:pPr algn="l"/>
                      <a:r>
                        <a:rPr sz="1000" b="1">
                          <a:solidFill>
                            <a:srgbClr val="1A1A1A"/>
                          </a:solidFill>
                          <a:latin typeface="Arial"/>
                        </a:rPr>
                        <a:t>Training loss 0.05–0.08, validation F1 0.59–0.63</a:t>
                      </a:r>
                    </a:p>
                  </a:txBody>
                  <a:tcPr marL="73152" marR="73152" marT="18288" marB="18288" anchor="ctr">
                    <a:solidFill>
                      <a:srgbClr val="FFFFFF"/>
                    </a:solidFill>
                  </a:tcPr>
                </a:tc>
                <a:tc>
                  <a:txBody>
                    <a:bodyPr/>
                    <a:lstStyle/>
                    <a:p>
                      <a:pPr algn="l"/>
                      <a:r>
                        <a:rPr sz="1000" b="0">
                          <a:solidFill>
                            <a:srgbClr val="1A1A1A"/>
                          </a:solidFill>
                          <a:latin typeface="Arial"/>
                        </a:rPr>
                        <a:t>The network memorises ~400 training scans</a:t>
                      </a:r>
                    </a:p>
                  </a:txBody>
                  <a:tcPr marL="73152" marR="73152" marT="18288" marB="18288" anchor="ctr">
                    <a:solidFill>
                      <a:srgbClr val="FFFFFF"/>
                    </a:solidFill>
                  </a:tcPr>
                </a:tc>
                <a:tc>
                  <a:txBody>
                    <a:bodyPr/>
                    <a:lstStyle/>
                    <a:p>
                      <a:pPr algn="l"/>
                      <a:r>
                        <a:rPr sz="1000" b="0">
                          <a:solidFill>
                            <a:srgbClr val="1A1A1A"/>
                          </a:solidFill>
                          <a:latin typeface="Arial"/>
                        </a:rPr>
                        <a:t>Augmentation (Exp. 1), partial freezing, stronger regularisation</a:t>
                      </a:r>
                    </a:p>
                  </a:txBody>
                  <a:tcPr marL="73152" marR="73152" marT="18288" marB="18288" anchor="ctr">
                    <a:solidFill>
                      <a:srgbClr val="FFFFFF"/>
                    </a:solidFill>
                  </a:tcPr>
                </a:tc>
              </a:tr>
              <a:tr h="411480">
                <a:tc>
                  <a:txBody>
                    <a:bodyPr/>
                    <a:lstStyle/>
                    <a:p>
                      <a:pPr algn="l"/>
                      <a:r>
                        <a:rPr sz="1000" b="1">
                          <a:solidFill>
                            <a:srgbClr val="1A1A1A"/>
                          </a:solidFill>
                          <a:latin typeface="Arial"/>
                        </a:rPr>
                        <a:t>Grad-CAM heat on mediastinum / hila</a:t>
                      </a:r>
                    </a:p>
                  </a:txBody>
                  <a:tcPr marL="73152" marR="73152" marT="18288" marB="18288" anchor="ctr">
                    <a:solidFill>
                      <a:srgbClr val="F2F5F9"/>
                    </a:solidFill>
                  </a:tcPr>
                </a:tc>
                <a:tc>
                  <a:txBody>
                    <a:bodyPr/>
                    <a:lstStyle/>
                    <a:p>
                      <a:pPr algn="l"/>
                      <a:r>
                        <a:rPr sz="1000" b="0">
                          <a:solidFill>
                            <a:srgbClr val="1A1A1A"/>
                          </a:solidFill>
                          <a:latin typeface="Arial"/>
                        </a:rPr>
                        <a:t>Model may rely on non-lung cues</a:t>
                      </a:r>
                    </a:p>
                  </a:txBody>
                  <a:tcPr marL="73152" marR="73152" marT="18288" marB="18288" anchor="ctr">
                    <a:solidFill>
                      <a:srgbClr val="F2F5F9"/>
                    </a:solidFill>
                  </a:tcPr>
                </a:tc>
                <a:tc>
                  <a:txBody>
                    <a:bodyPr/>
                    <a:lstStyle/>
                    <a:p>
                      <a:pPr algn="l"/>
                      <a:r>
                        <a:rPr sz="1000" b="0">
                          <a:solidFill>
                            <a:srgbClr val="1A1A1A"/>
                          </a:solidFill>
                          <a:latin typeface="Arial"/>
                        </a:rPr>
                        <a:t>Mask non-lung pixels, re-run baseline, re-check saliency</a:t>
                      </a:r>
                    </a:p>
                  </a:txBody>
                  <a:tcPr marL="73152" marR="73152" marT="18288" marB="18288" anchor="ctr">
                    <a:solidFill>
                      <a:srgbClr val="F2F5F9"/>
                    </a:solidFill>
                  </a:tcPr>
                </a:tc>
              </a:tr>
              <a:tr h="411480">
                <a:tc>
                  <a:txBody>
                    <a:bodyPr/>
                    <a:lstStyle/>
                    <a:p>
                      <a:pPr algn="l"/>
                      <a:r>
                        <a:rPr sz="1000" b="1">
                          <a:solidFill>
                            <a:srgbClr val="1A1A1A"/>
                          </a:solidFill>
                          <a:latin typeface="Arial"/>
                        </a:rPr>
                        <a:t>Fusion 0.618 vs CT-only 0.642</a:t>
                      </a:r>
                    </a:p>
                  </a:txBody>
                  <a:tcPr marL="73152" marR="73152" marT="18288" marB="18288" anchor="ctr">
                    <a:solidFill>
                      <a:srgbClr val="FFFFFF"/>
                    </a:solidFill>
                  </a:tcPr>
                </a:tc>
                <a:tc>
                  <a:txBody>
                    <a:bodyPr/>
                    <a:lstStyle/>
                    <a:p>
                      <a:pPr algn="l"/>
                      <a:r>
                        <a:rPr sz="1000" b="0">
                          <a:solidFill>
                            <a:srgbClr val="1A1A1A"/>
                          </a:solidFill>
                          <a:latin typeface="Arial"/>
                        </a:rPr>
                        <a:t>64-d clinical vector outweighed by 512 CT features</a:t>
                      </a:r>
                    </a:p>
                  </a:txBody>
                  <a:tcPr marL="73152" marR="73152" marT="18288" marB="18288" anchor="ctr">
                    <a:solidFill>
                      <a:srgbClr val="FFFFFF"/>
                    </a:solidFill>
                  </a:tcPr>
                </a:tc>
                <a:tc>
                  <a:txBody>
                    <a:bodyPr/>
                    <a:lstStyle/>
                    <a:p>
                      <a:pPr algn="l"/>
                      <a:r>
                        <a:rPr sz="1000" b="0">
                          <a:solidFill>
                            <a:srgbClr val="1A1A1A"/>
                          </a:solidFill>
                          <a:latin typeface="Arial"/>
                        </a:rPr>
                        <a:t>Late fusion of CT and clinical probabilities (Exp. 2)</a:t>
                      </a:r>
                    </a:p>
                  </a:txBody>
                  <a:tcPr marL="73152" marR="73152" marT="18288" marB="18288" anchor="ctr">
                    <a:solidFill>
                      <a:srgbClr val="FFFFFF"/>
                    </a:solidFill>
                  </a:tcPr>
                </a:tc>
              </a:tr>
              <a:tr h="411480">
                <a:tc>
                  <a:txBody>
                    <a:bodyPr/>
                    <a:lstStyle/>
                    <a:p>
                      <a:pPr algn="l"/>
                      <a:r>
                        <a:rPr sz="1000" b="1">
                          <a:solidFill>
                            <a:srgbClr val="1A1A1A"/>
                          </a:solidFill>
                          <a:latin typeface="Arial"/>
                        </a:rPr>
                        <a:t>Predicted probabilities ≈ 1.00</a:t>
                      </a:r>
                    </a:p>
                  </a:txBody>
                  <a:tcPr marL="73152" marR="73152" marT="18288" marB="18288" anchor="ctr">
                    <a:solidFill>
                      <a:srgbClr val="F2F5F9"/>
                    </a:solidFill>
                  </a:tcPr>
                </a:tc>
                <a:tc>
                  <a:txBody>
                    <a:bodyPr/>
                    <a:lstStyle/>
                    <a:p>
                      <a:pPr algn="l"/>
                      <a:r>
                        <a:rPr sz="1000" b="0">
                          <a:solidFill>
                            <a:srgbClr val="1A1A1A"/>
                          </a:solidFill>
                          <a:latin typeface="Arial"/>
                        </a:rPr>
                        <a:t>Overconfident outputs</a:t>
                      </a:r>
                    </a:p>
                  </a:txBody>
                  <a:tcPr marL="73152" marR="73152" marT="18288" marB="18288" anchor="ctr">
                    <a:solidFill>
                      <a:srgbClr val="F2F5F9"/>
                    </a:solidFill>
                  </a:tcPr>
                </a:tc>
                <a:tc>
                  <a:txBody>
                    <a:bodyPr/>
                    <a:lstStyle/>
                    <a:p>
                      <a:pPr algn="l"/>
                      <a:r>
                        <a:rPr sz="1000" b="0">
                          <a:solidFill>
                            <a:srgbClr val="1A1A1A"/>
                          </a:solidFill>
                          <a:latin typeface="Arial"/>
                        </a:rPr>
                        <a:t>Temperature scaling before the 'uncertain' flag</a:t>
                      </a:r>
                    </a:p>
                  </a:txBody>
                  <a:tcPr marL="73152" marR="73152" marT="18288" marB="18288" anchor="ctr">
                    <a:solidFill>
                      <a:srgbClr val="F2F5F9"/>
                    </a:solidFill>
                  </a:tcPr>
                </a:tc>
              </a:tr>
              <a:tr h="411480">
                <a:tc>
                  <a:txBody>
                    <a:bodyPr/>
                    <a:lstStyle/>
                    <a:p>
                      <a:pPr algn="l"/>
                      <a:r>
                        <a:rPr sz="1000" b="1">
                          <a:solidFill>
                            <a:srgbClr val="1A1A1A"/>
                          </a:solidFill>
                          <a:latin typeface="Arial"/>
                        </a:rPr>
                        <a:t>12 one-lung crops (already fixed)</a:t>
                      </a:r>
                    </a:p>
                  </a:txBody>
                  <a:tcPr marL="73152" marR="73152" marT="18288" marB="18288" anchor="ctr">
                    <a:solidFill>
                      <a:srgbClr val="FFFFFF"/>
                    </a:solidFill>
                  </a:tcPr>
                </a:tc>
                <a:tc>
                  <a:txBody>
                    <a:bodyPr/>
                    <a:lstStyle/>
                    <a:p>
                      <a:pPr algn="l"/>
                      <a:r>
                        <a:rPr sz="1000" b="0">
                          <a:solidFill>
                            <a:srgbClr val="1A1A1A"/>
                          </a:solidFill>
                          <a:latin typeface="Arial"/>
                        </a:rPr>
                        <a:t>Preprocessing needs routine QA</a:t>
                      </a:r>
                    </a:p>
                  </a:txBody>
                  <a:tcPr marL="73152" marR="73152" marT="18288" marB="18288" anchor="ctr">
                    <a:solidFill>
                      <a:srgbClr val="FFFFFF"/>
                    </a:solidFill>
                  </a:tcPr>
                </a:tc>
                <a:tc>
                  <a:txBody>
                    <a:bodyPr/>
                    <a:lstStyle/>
                    <a:p>
                      <a:pPr algn="l"/>
                      <a:r>
                        <a:rPr sz="1000" b="0">
                          <a:solidFill>
                            <a:srgbClr val="1A1A1A"/>
                          </a:solidFill>
                          <a:latin typeface="Arial"/>
                        </a:rPr>
                        <a:t>Crop-size check kept in the pipeline</a:t>
                      </a:r>
                    </a:p>
                  </a:txBody>
                  <a:tcPr marL="73152" marR="73152" marT="18288" marB="18288" anchor="ctr">
                    <a:solidFill>
                      <a:srgbClr val="FFFFFF"/>
                    </a:solidFill>
                  </a:tcPr>
                </a:tc>
              </a:tr>
            </a:tbl>
          </a:graphicData>
        </a:graphic>
      </p:graphicFrame>
      <p:sp>
        <p:nvSpPr>
          <p:cNvPr id="14" name="Pentagon 13"/>
          <p:cNvSpPr/>
          <p:nvPr/>
        </p:nvSpPr>
        <p:spPr>
          <a:xfrm>
            <a:off x="822960" y="4251960"/>
            <a:ext cx="2176272" cy="566928"/>
          </a:xfrm>
          <a:prstGeom prst="homePlat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251960"/>
            <a:ext cx="1764792" cy="566928"/>
          </a:xfrm>
          <a:prstGeom prst="rect">
            <a:avLst/>
          </a:prstGeom>
          <a:noFill/>
        </p:spPr>
        <p:txBody>
          <a:bodyPr wrap="square" lIns="0" rIns="0" tIns="0" bIns="0" anchor="ctr">
            <a:spAutoFit/>
          </a:bodyPr>
          <a:lstStyle/>
          <a:p>
            <a:pPr algn="ctr"/>
            <a:r>
              <a:rPr sz="950" b="1" i="0">
                <a:solidFill>
                  <a:srgbClr val="FFFFFF"/>
                </a:solidFill>
                <a:latin typeface="Arial"/>
              </a:rPr>
              <a:t>✓ Baseline
(we are here)</a:t>
            </a:r>
          </a:p>
        </p:txBody>
      </p:sp>
      <p:sp>
        <p:nvSpPr>
          <p:cNvPr id="16" name="Chevron 15"/>
          <p:cNvSpPr/>
          <p:nvPr/>
        </p:nvSpPr>
        <p:spPr>
          <a:xfrm>
            <a:off x="2935224" y="4251960"/>
            <a:ext cx="2176272" cy="566928"/>
          </a:xfrm>
          <a:prstGeom prst="chevron">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63824" y="4251960"/>
            <a:ext cx="1764792" cy="566928"/>
          </a:xfrm>
          <a:prstGeom prst="rect">
            <a:avLst/>
          </a:prstGeom>
          <a:noFill/>
        </p:spPr>
        <p:txBody>
          <a:bodyPr wrap="square" lIns="0" rIns="0" tIns="0" bIns="0" anchor="ctr">
            <a:spAutoFit/>
          </a:bodyPr>
          <a:lstStyle/>
          <a:p>
            <a:pPr algn="ctr"/>
            <a:r>
              <a:rPr sz="950" b="1" i="0">
                <a:solidFill>
                  <a:srgbClr val="FFFFFF"/>
                </a:solidFill>
                <a:latin typeface="Arial"/>
              </a:rPr>
              <a:t>Fix data &amp; training
masking, regularisation</a:t>
            </a:r>
          </a:p>
        </p:txBody>
      </p:sp>
      <p:sp>
        <p:nvSpPr>
          <p:cNvPr id="18" name="Chevron 17"/>
          <p:cNvSpPr/>
          <p:nvPr/>
        </p:nvSpPr>
        <p:spPr>
          <a:xfrm>
            <a:off x="5047488" y="4251960"/>
            <a:ext cx="2176272" cy="566928"/>
          </a:xfrm>
          <a:prstGeom prst="chevron">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76088" y="4251960"/>
            <a:ext cx="1764792" cy="566928"/>
          </a:xfrm>
          <a:prstGeom prst="rect">
            <a:avLst/>
          </a:prstGeom>
          <a:noFill/>
        </p:spPr>
        <p:txBody>
          <a:bodyPr wrap="square" lIns="0" rIns="0" tIns="0" bIns="0" anchor="ctr">
            <a:spAutoFit/>
          </a:bodyPr>
          <a:lstStyle/>
          <a:p>
            <a:pPr algn="ctr"/>
            <a:r>
              <a:rPr sz="950" b="1" i="0">
                <a:solidFill>
                  <a:srgbClr val="FFFFFF"/>
                </a:solidFill>
                <a:latin typeface="Arial"/>
              </a:rPr>
              <a:t>Exp. 1 · Data
prep, augmentation, size</a:t>
            </a:r>
          </a:p>
        </p:txBody>
      </p:sp>
      <p:sp>
        <p:nvSpPr>
          <p:cNvPr id="20" name="Chevron 19"/>
          <p:cNvSpPr/>
          <p:nvPr/>
        </p:nvSpPr>
        <p:spPr>
          <a:xfrm>
            <a:off x="7159752" y="4251960"/>
            <a:ext cx="2176272" cy="566928"/>
          </a:xfrm>
          <a:prstGeom prst="chevron">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4251960"/>
            <a:ext cx="1764792" cy="566928"/>
          </a:xfrm>
          <a:prstGeom prst="rect">
            <a:avLst/>
          </a:prstGeom>
          <a:noFill/>
        </p:spPr>
        <p:txBody>
          <a:bodyPr wrap="square" lIns="0" rIns="0" tIns="0" bIns="0" anchor="ctr">
            <a:spAutoFit/>
          </a:bodyPr>
          <a:lstStyle/>
          <a:p>
            <a:pPr algn="ctr"/>
            <a:r>
              <a:rPr sz="950" b="1" i="0">
                <a:solidFill>
                  <a:srgbClr val="FFFFFF"/>
                </a:solidFill>
                <a:latin typeface="Arial"/>
              </a:rPr>
              <a:t>Exp. 2 · Model
modality, fusion, backbone</a:t>
            </a:r>
          </a:p>
        </p:txBody>
      </p:sp>
      <p:sp>
        <p:nvSpPr>
          <p:cNvPr id="22" name="Chevron 21"/>
          <p:cNvSpPr/>
          <p:nvPr/>
        </p:nvSpPr>
        <p:spPr>
          <a:xfrm>
            <a:off x="9272016" y="4251960"/>
            <a:ext cx="2176272" cy="566928"/>
          </a:xfrm>
          <a:prstGeom prst="chevron">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0616" y="4251960"/>
            <a:ext cx="1764792" cy="566928"/>
          </a:xfrm>
          <a:prstGeom prst="rect">
            <a:avLst/>
          </a:prstGeom>
          <a:noFill/>
        </p:spPr>
        <p:txBody>
          <a:bodyPr wrap="square" lIns="0" rIns="0" tIns="0" bIns="0" anchor="ctr">
            <a:spAutoFit/>
          </a:bodyPr>
          <a:lstStyle/>
          <a:p>
            <a:pPr algn="ctr"/>
            <a:r>
              <a:rPr sz="950" b="1" i="0">
                <a:solidFill>
                  <a:srgbClr val="FFFFFF"/>
                </a:solidFill>
                <a:latin typeface="Arial"/>
              </a:rPr>
              <a:t>Test set
once</a:t>
            </a:r>
          </a:p>
        </p:txBody>
      </p:sp>
      <p:sp>
        <p:nvSpPr>
          <p:cNvPr id="24" name="Rounded Rectangle 23"/>
          <p:cNvSpPr/>
          <p:nvPr/>
        </p:nvSpPr>
        <p:spPr>
          <a:xfrm>
            <a:off x="822960" y="5029200"/>
            <a:ext cx="3383280" cy="12344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5102352"/>
            <a:ext cx="64008" cy="10881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120640"/>
            <a:ext cx="3108960" cy="274320"/>
          </a:xfrm>
          <a:prstGeom prst="rect">
            <a:avLst/>
          </a:prstGeom>
          <a:noFill/>
        </p:spPr>
        <p:txBody>
          <a:bodyPr wrap="square" lIns="0" rIns="0" tIns="0" bIns="0" anchor="t">
            <a:spAutoFit/>
          </a:bodyPr>
          <a:lstStyle/>
          <a:p>
            <a:pPr algn="l"/>
            <a:r>
              <a:rPr sz="1100" b="1" i="0">
                <a:solidFill>
                  <a:srgbClr val="203864"/>
                </a:solidFill>
                <a:latin typeface="Arial"/>
              </a:rPr>
              <a:t>1 · Data fixes → re-run everything</a:t>
            </a:r>
          </a:p>
        </p:txBody>
      </p:sp>
      <p:sp>
        <p:nvSpPr>
          <p:cNvPr id="27" name="TextBox 26"/>
          <p:cNvSpPr txBox="1"/>
          <p:nvPr/>
        </p:nvSpPr>
        <p:spPr>
          <a:xfrm>
            <a:off x="1005840" y="5413248"/>
            <a:ext cx="3108960" cy="777240"/>
          </a:xfrm>
          <a:prstGeom prst="rect">
            <a:avLst/>
          </a:prstGeom>
          <a:noFill/>
        </p:spPr>
        <p:txBody>
          <a:bodyPr wrap="square" lIns="0" rIns="0" tIns="0" bIns="0" anchor="t">
            <a:spAutoFit/>
          </a:bodyPr>
          <a:lstStyle/>
          <a:p>
            <a:pPr algn="l"/>
            <a:r>
              <a:rPr sz="950" b="0" i="0">
                <a:solidFill>
                  <a:srgbClr val="404040"/>
                </a:solidFill>
                <a:latin typeface="Arial"/>
              </a:rPr>
              <a:t>Masking or crop changes alter the input, so the baseline is re-run too — otherwise comparisons are unfair.</a:t>
            </a:r>
          </a:p>
        </p:txBody>
      </p:sp>
      <p:sp>
        <p:nvSpPr>
          <p:cNvPr id="28" name="Rounded Rectangle 27"/>
          <p:cNvSpPr/>
          <p:nvPr/>
        </p:nvSpPr>
        <p:spPr>
          <a:xfrm>
            <a:off x="4389120" y="5029200"/>
            <a:ext cx="3383280" cy="12344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0" y="5102352"/>
            <a:ext cx="64008" cy="10881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0" y="5120640"/>
            <a:ext cx="3108960" cy="274320"/>
          </a:xfrm>
          <a:prstGeom prst="rect">
            <a:avLst/>
          </a:prstGeom>
          <a:noFill/>
        </p:spPr>
        <p:txBody>
          <a:bodyPr wrap="square" lIns="0" rIns="0" tIns="0" bIns="0" anchor="t">
            <a:spAutoFit/>
          </a:bodyPr>
          <a:lstStyle/>
          <a:p>
            <a:pPr algn="l"/>
            <a:r>
              <a:rPr sz="1100" b="1" i="0">
                <a:solidFill>
                  <a:srgbClr val="0E7C86"/>
                </a:solidFill>
                <a:latin typeface="Arial"/>
              </a:rPr>
              <a:t>2 · Augmentation ≠ more patients</a:t>
            </a:r>
          </a:p>
        </p:txBody>
      </p:sp>
      <p:sp>
        <p:nvSpPr>
          <p:cNvPr id="31" name="TextBox 30"/>
          <p:cNvSpPr txBox="1"/>
          <p:nvPr/>
        </p:nvSpPr>
        <p:spPr>
          <a:xfrm>
            <a:off x="4572000" y="5413248"/>
            <a:ext cx="3108960" cy="777240"/>
          </a:xfrm>
          <a:prstGeom prst="rect">
            <a:avLst/>
          </a:prstGeom>
          <a:noFill/>
        </p:spPr>
        <p:txBody>
          <a:bodyPr wrap="square" lIns="0" rIns="0" tIns="0" bIns="0" anchor="t">
            <a:spAutoFit/>
          </a:bodyPr>
          <a:lstStyle/>
          <a:p>
            <a:pPr algn="l"/>
            <a:r>
              <a:rPr sz="950" b="0" i="0">
                <a:solidFill>
                  <a:srgbClr val="404040"/>
                </a:solidFill>
                <a:latin typeface="Arial"/>
              </a:rPr>
              <a:t>It is a training-time factor compared in Exp. 1; the dataset and the split stay unchanged.</a:t>
            </a:r>
          </a:p>
        </p:txBody>
      </p:sp>
      <p:sp>
        <p:nvSpPr>
          <p:cNvPr id="32" name="Rounded Rectangle 31"/>
          <p:cNvSpPr/>
          <p:nvPr/>
        </p:nvSpPr>
        <p:spPr>
          <a:xfrm>
            <a:off x="7955279" y="5029200"/>
            <a:ext cx="3383280" cy="12344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955279" y="5102352"/>
            <a:ext cx="64008" cy="1088136"/>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38159" y="5120640"/>
            <a:ext cx="3108960" cy="274320"/>
          </a:xfrm>
          <a:prstGeom prst="rect">
            <a:avLst/>
          </a:prstGeom>
          <a:noFill/>
        </p:spPr>
        <p:txBody>
          <a:bodyPr wrap="square" lIns="0" rIns="0" tIns="0" bIns="0" anchor="t">
            <a:spAutoFit/>
          </a:bodyPr>
          <a:lstStyle/>
          <a:p>
            <a:pPr algn="l"/>
            <a:r>
              <a:rPr sz="1100" b="1" i="0">
                <a:solidFill>
                  <a:srgbClr val="B05A00"/>
                </a:solidFill>
                <a:latin typeface="Arial"/>
              </a:rPr>
              <a:t>3 · Test set used once</a:t>
            </a:r>
          </a:p>
        </p:txBody>
      </p:sp>
      <p:sp>
        <p:nvSpPr>
          <p:cNvPr id="35" name="TextBox 34"/>
          <p:cNvSpPr txBox="1"/>
          <p:nvPr/>
        </p:nvSpPr>
        <p:spPr>
          <a:xfrm>
            <a:off x="8138159" y="5413248"/>
            <a:ext cx="3108960" cy="777240"/>
          </a:xfrm>
          <a:prstGeom prst="rect">
            <a:avLst/>
          </a:prstGeom>
          <a:noFill/>
        </p:spPr>
        <p:txBody>
          <a:bodyPr wrap="square" lIns="0" rIns="0" tIns="0" bIns="0" anchor="t">
            <a:spAutoFit/>
          </a:bodyPr>
          <a:lstStyle/>
          <a:p>
            <a:pPr algn="l"/>
            <a:r>
              <a:rPr sz="950" b="0" i="0">
                <a:solidFill>
                  <a:srgbClr val="404040"/>
                </a:solidFill>
                <a:latin typeface="Arial"/>
              </a:rPr>
              <a:t>Choices are made on validation / 5-fold group CV; today's test numbers are a first look only.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TextBox 4"/>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6" name="Rectangle 5"/>
          <p:cNvSpPr/>
          <p:nvPr/>
        </p:nvSpPr>
        <p:spPr>
          <a:xfrm>
            <a:off x="7589520" y="146304"/>
            <a:ext cx="9144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FFFFFF"/>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Prototype Interface and Timeline</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13</a:t>
            </a:r>
          </a:p>
        </p:txBody>
      </p:sp>
      <p:sp>
        <p:nvSpPr>
          <p:cNvPr id="11" name="Rectangle 10"/>
          <p:cNvSpPr/>
          <p:nvPr/>
        </p:nvSpPr>
        <p:spPr>
          <a:xfrm>
            <a:off x="822960" y="1280160"/>
            <a:ext cx="210312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103120" cy="256032"/>
          </a:xfrm>
          <a:prstGeom prst="rect">
            <a:avLst/>
          </a:prstGeom>
          <a:noFill/>
        </p:spPr>
        <p:txBody>
          <a:bodyPr wrap="square" lIns="0" rIns="0" tIns="0" bIns="0" anchor="ctr">
            <a:spAutoFit/>
          </a:bodyPr>
          <a:lstStyle/>
          <a:p>
            <a:pPr algn="ctr"/>
            <a:r>
              <a:rPr sz="1000" b="1" i="0">
                <a:solidFill>
                  <a:srgbClr val="FFFFFF"/>
                </a:solidFill>
                <a:latin typeface="Arial"/>
              </a:rPr>
              <a:t>PLANNED UI (MOCK-UP)</a:t>
            </a:r>
          </a:p>
        </p:txBody>
      </p:sp>
      <p:sp>
        <p:nvSpPr>
          <p:cNvPr id="13" name="Rectangle 12"/>
          <p:cNvSpPr/>
          <p:nvPr/>
        </p:nvSpPr>
        <p:spPr>
          <a:xfrm>
            <a:off x="822960" y="1645920"/>
            <a:ext cx="5852160" cy="4251960"/>
          </a:xfrm>
          <a:prstGeom prst="rect">
            <a:avLst/>
          </a:prstGeom>
          <a:solidFill>
            <a:srgbClr val="1E2433"/>
          </a:solidFill>
          <a:ln w="12700">
            <a:solidFill>
              <a:srgbClr val="1E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120" y="1783080"/>
            <a:ext cx="3383280" cy="3383280"/>
          </a:xfrm>
          <a:prstGeom prst="rect">
            <a:avLst/>
          </a:prstGeom>
          <a:solidFill>
            <a:srgbClr val="000000"/>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ui_slice.png"/>
          <p:cNvPicPr>
            <a:picLocks noChangeAspect="1"/>
          </p:cNvPicPr>
          <p:nvPr/>
        </p:nvPicPr>
        <p:blipFill>
          <a:blip r:embed="rId2"/>
          <a:stretch>
            <a:fillRect/>
          </a:stretch>
        </p:blipFill>
        <p:spPr>
          <a:xfrm>
            <a:off x="1005840" y="1828800"/>
            <a:ext cx="3291840" cy="3291840"/>
          </a:xfrm>
          <a:prstGeom prst="rect">
            <a:avLst/>
          </a:prstGeom>
        </p:spPr>
      </p:pic>
      <p:sp>
        <p:nvSpPr>
          <p:cNvPr id="16" name="TextBox 15"/>
          <p:cNvSpPr txBox="1"/>
          <p:nvPr/>
        </p:nvSpPr>
        <p:spPr>
          <a:xfrm>
            <a:off x="960120" y="5212080"/>
            <a:ext cx="3383280" cy="274320"/>
          </a:xfrm>
          <a:prstGeom prst="rect">
            <a:avLst/>
          </a:prstGeom>
          <a:noFill/>
        </p:spPr>
        <p:txBody>
          <a:bodyPr wrap="square" lIns="0" rIns="0" tIns="0" bIns="0" anchor="t">
            <a:spAutoFit/>
          </a:bodyPr>
          <a:lstStyle/>
          <a:p>
            <a:pPr algn="l"/>
            <a:r>
              <a:rPr sz="900" b="0" i="0">
                <a:solidFill>
                  <a:srgbClr val="C9D1E0"/>
                </a:solidFill>
                <a:latin typeface="Arial"/>
              </a:rPr>
              <a:t>◀  slice 40 / 73  ▶     ☐ show saliency</a:t>
            </a:r>
          </a:p>
        </p:txBody>
      </p:sp>
      <p:sp>
        <p:nvSpPr>
          <p:cNvPr id="17" name="TextBox 16"/>
          <p:cNvSpPr txBox="1"/>
          <p:nvPr/>
        </p:nvSpPr>
        <p:spPr>
          <a:xfrm>
            <a:off x="960120" y="5577840"/>
            <a:ext cx="5577840" cy="502920"/>
          </a:xfrm>
          <a:prstGeom prst="rect">
            <a:avLst/>
          </a:prstGeom>
          <a:noFill/>
        </p:spPr>
        <p:txBody>
          <a:bodyPr wrap="square" lIns="0" rIns="0" tIns="0" bIns="0" anchor="t">
            <a:spAutoFit/>
          </a:bodyPr>
          <a:lstStyle/>
          <a:p>
            <a:pPr algn="l"/>
            <a:r>
              <a:rPr sz="900" b="0" i="1">
                <a:solidFill>
                  <a:srgbClr val="F2C46D"/>
                </a:solidFill>
                <a:latin typeface="Arial"/>
              </a:rPr>
              <a:t>Research prototype — decision support only, not a diagnosis.</a:t>
            </a:r>
          </a:p>
        </p:txBody>
      </p:sp>
      <p:sp>
        <p:nvSpPr>
          <p:cNvPr id="18" name="Rectangle 17"/>
          <p:cNvSpPr/>
          <p:nvPr/>
        </p:nvSpPr>
        <p:spPr>
          <a:xfrm>
            <a:off x="4480560" y="1783080"/>
            <a:ext cx="2057400" cy="1417320"/>
          </a:xfrm>
          <a:prstGeom prst="rect">
            <a:avLst/>
          </a:prstGeom>
          <a:solidFill>
            <a:srgbClr val="2A3245"/>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828800"/>
            <a:ext cx="1920240" cy="1325880"/>
          </a:xfrm>
          <a:prstGeom prst="rect">
            <a:avLst/>
          </a:prstGeom>
          <a:noFill/>
        </p:spPr>
        <p:txBody>
          <a:bodyPr wrap="square" lIns="0" rIns="0" tIns="0" bIns="0" anchor="t">
            <a:spAutoFit/>
          </a:bodyPr>
          <a:lstStyle/>
          <a:p>
            <a:pPr algn="l"/>
            <a:r>
              <a:rPr sz="850" b="1" i="0">
                <a:solidFill>
                  <a:srgbClr val="FFFFFF"/>
                </a:solidFill>
                <a:latin typeface="Arial"/>
              </a:rPr>
              <a:t>Clinical record · Case 071</a:t>
            </a:r>
          </a:p>
          <a:p>
            <a:pPr algn="l"/>
            <a:r>
              <a:rPr sz="850" b="0" i="0">
                <a:solidFill>
                  <a:srgbClr val="C9D1E0"/>
                </a:solidFill>
                <a:latin typeface="Arial"/>
              </a:rPr>
              <a:t>Age 27 · M</a:t>
            </a:r>
          </a:p>
          <a:p>
            <a:pPr algn="l"/>
            <a:r>
              <a:rPr sz="850" b="0" i="0">
                <a:solidFill>
                  <a:srgbClr val="C9D1E0"/>
                </a:solidFill>
                <a:latin typeface="Arial"/>
              </a:rPr>
              <a:t>Immunosuppressants − · AIDS −</a:t>
            </a:r>
          </a:p>
          <a:p>
            <a:pPr algn="l"/>
            <a:r>
              <a:rPr sz="850" b="0" i="0">
                <a:solidFill>
                  <a:srgbClr val="C9D1E0"/>
                </a:solidFill>
                <a:latin typeface="Arial"/>
              </a:rPr>
              <a:t>G − · GM −</a:t>
            </a:r>
          </a:p>
          <a:p>
            <a:pPr algn="l"/>
            <a:r>
              <a:rPr sz="850" b="0" i="0">
                <a:solidFill>
                  <a:srgbClr val="C9D1E0"/>
                </a:solidFill>
                <a:latin typeface="Arial"/>
              </a:rPr>
              <a:t>Lymphocytes 2.41</a:t>
            </a:r>
          </a:p>
          <a:p>
            <a:pPr algn="l"/>
            <a:r>
              <a:rPr sz="850" b="0" i="0">
                <a:solidFill>
                  <a:srgbClr val="C9D1E0"/>
                </a:solidFill>
                <a:latin typeface="Arial"/>
              </a:rPr>
              <a:t>D-dimer n/a</a:t>
            </a:r>
          </a:p>
        </p:txBody>
      </p:sp>
      <p:sp>
        <p:nvSpPr>
          <p:cNvPr id="20" name="Rectangle 19"/>
          <p:cNvSpPr/>
          <p:nvPr/>
        </p:nvSpPr>
        <p:spPr>
          <a:xfrm>
            <a:off x="4480560" y="3291840"/>
            <a:ext cx="2057400" cy="1874519"/>
          </a:xfrm>
          <a:prstGeom prst="rect">
            <a:avLst/>
          </a:prstGeom>
          <a:solidFill>
            <a:srgbClr val="2A3245"/>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337560"/>
            <a:ext cx="1920240" cy="274320"/>
          </a:xfrm>
          <a:prstGeom prst="rect">
            <a:avLst/>
          </a:prstGeom>
          <a:noFill/>
        </p:spPr>
        <p:txBody>
          <a:bodyPr wrap="square" lIns="0" rIns="0" tIns="0" bIns="0" anchor="t">
            <a:spAutoFit/>
          </a:bodyPr>
          <a:lstStyle/>
          <a:p>
            <a:pPr algn="l"/>
            <a:r>
              <a:rPr sz="950" b="1" i="0">
                <a:solidFill>
                  <a:srgbClr val="FFFFFF"/>
                </a:solidFill>
                <a:latin typeface="Arial"/>
              </a:rPr>
              <a:t>Prediction</a:t>
            </a:r>
          </a:p>
        </p:txBody>
      </p:sp>
      <p:sp>
        <p:nvSpPr>
          <p:cNvPr id="22" name="TextBox 21"/>
          <p:cNvSpPr txBox="1"/>
          <p:nvPr/>
        </p:nvSpPr>
        <p:spPr>
          <a:xfrm>
            <a:off x="4572000" y="3657600"/>
            <a:ext cx="1920240" cy="182880"/>
          </a:xfrm>
          <a:prstGeom prst="rect">
            <a:avLst/>
          </a:prstGeom>
          <a:noFill/>
        </p:spPr>
        <p:txBody>
          <a:bodyPr wrap="square" lIns="0" rIns="0" tIns="0" bIns="0" anchor="t">
            <a:spAutoFit/>
          </a:bodyPr>
          <a:lstStyle/>
          <a:p>
            <a:pPr algn="l"/>
            <a:r>
              <a:rPr sz="850" b="0" i="0">
                <a:solidFill>
                  <a:srgbClr val="C9D1E0"/>
                </a:solidFill>
                <a:latin typeface="Arial"/>
              </a:rPr>
              <a:t>Aspergillus</a:t>
            </a:r>
          </a:p>
        </p:txBody>
      </p:sp>
      <p:sp>
        <p:nvSpPr>
          <p:cNvPr id="23" name="Rectangle 22"/>
          <p:cNvSpPr/>
          <p:nvPr/>
        </p:nvSpPr>
        <p:spPr>
          <a:xfrm>
            <a:off x="4572000" y="3858768"/>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0" y="3858768"/>
            <a:ext cx="1298448" cy="109728"/>
          </a:xfrm>
          <a:prstGeom prst="rect">
            <a:avLst/>
          </a:prstGeom>
          <a:solidFill>
            <a:srgbClr val="2E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4096512"/>
            <a:ext cx="1920240" cy="182880"/>
          </a:xfrm>
          <a:prstGeom prst="rect">
            <a:avLst/>
          </a:prstGeom>
          <a:noFill/>
        </p:spPr>
        <p:txBody>
          <a:bodyPr wrap="square" lIns="0" rIns="0" tIns="0" bIns="0" anchor="t">
            <a:spAutoFit/>
          </a:bodyPr>
          <a:lstStyle/>
          <a:p>
            <a:pPr algn="l"/>
            <a:r>
              <a:rPr sz="850" b="0" i="0">
                <a:solidFill>
                  <a:srgbClr val="C9D1E0"/>
                </a:solidFill>
                <a:latin typeface="Arial"/>
              </a:rPr>
              <a:t>Non-Asp. fungi</a:t>
            </a:r>
          </a:p>
        </p:txBody>
      </p:sp>
      <p:sp>
        <p:nvSpPr>
          <p:cNvPr id="26" name="Rectangle 25"/>
          <p:cNvSpPr/>
          <p:nvPr/>
        </p:nvSpPr>
        <p:spPr>
          <a:xfrm>
            <a:off x="4572000" y="4297680"/>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297680"/>
            <a:ext cx="329184" cy="109728"/>
          </a:xfrm>
          <a:prstGeom prst="rect">
            <a:avLst/>
          </a:prstGeom>
          <a:solidFill>
            <a:srgbClr val="0F9A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535424"/>
            <a:ext cx="1920240" cy="182880"/>
          </a:xfrm>
          <a:prstGeom prst="rect">
            <a:avLst/>
          </a:prstGeom>
          <a:noFill/>
        </p:spPr>
        <p:txBody>
          <a:bodyPr wrap="square" lIns="0" rIns="0" tIns="0" bIns="0" anchor="t">
            <a:spAutoFit/>
          </a:bodyPr>
          <a:lstStyle/>
          <a:p>
            <a:pPr algn="l"/>
            <a:r>
              <a:rPr sz="850" b="0" i="0">
                <a:solidFill>
                  <a:srgbClr val="C9D1E0"/>
                </a:solidFill>
                <a:latin typeface="Arial"/>
              </a:rPr>
              <a:t>Non-fungal</a:t>
            </a:r>
          </a:p>
        </p:txBody>
      </p:sp>
      <p:sp>
        <p:nvSpPr>
          <p:cNvPr id="29" name="Rectangle 28"/>
          <p:cNvSpPr/>
          <p:nvPr/>
        </p:nvSpPr>
        <p:spPr>
          <a:xfrm>
            <a:off x="4572000" y="4736592"/>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0" y="4736592"/>
            <a:ext cx="201168" cy="109728"/>
          </a:xfrm>
          <a:prstGeom prst="rect">
            <a:avLst/>
          </a:prstGeom>
          <a:solidFill>
            <a:srgbClr val="C4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5212080"/>
            <a:ext cx="2057400" cy="274320"/>
          </a:xfrm>
          <a:prstGeom prst="rect">
            <a:avLst/>
          </a:prstGeom>
          <a:noFill/>
        </p:spPr>
        <p:txBody>
          <a:bodyPr wrap="square" lIns="0" rIns="0" tIns="0" bIns="0" anchor="t">
            <a:spAutoFit/>
          </a:bodyPr>
          <a:lstStyle/>
          <a:p>
            <a:pPr algn="ctr"/>
            <a:r>
              <a:rPr sz="800" b="0" i="1">
                <a:solidFill>
                  <a:srgbClr val="8A93A6"/>
                </a:solidFill>
                <a:latin typeface="Arial"/>
              </a:rPr>
              <a:t>(probabilities illustrative)</a:t>
            </a:r>
          </a:p>
        </p:txBody>
      </p:sp>
      <p:sp>
        <p:nvSpPr>
          <p:cNvPr id="32" name="Rectangle 31"/>
          <p:cNvSpPr/>
          <p:nvPr/>
        </p:nvSpPr>
        <p:spPr>
          <a:xfrm>
            <a:off x="7086600" y="1280160"/>
            <a:ext cx="118872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86600" y="1280160"/>
            <a:ext cx="1188720" cy="256032"/>
          </a:xfrm>
          <a:prstGeom prst="rect">
            <a:avLst/>
          </a:prstGeom>
          <a:noFill/>
        </p:spPr>
        <p:txBody>
          <a:bodyPr wrap="square" lIns="0" rIns="0" tIns="0" bIns="0" anchor="ctr">
            <a:spAutoFit/>
          </a:bodyPr>
          <a:lstStyle/>
          <a:p>
            <a:pPr algn="ctr"/>
            <a:r>
              <a:rPr sz="1000" b="1" i="0">
                <a:solidFill>
                  <a:srgbClr val="FFFFFF"/>
                </a:solidFill>
                <a:latin typeface="Arial"/>
              </a:rPr>
              <a:t>TIMELINE</a:t>
            </a:r>
          </a:p>
        </p:txBody>
      </p:sp>
      <p:sp>
        <p:nvSpPr>
          <p:cNvPr id="34" name="Rectangle 33"/>
          <p:cNvSpPr/>
          <p:nvPr/>
        </p:nvSpPr>
        <p:spPr>
          <a:xfrm>
            <a:off x="7086600" y="1645920"/>
            <a:ext cx="731520" cy="384048"/>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86600" y="16459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1</a:t>
            </a:r>
          </a:p>
        </p:txBody>
      </p:sp>
      <p:sp>
        <p:nvSpPr>
          <p:cNvPr id="36" name="TextBox 35"/>
          <p:cNvSpPr txBox="1"/>
          <p:nvPr/>
        </p:nvSpPr>
        <p:spPr>
          <a:xfrm>
            <a:off x="7909560" y="1645920"/>
            <a:ext cx="3474720" cy="384048"/>
          </a:xfrm>
          <a:prstGeom prst="rect">
            <a:avLst/>
          </a:prstGeom>
          <a:noFill/>
        </p:spPr>
        <p:txBody>
          <a:bodyPr wrap="square" lIns="0" rIns="0" tIns="0" bIns="0" anchor="ctr">
            <a:spAutoFit/>
          </a:bodyPr>
          <a:lstStyle/>
          <a:p>
            <a:pPr algn="l"/>
            <a:r>
              <a:rPr sz="1000" b="0" i="0">
                <a:solidFill>
                  <a:srgbClr val="404040"/>
                </a:solidFill>
                <a:latin typeface="Arial"/>
              </a:rPr>
              <a:t>Lung masking, regularisation → re-run baseline, re-check Grad-CAM</a:t>
            </a:r>
          </a:p>
        </p:txBody>
      </p:sp>
      <p:sp>
        <p:nvSpPr>
          <p:cNvPr id="37" name="Rectangle 36"/>
          <p:cNvSpPr/>
          <p:nvPr/>
        </p:nvSpPr>
        <p:spPr>
          <a:xfrm>
            <a:off x="7086600" y="2103120"/>
            <a:ext cx="731520" cy="384048"/>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6600" y="21031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2</a:t>
            </a:r>
          </a:p>
        </p:txBody>
      </p:sp>
      <p:sp>
        <p:nvSpPr>
          <p:cNvPr id="39" name="TextBox 38"/>
          <p:cNvSpPr txBox="1"/>
          <p:nvPr/>
        </p:nvSpPr>
        <p:spPr>
          <a:xfrm>
            <a:off x="7909560" y="2103120"/>
            <a:ext cx="3474720" cy="384048"/>
          </a:xfrm>
          <a:prstGeom prst="rect">
            <a:avLst/>
          </a:prstGeom>
          <a:noFill/>
        </p:spPr>
        <p:txBody>
          <a:bodyPr wrap="square" lIns="0" rIns="0" tIns="0" bIns="0" anchor="ctr">
            <a:spAutoFit/>
          </a:bodyPr>
          <a:lstStyle/>
          <a:p>
            <a:pPr algn="l"/>
            <a:r>
              <a:rPr sz="1000" b="0" i="0">
                <a:solidFill>
                  <a:srgbClr val="404040"/>
                </a:solidFill>
                <a:latin typeface="Arial"/>
              </a:rPr>
              <a:t>Exp. 1 · Data: preprocessing, augmentation, training size</a:t>
            </a:r>
          </a:p>
        </p:txBody>
      </p:sp>
      <p:sp>
        <p:nvSpPr>
          <p:cNvPr id="40" name="Rectangle 39"/>
          <p:cNvSpPr/>
          <p:nvPr/>
        </p:nvSpPr>
        <p:spPr>
          <a:xfrm>
            <a:off x="7086600" y="2560320"/>
            <a:ext cx="731520" cy="384048"/>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86600" y="25603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3</a:t>
            </a:r>
          </a:p>
        </p:txBody>
      </p:sp>
      <p:sp>
        <p:nvSpPr>
          <p:cNvPr id="42" name="TextBox 41"/>
          <p:cNvSpPr txBox="1"/>
          <p:nvPr/>
        </p:nvSpPr>
        <p:spPr>
          <a:xfrm>
            <a:off x="7909560" y="2560320"/>
            <a:ext cx="3474720" cy="384048"/>
          </a:xfrm>
          <a:prstGeom prst="rect">
            <a:avLst/>
          </a:prstGeom>
          <a:noFill/>
        </p:spPr>
        <p:txBody>
          <a:bodyPr wrap="square" lIns="0" rIns="0" tIns="0" bIns="0" anchor="ctr">
            <a:spAutoFit/>
          </a:bodyPr>
          <a:lstStyle/>
          <a:p>
            <a:pPr algn="l"/>
            <a:r>
              <a:rPr sz="1000" b="0" i="0">
                <a:solidFill>
                  <a:srgbClr val="404040"/>
                </a:solidFill>
                <a:latin typeface="Arial"/>
              </a:rPr>
              <a:t>Exp. 2 · Model: modality, late fusion</a:t>
            </a:r>
          </a:p>
        </p:txBody>
      </p:sp>
      <p:sp>
        <p:nvSpPr>
          <p:cNvPr id="43" name="Rectangle 42"/>
          <p:cNvSpPr/>
          <p:nvPr/>
        </p:nvSpPr>
        <p:spPr>
          <a:xfrm>
            <a:off x="7086600" y="3017520"/>
            <a:ext cx="731520" cy="384048"/>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86600" y="30175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4</a:t>
            </a:r>
          </a:p>
        </p:txBody>
      </p:sp>
      <p:sp>
        <p:nvSpPr>
          <p:cNvPr id="45" name="TextBox 44"/>
          <p:cNvSpPr txBox="1"/>
          <p:nvPr/>
        </p:nvSpPr>
        <p:spPr>
          <a:xfrm>
            <a:off x="7909560" y="3017520"/>
            <a:ext cx="3474720" cy="384048"/>
          </a:xfrm>
          <a:prstGeom prst="rect">
            <a:avLst/>
          </a:prstGeom>
          <a:noFill/>
        </p:spPr>
        <p:txBody>
          <a:bodyPr wrap="square" lIns="0" rIns="0" tIns="0" bIns="0" anchor="ctr">
            <a:spAutoFit/>
          </a:bodyPr>
          <a:lstStyle/>
          <a:p>
            <a:pPr algn="l"/>
            <a:r>
              <a:rPr sz="1000" b="0" i="0">
                <a:solidFill>
                  <a:srgbClr val="404040"/>
                </a:solidFill>
                <a:latin typeface="Arial"/>
              </a:rPr>
              <a:t>Exp. 2 · Model: backbone, fungal-first variant; severity proxy</a:t>
            </a:r>
          </a:p>
        </p:txBody>
      </p:sp>
      <p:sp>
        <p:nvSpPr>
          <p:cNvPr id="46" name="Rectangle 45"/>
          <p:cNvSpPr/>
          <p:nvPr/>
        </p:nvSpPr>
        <p:spPr>
          <a:xfrm>
            <a:off x="7086600" y="3474720"/>
            <a:ext cx="731520" cy="384048"/>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86600" y="34747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5</a:t>
            </a:r>
          </a:p>
        </p:txBody>
      </p:sp>
      <p:sp>
        <p:nvSpPr>
          <p:cNvPr id="48" name="TextBox 47"/>
          <p:cNvSpPr txBox="1"/>
          <p:nvPr/>
        </p:nvSpPr>
        <p:spPr>
          <a:xfrm>
            <a:off x="7909560" y="3474720"/>
            <a:ext cx="3474720" cy="384048"/>
          </a:xfrm>
          <a:prstGeom prst="rect">
            <a:avLst/>
          </a:prstGeom>
          <a:noFill/>
        </p:spPr>
        <p:txBody>
          <a:bodyPr wrap="square" lIns="0" rIns="0" tIns="0" bIns="0" anchor="ctr">
            <a:spAutoFit/>
          </a:bodyPr>
          <a:lstStyle/>
          <a:p>
            <a:pPr algn="l"/>
            <a:r>
              <a:rPr sz="1000" b="0" i="0">
                <a:solidFill>
                  <a:srgbClr val="404040"/>
                </a:solidFill>
                <a:latin typeface="Arial"/>
              </a:rPr>
              <a:t>Prototype UI, calibration and 'uncertain' threshold</a:t>
            </a:r>
          </a:p>
        </p:txBody>
      </p:sp>
      <p:sp>
        <p:nvSpPr>
          <p:cNvPr id="49" name="Rectangle 48"/>
          <p:cNvSpPr/>
          <p:nvPr/>
        </p:nvSpPr>
        <p:spPr>
          <a:xfrm>
            <a:off x="7086600" y="3931920"/>
            <a:ext cx="731520" cy="384048"/>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86600" y="3931920"/>
            <a:ext cx="731520" cy="384048"/>
          </a:xfrm>
          <a:prstGeom prst="rect">
            <a:avLst/>
          </a:prstGeom>
          <a:noFill/>
        </p:spPr>
        <p:txBody>
          <a:bodyPr wrap="square" lIns="0" rIns="0" tIns="0" bIns="0" anchor="ctr">
            <a:spAutoFit/>
          </a:bodyPr>
          <a:lstStyle/>
          <a:p>
            <a:pPr algn="ctr"/>
            <a:r>
              <a:rPr sz="1000" b="1" i="0">
                <a:solidFill>
                  <a:srgbClr val="FFFFFF"/>
                </a:solidFill>
                <a:latin typeface="Arial"/>
              </a:rPr>
              <a:t>Wk 6</a:t>
            </a:r>
          </a:p>
        </p:txBody>
      </p:sp>
      <p:sp>
        <p:nvSpPr>
          <p:cNvPr id="51" name="TextBox 50"/>
          <p:cNvSpPr txBox="1"/>
          <p:nvPr/>
        </p:nvSpPr>
        <p:spPr>
          <a:xfrm>
            <a:off x="7909560" y="3931920"/>
            <a:ext cx="3474720" cy="384048"/>
          </a:xfrm>
          <a:prstGeom prst="rect">
            <a:avLst/>
          </a:prstGeom>
          <a:noFill/>
        </p:spPr>
        <p:txBody>
          <a:bodyPr wrap="square" lIns="0" rIns="0" tIns="0" bIns="0" anchor="ctr">
            <a:spAutoFit/>
          </a:bodyPr>
          <a:lstStyle/>
          <a:p>
            <a:pPr algn="l"/>
            <a:r>
              <a:rPr sz="1000" b="0" i="0">
                <a:solidFill>
                  <a:srgbClr val="404040"/>
                </a:solidFill>
                <a:latin typeface="Arial"/>
              </a:rPr>
              <a:t>Final test-set runs, error analysis, report</a:t>
            </a:r>
          </a:p>
        </p:txBody>
      </p:sp>
      <p:sp>
        <p:nvSpPr>
          <p:cNvPr id="52" name="Rectangle 51"/>
          <p:cNvSpPr/>
          <p:nvPr/>
        </p:nvSpPr>
        <p:spPr>
          <a:xfrm>
            <a:off x="7086600" y="4480560"/>
            <a:ext cx="192024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86600" y="4480560"/>
            <a:ext cx="1920240" cy="256032"/>
          </a:xfrm>
          <a:prstGeom prst="rect">
            <a:avLst/>
          </a:prstGeom>
          <a:noFill/>
        </p:spPr>
        <p:txBody>
          <a:bodyPr wrap="square" lIns="0" rIns="0" tIns="0" bIns="0" anchor="ctr">
            <a:spAutoFit/>
          </a:bodyPr>
          <a:lstStyle/>
          <a:p>
            <a:pPr algn="ctr"/>
            <a:r>
              <a:rPr sz="1000" b="1" i="0">
                <a:solidFill>
                  <a:srgbClr val="FFFFFF"/>
                </a:solidFill>
                <a:latin typeface="Arial"/>
              </a:rPr>
              <a:t>RISKS &amp; MITIGATION</a:t>
            </a:r>
          </a:p>
        </p:txBody>
      </p:sp>
      <p:sp>
        <p:nvSpPr>
          <p:cNvPr id="54" name="TextBox 53"/>
          <p:cNvSpPr txBox="1"/>
          <p:nvPr/>
        </p:nvSpPr>
        <p:spPr>
          <a:xfrm>
            <a:off x="7086600" y="4846320"/>
            <a:ext cx="4297680" cy="1371600"/>
          </a:xfrm>
          <a:prstGeom prst="rect">
            <a:avLst/>
          </a:prstGeom>
          <a:noFill/>
        </p:spPr>
        <p:txBody>
          <a:bodyPr wrap="square" lIns="0" rIns="0" tIns="0" bIns="0" anchor="t">
            <a:spAutoFit/>
          </a:bodyPr>
          <a:lstStyle/>
          <a:p>
            <a:pPr algn="l">
              <a:spcAft>
                <a:spcPts val="400"/>
              </a:spcAft>
            </a:pPr>
            <a:r>
              <a:rPr sz="1000" b="1" i="0">
                <a:solidFill>
                  <a:srgbClr val="0E7C86"/>
                </a:solidFill>
                <a:latin typeface="Arial"/>
              </a:rPr>
              <a:t>• </a:t>
            </a:r>
            <a:r>
              <a:rPr sz="1000" b="1" i="0">
                <a:solidFill>
                  <a:srgbClr val="1A1A1A"/>
                </a:solidFill>
                <a:latin typeface="Arial"/>
              </a:rPr>
              <a:t>Small data (569 scans): </a:t>
            </a:r>
            <a:r>
              <a:rPr sz="1000" b="0" i="0">
                <a:solidFill>
                  <a:srgbClr val="404040"/>
                </a:solidFill>
                <a:latin typeface="Arial"/>
              </a:rPr>
              <a:t>pre-training, augmentation, seeds + CV</a:t>
            </a:r>
          </a:p>
          <a:p>
            <a:pPr algn="l">
              <a:spcAft>
                <a:spcPts val="400"/>
              </a:spcAft>
            </a:pPr>
            <a:r>
              <a:rPr sz="1000" b="1" i="0">
                <a:solidFill>
                  <a:srgbClr val="0E7C86"/>
                </a:solidFill>
                <a:latin typeface="Arial"/>
              </a:rPr>
              <a:t>• </a:t>
            </a:r>
            <a:r>
              <a:rPr sz="1000" b="1" i="0">
                <a:solidFill>
                  <a:srgbClr val="1A1A1A"/>
                </a:solidFill>
                <a:latin typeface="Arial"/>
              </a:rPr>
              <a:t>Repeat scans / leakage: </a:t>
            </a:r>
            <a:r>
              <a:rPr sz="1000" b="0" i="0">
                <a:solidFill>
                  <a:srgbClr val="404040"/>
                </a:solidFill>
                <a:latin typeface="Arial"/>
              </a:rPr>
              <a:t>group-level split</a:t>
            </a:r>
          </a:p>
          <a:p>
            <a:pPr algn="l">
              <a:spcAft>
                <a:spcPts val="400"/>
              </a:spcAft>
            </a:pPr>
            <a:r>
              <a:rPr sz="1000" b="1" i="0">
                <a:solidFill>
                  <a:srgbClr val="0E7C86"/>
                </a:solidFill>
                <a:latin typeface="Arial"/>
              </a:rPr>
              <a:t>• </a:t>
            </a:r>
            <a:r>
              <a:rPr sz="1000" b="1" i="0">
                <a:solidFill>
                  <a:srgbClr val="1A1A1A"/>
                </a:solidFill>
                <a:latin typeface="Arial"/>
              </a:rPr>
              <a:t>No lesion masks: </a:t>
            </a:r>
            <a:r>
              <a:rPr sz="1000" b="0" i="0">
                <a:solidFill>
                  <a:srgbClr val="404040"/>
                </a:solidFill>
                <a:latin typeface="Arial"/>
              </a:rPr>
              <a:t>saliency only, reviewed qualitatively</a:t>
            </a:r>
          </a:p>
          <a:p>
            <a:pPr algn="l">
              <a:spcAft>
                <a:spcPts val="400"/>
              </a:spcAft>
            </a:pPr>
            <a:r>
              <a:rPr sz="1000" b="1" i="0">
                <a:solidFill>
                  <a:srgbClr val="0E7C86"/>
                </a:solidFill>
                <a:latin typeface="Arial"/>
              </a:rPr>
              <a:t>• </a:t>
            </a:r>
            <a:r>
              <a:rPr sz="1000" b="1" i="0">
                <a:solidFill>
                  <a:srgbClr val="1A1A1A"/>
                </a:solidFill>
                <a:latin typeface="Arial"/>
              </a:rPr>
              <a:t>Severity undefined: </a:t>
            </a:r>
            <a:r>
              <a:rPr sz="1000" b="0" i="0">
                <a:solidFill>
                  <a:srgbClr val="404040"/>
                </a:solidFill>
                <a:latin typeface="Arial"/>
              </a:rPr>
              <a:t>stretch goal, proxy agreed with supervisor</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03864">
              <a:alpha val="68000"/>
            </a:srgbClr>
          </a:solidFill>
          <a:ln w="12700">
            <a:solidFill>
              <a:srgbClr val="203864"/>
            </a:solidFill>
            <a:prstDash val="solid"/>
          </a:ln>
        </p:spPr>
        <p:txBody>
          <a:bodyPr/>
          <a:lstStyle/>
          <a:p>
            <a:endParaRPr lang="zh-CN" altLang="en-US"/>
          </a:p>
        </p:txBody>
      </p:sp>
      <p:sp>
        <p:nvSpPr>
          <p:cNvPr id="3" name="Shape 1"/>
          <p:cNvSpPr/>
          <p:nvPr/>
        </p:nvSpPr>
        <p:spPr>
          <a:xfrm>
            <a:off x="384048" y="384048"/>
            <a:ext cx="11420856" cy="6089904"/>
          </a:xfrm>
          <a:prstGeom prst="rect">
            <a:avLst/>
          </a:prstGeom>
          <a:solidFill>
            <a:srgbClr val="FFFFFF">
              <a:alpha val="0"/>
            </a:srgbClr>
          </a:solidFill>
          <a:ln w="19050">
            <a:solidFill>
              <a:srgbClr val="FFFFFF"/>
            </a:solidFill>
            <a:prstDash val="solid"/>
          </a:ln>
        </p:spPr>
        <p:txBody>
          <a:bodyPr/>
          <a:lstStyle/>
          <a:p>
            <a:endParaRPr lang="zh-CN" altLang="en-US"/>
          </a:p>
        </p:txBody>
      </p:sp>
      <p:sp>
        <p:nvSpPr>
          <p:cNvPr id="4" name="Text 2"/>
          <p:cNvSpPr txBox="1"/>
          <p:nvPr/>
        </p:nvSpPr>
        <p:spPr>
          <a:xfrm>
            <a:off x="1005840" y="1417320"/>
            <a:ext cx="10241280" cy="365760"/>
          </a:xfrm>
          <a:prstGeom prst="rect">
            <a:avLst/>
          </a:prstGeom>
          <a:noFill/>
        </p:spPr>
        <p:txBody>
          <a:bodyPr wrap="square" lIns="0" tIns="0" rIns="0" bIns="0" rtlCol="0" anchor="ctr"/>
          <a:lstStyle/>
          <a:p>
            <a:pPr marL="0" indent="0">
              <a:buNone/>
            </a:pPr>
            <a:r>
              <a:rPr lang="en-US" sz="1200" b="1" kern="0" spc="100" dirty="0">
                <a:solidFill>
                  <a:srgbClr val="CADCFC"/>
                </a:solidFill>
                <a:latin typeface="Arial" panose="020B0604020202020204" pitchFamily="34" charset="0"/>
                <a:ea typeface="Arial" panose="020B0604020202020204" pitchFamily="34" charset="-122"/>
                <a:cs typeface="Arial" panose="020B0604020202020204" pitchFamily="34" charset="-120"/>
              </a:rPr>
              <a:t>NUS-ISS  ·  PATTERN RECOGNITION SYSTEMS  ·  PRACTICE MODULE  ·  FIRST PRESENTATION</a:t>
            </a:r>
            <a:endParaRPr lang="en-US" sz="1200" dirty="0"/>
          </a:p>
        </p:txBody>
      </p:sp>
      <p:sp>
        <p:nvSpPr>
          <p:cNvPr id="5" name="Text 3"/>
          <p:cNvSpPr txBox="1"/>
          <p:nvPr/>
        </p:nvSpPr>
        <p:spPr>
          <a:xfrm>
            <a:off x="960120" y="1874520"/>
            <a:ext cx="10058400" cy="914400"/>
          </a:xfrm>
          <a:prstGeom prst="rect">
            <a:avLst/>
          </a:prstGeom>
          <a:noFill/>
        </p:spPr>
        <p:txBody>
          <a:bodyPr wrap="square" lIns="0" tIns="0" rIns="0" bIns="0" rtlCol="0" anchor="t"/>
          <a:lstStyle/>
          <a:p>
            <a:pPr marL="0" indent="0">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Thank You</a:t>
            </a:r>
            <a:endParaRPr lang="en-US" sz="3800" dirty="0"/>
          </a:p>
        </p:txBody>
      </p:sp>
      <p:sp>
        <p:nvSpPr>
          <p:cNvPr id="6" name="Shape 4"/>
          <p:cNvSpPr/>
          <p:nvPr/>
        </p:nvSpPr>
        <p:spPr>
          <a:xfrm>
            <a:off x="1024128" y="2971800"/>
            <a:ext cx="548640" cy="45720"/>
          </a:xfrm>
          <a:prstGeom prst="rect">
            <a:avLst/>
          </a:prstGeom>
          <a:solidFill>
            <a:srgbClr val="FFFFFF"/>
          </a:solidFill>
          <a:ln w="12700">
            <a:solidFill>
              <a:srgbClr val="FFFFFF"/>
            </a:solidFill>
            <a:prstDash val="solid"/>
          </a:ln>
        </p:spPr>
        <p:txBody>
          <a:bodyPr/>
          <a:lstStyle/>
          <a:p>
            <a:endParaRPr lang="zh-CN" altLang="en-US"/>
          </a:p>
        </p:txBody>
      </p:sp>
      <p:sp>
        <p:nvSpPr>
          <p:cNvPr id="7" name="Text 5"/>
          <p:cNvSpPr txBox="1"/>
          <p:nvPr/>
        </p:nvSpPr>
        <p:spPr>
          <a:xfrm>
            <a:off x="1005840" y="3154680"/>
            <a:ext cx="9601200" cy="457200"/>
          </a:xfrm>
          <a:prstGeom prst="rect">
            <a:avLst/>
          </a:prstGeom>
          <a:noFill/>
        </p:spPr>
        <p:txBody>
          <a:bodyPr wrap="square" lIns="0" tIns="0" rIns="0" bIns="0" rtlCol="0" anchor="ctr"/>
          <a:lstStyle/>
          <a:p>
            <a:pPr marL="0" indent="0">
              <a:buNone/>
            </a:pPr>
            <a:r>
              <a:rPr lang="en-US" sz="1500" i="1" dirty="0">
                <a:solidFill>
                  <a:srgbClr val="E8EDF7"/>
                </a:solidFill>
                <a:latin typeface="Arial" panose="020B0604020202020204" pitchFamily="34" charset="0"/>
                <a:ea typeface="Arial" panose="020B0604020202020204" pitchFamily="34" charset="-122"/>
                <a:cs typeface="Arial" panose="020B0604020202020204" pitchFamily="34" charset="-120"/>
              </a:rPr>
              <a:t>Questions &amp; Answers</a:t>
            </a:r>
            <a:endParaRPr lang="en-US" sz="1500" dirty="0"/>
          </a:p>
        </p:txBody>
      </p:sp>
      <p:sp>
        <p:nvSpPr>
          <p:cNvPr id="8" name="Text 6"/>
          <p:cNvSpPr txBox="1"/>
          <p:nvPr/>
        </p:nvSpPr>
        <p:spPr>
          <a:xfrm>
            <a:off x="1005840" y="3703320"/>
            <a:ext cx="9601200" cy="457200"/>
          </a:xfrm>
          <a:prstGeom prst="rect">
            <a:avLst/>
          </a:prstGeom>
          <a:noFill/>
        </p:spPr>
        <p:txBody>
          <a:bodyPr wrap="square" lIns="0" tIns="0" rIns="0" bIns="0" rtlCol="0" anchor="ctr"/>
          <a:lstStyle/>
          <a:p>
            <a:pPr marL="0" indent="0">
              <a:buNone/>
            </a:pPr>
            <a:r>
              <a:rPr lang="en-US" sz="1300" dirty="0">
                <a:solidFill>
                  <a:srgbClr val="CADCFC"/>
                </a:solidFill>
                <a:latin typeface="Arial" panose="020B0604020202020204" pitchFamily="34" charset="0"/>
                <a:ea typeface="Arial" panose="020B0604020202020204" pitchFamily="34" charset="-122"/>
                <a:cs typeface="Arial" panose="020B0604020202020204" pitchFamily="34" charset="-120"/>
              </a:rPr>
              <a:t>A Multimodal Medical Imaging Assistant for Pulmonary Infection Classification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3046</Words>
  <Application>Microsoft Office PowerPoint</Application>
  <PresentationFormat>宽屏</PresentationFormat>
  <Paragraphs>403</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Arial</vt:lpstr>
      <vt:lpstr>Calibri</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RAG Based Multi Agent System for PC Build and Laptop Recommendations in Singapore</dc:title>
  <dc:subject>PptxGenJS Presentation</dc:subject>
  <dc:creator>Group 20</dc:creator>
  <cp:lastModifiedBy>Tang Shiyan</cp:lastModifiedBy>
  <cp:revision>14</cp:revision>
  <dcterms:created xsi:type="dcterms:W3CDTF">2026-09-27T04:37:00Z</dcterms:created>
  <dcterms:modified xsi:type="dcterms:W3CDTF">2026-09-27T05:55:31Z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A4FD9DE228074B35A9C49AC73B2F60A6_12</vt:lpwstr>
  </property>
  <property fmtid="{D5CDD505-2E9C-101B-9397-08002B2CF9AE}" pid="3" name="KSOProductBuildVer">
    <vt:lpwstr>2052-12.1.0.28505</vt:lpwstr>
  </property>
</Properties>
</file>
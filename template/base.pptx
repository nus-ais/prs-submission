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2"/>
    <p:sldId id="268" r:id="rId9"/>
    <p:sldId id="269" r:id="rId10"/>
    <p:sldId id="270" r:id="rId11"/>
    <p:sldId id="271" r:id="rId8"/>
    <p:sldId id="272" r:id="rId7"/>
    <p:sldId id="273" r:id="rId6"/>
    <p:sldId id="274" r:id="rId5"/>
    <p:sldId id="275" r:id="rId4"/>
    <p:sldId id="276" r:id="rId3"/>
    <p:sldId id="277" r:id="rId18"/>
    <p:sldId id="278" r:id="rId19"/>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99.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Title. Introduce the team and the one-line idea: CT plus clinical data, three infection classes.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Preliminary numbers. Chance macro-F1 is 0.33. Clinical-only models reach the mid-0.5s; removing G/GM costs little, so no obvious label shortcut. CT-only is the best model so far; fusion does not beat it yet — explain overfitting and the feature-size imbalance, and the planned fixes. Emphasise these are first, untuned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matters: the three groups look alike on CT and are treated differently. Lab markers help but are positive in only a minority. Our hypothesis is that combining both sources is more reliable. Then the four objectives — classification is the core, localisation and severity are secondary.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eight functional requirements with priorities. Must = classification pipeline and viewer. Severity is 'Could' because the dataset has no severity labels. Techniques map to the course: transfer learning, fusion, classical baselines, explainability. Be explicit about what is out of scope.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public PAC569 from NGDC, four centres, 569 CT scans with labels and 12 clinical variables. We checked that every CT file has exactly one clinical row and the labels agree. Note: CT only, no lesion masks.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EDA told us: risk factors differ by class (AIDS almost only in non-Aspergillus fungi, GM higher in Aspergillus) but none separates the classes alone. Quality issues: repeated records → group-level split; missing values → median imputation; no lesion ground truth → weakly supervised localisation.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two branches. CT branch: 16 sampled slices through a shared ImageNet ResNet-18, averaged into one patient vector. Clinical branch: encoded record through a small MLP. Concatenate and classify. Baselines are the same model with one branch removed, so comparisons are fair. Explain why 2.5D.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pipeline: show the four preprocessing steps on a real case. Then the split table — stratified by class and grouped so repeat scans never leak between train and test.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experiments the supervisor asked for: pre-trained baseline and modality ablation, training-set size curve, augmentation ablation. One factor at a time; macro-F1 primary; three seeds because the test set is small.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Progress checklist: everything up to the baselines is done and reproducible from scripts. Next: the full experiment matrix, Grad-CAM, UI.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Likely questions: how the single-agent baseline is defined; why graph is a constraint rather than a score; how unknown compatibility is presented; cost of local models; how the 15 reviews are used.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Grad-CAM: one example clearly looks at the abnormal lung, one is mixed, one looks at the mediastinum. Be honest: this tells us to mask non-lung regions, and the 1.00 probabilities tell us calibration is needed.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UI mock-up with a real case: viewer on the left, clinical record and probabilities on the right, research-use disclaimer. Timeline for the remaining weeks and the main risks with mitigations.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03864">
              <a:alpha val="68000"/>
            </a:srgbClr>
          </a:solidFill>
          <a:ln w="12700">
            <a:solidFill>
              <a:srgbClr val="203864"/>
            </a:solidFill>
            <a:prstDash val="solid"/>
          </a:ln>
        </p:spPr>
        <p:txBody>
          <a:bodyPr/>
          <a:lstStyle/>
          <a:p>
            <a:endParaRPr lang="zh-CN" altLang="en-US"/>
          </a:p>
        </p:txBody>
      </p:sp>
      <p:sp>
        <p:nvSpPr>
          <p:cNvPr id="3" name="Shape 1"/>
          <p:cNvSpPr/>
          <p:nvPr/>
        </p:nvSpPr>
        <p:spPr>
          <a:xfrm>
            <a:off x="384048" y="384048"/>
            <a:ext cx="11420856" cy="6089904"/>
          </a:xfrm>
          <a:prstGeom prst="rect">
            <a:avLst/>
          </a:prstGeom>
          <a:solidFill>
            <a:srgbClr val="FFFFFF">
              <a:alpha val="0"/>
            </a:srgbClr>
          </a:solidFill>
          <a:ln w="19050">
            <a:solidFill>
              <a:srgbClr val="FFFFFF"/>
            </a:solidFill>
            <a:prstDash val="solid"/>
          </a:ln>
        </p:spPr>
        <p:txBody>
          <a:bodyPr/>
          <a:lstStyle/>
          <a:p>
            <a:endParaRPr lang="zh-CN" altLang="en-US"/>
          </a:p>
        </p:txBody>
      </p:sp>
      <p:sp>
        <p:nvSpPr>
          <p:cNvPr id="4" name="Text 2"/>
          <p:cNvSpPr txBox="1"/>
          <p:nvPr/>
        </p:nvSpPr>
        <p:spPr>
          <a:xfrm>
            <a:off x="1005840" y="1417320"/>
            <a:ext cx="10241280" cy="365760"/>
          </a:xfrm>
          <a:prstGeom prst="rect">
            <a:avLst/>
          </a:prstGeom>
          <a:noFill/>
        </p:spPr>
        <p:txBody>
          <a:bodyPr wrap="square" lIns="0" tIns="0" rIns="0" bIns="0" rtlCol="0" anchor="ctr"/>
          <a:lstStyle/>
          <a:p>
            <a:pPr marL="0" indent="0">
              <a:buNone/>
            </a:pPr>
            <a:r>
              <a:rPr lang="en-US" sz="1200" b="1" kern="0" spc="100" dirty="0">
                <a:solidFill>
                  <a:srgbClr val="CADCFC"/>
                </a:solidFill>
                <a:latin typeface="Arial" panose="020B0604020202020204" pitchFamily="34" charset="0"/>
                <a:ea typeface="Arial" panose="020B0604020202020204" pitchFamily="34" charset="-122"/>
                <a:cs typeface="Arial" panose="020B0604020202020204" pitchFamily="34" charset="-120"/>
              </a:rPr>
              <a:t>NUS-ISS  ·  PATTERN RECOGNITION SYSTEMS  ·  PRACTICE MODULE  ·  FIRST PRESENTATION</a:t>
            </a:r>
            <a:endParaRPr lang="en-US" sz="1200" dirty="0"/>
          </a:p>
        </p:txBody>
      </p:sp>
      <p:sp>
        <p:nvSpPr>
          <p:cNvPr id="5" name="Text 3"/>
          <p:cNvSpPr txBox="1"/>
          <p:nvPr/>
        </p:nvSpPr>
        <p:spPr>
          <a:xfrm>
            <a:off x="960120" y="1874520"/>
            <a:ext cx="10058400" cy="1920240"/>
          </a:xfrm>
          <a:prstGeom prst="rect">
            <a:avLst/>
          </a:prstGeom>
          <a:noFill/>
        </p:spPr>
        <p:txBody>
          <a:bodyPr wrap="square" lIns="0" tIns="0" rIns="0" bIns="0" rtlCol="0" anchor="t"/>
          <a:lstStyle/>
          <a:p>
            <a:pPr marL="0" indent="0">
              <a:lnSpc>
                <a:spcPct val="105000"/>
              </a:lnSpc>
              <a:buNone/>
            </a:pPr>
            <a:r>
              <a:rPr lang="en-US" sz="3800" b="1" dirty="0">
                <a:solidFill>
                  <a:srgbClr val="FFFFFF"/>
                </a:solidFill>
                <a:latin typeface="Arial" panose="020B0604020202020204" pitchFamily="34" charset="0"/>
                <a:ea typeface="Arial" panose="020B0604020202020204" pitchFamily="34" charset="-122"/>
                <a:cs typeface="Arial" panose="020B0604020202020204" pitchFamily="34" charset="-120"/>
              </a:rPr>
              <a:t>A Multimodal Medical Imaging Assistant for Pulmonary Infection Classification</a:t>
            </a:r>
            <a:endParaRPr lang="en-US" sz="3800" dirty="0"/>
          </a:p>
        </p:txBody>
      </p:sp>
      <p:sp>
        <p:nvSpPr>
          <p:cNvPr id="6" name="Shape 4"/>
          <p:cNvSpPr/>
          <p:nvPr/>
        </p:nvSpPr>
        <p:spPr>
          <a:xfrm>
            <a:off x="1024128" y="3931920"/>
            <a:ext cx="548640" cy="45720"/>
          </a:xfrm>
          <a:prstGeom prst="rect">
            <a:avLst/>
          </a:prstGeom>
          <a:solidFill>
            <a:srgbClr val="FFFFFF"/>
          </a:solidFill>
          <a:ln w="12700">
            <a:solidFill>
              <a:srgbClr val="FFFFFF"/>
            </a:solidFill>
            <a:prstDash val="solid"/>
          </a:ln>
        </p:spPr>
        <p:txBody>
          <a:bodyPr/>
          <a:lstStyle/>
          <a:p>
            <a:endParaRPr lang="zh-CN" altLang="en-US"/>
          </a:p>
        </p:txBody>
      </p:sp>
      <p:sp>
        <p:nvSpPr>
          <p:cNvPr id="7" name="Text 5"/>
          <p:cNvSpPr txBox="1"/>
          <p:nvPr/>
        </p:nvSpPr>
        <p:spPr>
          <a:xfrm>
            <a:off x="1005840" y="4114800"/>
            <a:ext cx="9601200" cy="640080"/>
          </a:xfrm>
          <a:prstGeom prst="rect">
            <a:avLst/>
          </a:prstGeom>
          <a:noFill/>
        </p:spPr>
        <p:txBody>
          <a:bodyPr wrap="square" lIns="0" tIns="0" rIns="0" bIns="0" rtlCol="0" anchor="ctr"/>
          <a:lstStyle/>
          <a:p>
            <a:pPr marL="0" indent="0">
              <a:buNone/>
            </a:pPr>
            <a:r>
              <a:rPr lang="en-US" sz="1500" i="1" dirty="0">
                <a:solidFill>
                  <a:srgbClr val="E8EDF7"/>
                </a:solidFill>
                <a:latin typeface="Arial" panose="020B0604020202020204" pitchFamily="34" charset="0"/>
                <a:ea typeface="Arial" panose="020B0604020202020204" pitchFamily="34" charset="-122"/>
                <a:cs typeface="Arial" panose="020B0604020202020204" pitchFamily="34" charset="-120"/>
              </a:rPr>
              <a:t>Chest CT + de-identified clinical information → Aspergillus / non-Aspergillus fungal / non-fungal infection, with confidence, lesion localisation and severity</a:t>
            </a:r>
            <a:endParaRPr lang="en-US" sz="1500" dirty="0"/>
          </a:p>
        </p:txBody>
      </p:sp>
      <p:sp>
        <p:nvSpPr>
          <p:cNvPr id="8" name="Shape 6"/>
          <p:cNvSpPr/>
          <p:nvPr/>
        </p:nvSpPr>
        <p:spPr>
          <a:xfrm>
            <a:off x="6720840" y="4983480"/>
            <a:ext cx="4782312" cy="1188720"/>
          </a:xfrm>
          <a:prstGeom prst="rect">
            <a:avLst/>
          </a:prstGeom>
          <a:solidFill>
            <a:srgbClr val="FFFFFF"/>
          </a:solidFill>
          <a:ln w="12700">
            <a:solidFill>
              <a:srgbClr val="FFFFFF"/>
            </a:solidFill>
            <a:prstDash val="solid"/>
          </a:ln>
        </p:spPr>
        <p:txBody>
          <a:bodyPr/>
          <a:lstStyle/>
          <a:p>
            <a:endParaRPr lang="zh-CN" altLang="en-US"/>
          </a:p>
        </p:txBody>
      </p:sp>
      <p:sp>
        <p:nvSpPr>
          <p:cNvPr id="9" name="Text 7"/>
          <p:cNvSpPr txBox="1"/>
          <p:nvPr/>
        </p:nvSpPr>
        <p:spPr>
          <a:xfrm>
            <a:off x="6903720" y="5047488"/>
            <a:ext cx="1325880" cy="274320"/>
          </a:xfrm>
          <a:prstGeom prst="rect">
            <a:avLst/>
          </a:prstGeom>
          <a:noFill/>
        </p:spPr>
        <p:txBody>
          <a:bodyPr wrap="square" lIns="0" tIns="0" rIns="0" bIns="0" rtlCol="0" anchor="ctr"/>
          <a:lstStyle/>
          <a:p>
            <a:pPr marL="0" indent="0">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Lai Wendi</a:t>
            </a:r>
            <a:endParaRPr lang="en-US" sz="1200" dirty="0"/>
          </a:p>
        </p:txBody>
      </p:sp>
      <p:sp>
        <p:nvSpPr>
          <p:cNvPr id="10" name="Text 8"/>
          <p:cNvSpPr txBox="1"/>
          <p:nvPr/>
        </p:nvSpPr>
        <p:spPr>
          <a:xfrm>
            <a:off x="8229600" y="5047488"/>
            <a:ext cx="1280160" cy="274320"/>
          </a:xfrm>
          <a:prstGeom prst="rect">
            <a:avLst/>
          </a:prstGeom>
          <a:noFill/>
        </p:spPr>
        <p:txBody>
          <a:bodyPr wrap="square" lIns="0" tIns="0" rIns="0" bIns="0" rtlCol="0" anchor="ctr"/>
          <a:lstStyle/>
          <a:p>
            <a:pPr marL="0" indent="0">
              <a:buNone/>
            </a:pPr>
            <a:r>
              <a:rPr lang="en-US" sz="1200" dirty="0">
                <a:solidFill>
                  <a:srgbClr val="203864"/>
                </a:solidFill>
                <a:latin typeface="Arial" panose="020B0604020202020204" pitchFamily="34" charset="0"/>
                <a:ea typeface="Arial" panose="020B0604020202020204" pitchFamily="34" charset="-122"/>
                <a:cs typeface="Arial" panose="020B0604020202020204" pitchFamily="34" charset="-120"/>
              </a:rPr>
              <a:t>A0352629X</a:t>
            </a:r>
            <a:endParaRPr lang="en-US" sz="1200" dirty="0"/>
          </a:p>
        </p:txBody>
      </p:sp>
      <p:sp>
        <p:nvSpPr>
          <p:cNvPr id="11" name="Text 9"/>
          <p:cNvSpPr txBox="1"/>
          <p:nvPr/>
        </p:nvSpPr>
        <p:spPr>
          <a:xfrm>
            <a:off x="6903720" y="5321808"/>
            <a:ext cx="1325880" cy="274320"/>
          </a:xfrm>
          <a:prstGeom prst="rect">
            <a:avLst/>
          </a:prstGeom>
          <a:noFill/>
        </p:spPr>
        <p:txBody>
          <a:bodyPr wrap="square" lIns="0" tIns="0" rIns="0" bIns="0" rtlCol="0" anchor="ctr"/>
          <a:lstStyle/>
          <a:p>
            <a:pPr marL="0" indent="0">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Tang Shiyan</a:t>
            </a:r>
            <a:endParaRPr lang="en-US" sz="1200" dirty="0"/>
          </a:p>
        </p:txBody>
      </p:sp>
      <p:sp>
        <p:nvSpPr>
          <p:cNvPr id="12" name="Text 10"/>
          <p:cNvSpPr txBox="1"/>
          <p:nvPr/>
        </p:nvSpPr>
        <p:spPr>
          <a:xfrm>
            <a:off x="8229600" y="5321808"/>
            <a:ext cx="1280160" cy="274320"/>
          </a:xfrm>
          <a:prstGeom prst="rect">
            <a:avLst/>
          </a:prstGeom>
          <a:noFill/>
        </p:spPr>
        <p:txBody>
          <a:bodyPr wrap="square" lIns="0" tIns="0" rIns="0" bIns="0" rtlCol="0" anchor="ctr"/>
          <a:lstStyle/>
          <a:p>
            <a:pPr marL="0" indent="0">
              <a:buNone/>
            </a:pPr>
            <a:r>
              <a:rPr lang="en-US" sz="1200" dirty="0">
                <a:solidFill>
                  <a:srgbClr val="203864"/>
                </a:solidFill>
                <a:latin typeface="Arial" panose="020B0604020202020204" pitchFamily="34" charset="0"/>
                <a:ea typeface="Arial" panose="020B0604020202020204" pitchFamily="34" charset="-122"/>
                <a:cs typeface="Arial" panose="020B0604020202020204" pitchFamily="34" charset="-120"/>
              </a:rPr>
              <a:t>A0329902B</a:t>
            </a:r>
            <a:endParaRPr lang="en-US" sz="1200" dirty="0"/>
          </a:p>
        </p:txBody>
      </p:sp>
      <p:sp>
        <p:nvSpPr>
          <p:cNvPr id="13" name="Text 11"/>
          <p:cNvSpPr txBox="1"/>
          <p:nvPr/>
        </p:nvSpPr>
        <p:spPr>
          <a:xfrm>
            <a:off x="6903720" y="5596128"/>
            <a:ext cx="1325880" cy="274320"/>
          </a:xfrm>
          <a:prstGeom prst="rect">
            <a:avLst/>
          </a:prstGeom>
          <a:noFill/>
        </p:spPr>
        <p:txBody>
          <a:bodyPr wrap="square" lIns="0" tIns="0" rIns="0" bIns="0" rtlCol="0" anchor="ctr"/>
          <a:lstStyle/>
          <a:p>
            <a:pPr marL="0" indent="0">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Xia Yan</a:t>
            </a:r>
            <a:endParaRPr lang="en-US" sz="1200" dirty="0"/>
          </a:p>
        </p:txBody>
      </p:sp>
      <p:sp>
        <p:nvSpPr>
          <p:cNvPr id="14" name="Text 12"/>
          <p:cNvSpPr txBox="1"/>
          <p:nvPr/>
        </p:nvSpPr>
        <p:spPr>
          <a:xfrm>
            <a:off x="8229600" y="5596128"/>
            <a:ext cx="1280160" cy="274320"/>
          </a:xfrm>
          <a:prstGeom prst="rect">
            <a:avLst/>
          </a:prstGeom>
          <a:noFill/>
        </p:spPr>
        <p:txBody>
          <a:bodyPr wrap="square" lIns="0" tIns="0" rIns="0" bIns="0" rtlCol="0" anchor="ctr"/>
          <a:lstStyle/>
          <a:p>
            <a:pPr marL="0" indent="0">
              <a:buNone/>
            </a:pPr>
            <a:r>
              <a:rPr lang="en-US" sz="1200" dirty="0">
                <a:solidFill>
                  <a:srgbClr val="203864"/>
                </a:solidFill>
                <a:latin typeface="Arial" panose="020B0604020202020204" pitchFamily="34" charset="0"/>
                <a:ea typeface="Arial" panose="020B0604020202020204" pitchFamily="34" charset="-122"/>
                <a:cs typeface="Arial" panose="020B0604020202020204" pitchFamily="34" charset="-120"/>
              </a:rPr>
              <a:t>A0352818X</a:t>
            </a:r>
            <a:endParaRPr lang="en-US" sz="1200" dirty="0"/>
          </a:p>
        </p:txBody>
      </p:sp>
      <p:sp>
        <p:nvSpPr>
          <p:cNvPr id="15" name="Text 13"/>
          <p:cNvSpPr txBox="1"/>
          <p:nvPr/>
        </p:nvSpPr>
        <p:spPr>
          <a:xfrm>
            <a:off x="6903720" y="5870448"/>
            <a:ext cx="1325880" cy="274320"/>
          </a:xfrm>
          <a:prstGeom prst="rect">
            <a:avLst/>
          </a:prstGeom>
          <a:noFill/>
        </p:spPr>
        <p:txBody>
          <a:bodyPr wrap="square" lIns="0" tIns="0" rIns="0" bIns="0" rtlCol="0" anchor="ctr"/>
          <a:lstStyle/>
          <a:p>
            <a:pPr marL="0" indent="0">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Zhou Jiasheng</a:t>
            </a:r>
            <a:endParaRPr lang="en-US" sz="1200" dirty="0"/>
          </a:p>
        </p:txBody>
      </p:sp>
      <p:sp>
        <p:nvSpPr>
          <p:cNvPr id="16" name="Text 14"/>
          <p:cNvSpPr txBox="1"/>
          <p:nvPr/>
        </p:nvSpPr>
        <p:spPr>
          <a:xfrm>
            <a:off x="8229600" y="5870448"/>
            <a:ext cx="1280160" cy="274320"/>
          </a:xfrm>
          <a:prstGeom prst="rect">
            <a:avLst/>
          </a:prstGeom>
          <a:noFill/>
        </p:spPr>
        <p:txBody>
          <a:bodyPr wrap="square" lIns="0" tIns="0" rIns="0" bIns="0" rtlCol="0" anchor="ctr"/>
          <a:lstStyle/>
          <a:p>
            <a:pPr marL="0" indent="0">
              <a:buNone/>
            </a:pPr>
            <a:r>
              <a:rPr lang="en-US" sz="1200" dirty="0">
                <a:solidFill>
                  <a:srgbClr val="203864"/>
                </a:solidFill>
                <a:latin typeface="Arial" panose="020B0604020202020204" pitchFamily="34" charset="0"/>
                <a:ea typeface="Arial" panose="020B0604020202020204" pitchFamily="34" charset="-122"/>
                <a:cs typeface="Arial" panose="020B0604020202020204" pitchFamily="34" charset="-120"/>
              </a:rPr>
              <a:t>A0315819X</a:t>
            </a:r>
            <a:endParaRPr lang="en-US" sz="1200" dirty="0"/>
          </a:p>
        </p:txBody>
      </p:sp>
      <p:sp>
        <p:nvSpPr>
          <p:cNvPr id="17" name="Text 15"/>
          <p:cNvSpPr txBox="1"/>
          <p:nvPr/>
        </p:nvSpPr>
        <p:spPr>
          <a:xfrm>
            <a:off x="9445752" y="5047488"/>
            <a:ext cx="2029968" cy="548640"/>
          </a:xfrm>
          <a:prstGeom prst="rect">
            <a:avLst/>
          </a:prstGeom>
          <a:noFill/>
        </p:spPr>
        <p:txBody>
          <a:bodyPr wrap="square" lIns="0" tIns="0" rIns="0" bIns="0" rtlCol="0" anchor="ctr"/>
          <a:lstStyle/>
          <a:p>
            <a:pPr marL="0" indent="0" algn="ctr">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Practice Project Group (FT) 26 · NUS-ISS</a:t>
            </a:r>
            <a:endParaRPr lang="en-US" sz="1200" dirty="0"/>
          </a:p>
        </p:txBody>
      </p:sp>
      <p:sp>
        <p:nvSpPr>
          <p:cNvPr id="18" name="Text 16"/>
          <p:cNvSpPr txBox="1"/>
          <p:nvPr/>
        </p:nvSpPr>
        <p:spPr>
          <a:xfrm>
            <a:off x="9445752" y="5596128"/>
            <a:ext cx="2029968" cy="548640"/>
          </a:xfrm>
          <a:prstGeom prst="rect">
            <a:avLst/>
          </a:prstGeom>
          <a:noFill/>
        </p:spPr>
        <p:txBody>
          <a:bodyPr wrap="square" lIns="0" tIns="0" rIns="0" bIns="0" rtlCol="0" anchor="ctr"/>
          <a:lstStyle/>
          <a:p>
            <a:pPr marL="0" indent="0" algn="ctr">
              <a:buNone/>
            </a:pPr>
            <a:r>
              <a:rPr lang="en-US" sz="1200" b="1" dirty="0">
                <a:solidFill>
                  <a:srgbClr val="203864"/>
                </a:solidFill>
                <a:latin typeface="Arial" panose="020B0604020202020204" pitchFamily="34" charset="0"/>
                <a:ea typeface="Arial" panose="020B0604020202020204" pitchFamily="34" charset="-122"/>
                <a:cs typeface="Arial" panose="020B0604020202020204" pitchFamily="34" charset="-120"/>
              </a:rPr>
              <a:t>6 October 2026</a:t>
            </a:r>
            <a:endParaRPr lang="en-US" sz="1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Rectangle 1"/>
          <p:cNvSpPr/>
          <p:nvPr/>
        </p:nvSpPr>
        <p:spPr>
          <a:xfrm>
            <a:off x="502920" y="146304"/>
            <a:ext cx="132588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FFFFFF"/>
                </a:solidFill>
                <a:latin typeface="Arial"/>
              </a:rPr>
              <a:t>Introduction</a:t>
            </a:r>
          </a:p>
        </p:txBody>
      </p:sp>
      <p:sp>
        <p:nvSpPr>
          <p:cNvPr id="4" name="TextBox 3"/>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Introduction — Clinical Problem and Project Objectives</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2</a:t>
            </a:r>
          </a:p>
        </p:txBody>
      </p:sp>
      <p:sp>
        <p:nvSpPr>
          <p:cNvPr id="11" name="Rectangle 10"/>
          <p:cNvSpPr/>
          <p:nvPr/>
        </p:nvSpPr>
        <p:spPr>
          <a:xfrm>
            <a:off x="822960" y="1280160"/>
            <a:ext cx="1828800" cy="256032"/>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1828800" cy="256032"/>
          </a:xfrm>
          <a:prstGeom prst="rect">
            <a:avLst/>
          </a:prstGeom>
          <a:noFill/>
        </p:spPr>
        <p:txBody>
          <a:bodyPr wrap="square" lIns="0" rIns="0" tIns="0" bIns="0" anchor="ctr">
            <a:spAutoFit/>
          </a:bodyPr>
          <a:lstStyle/>
          <a:p>
            <a:pPr algn="ctr"/>
            <a:r>
              <a:rPr sz="1000" b="1" i="0">
                <a:solidFill>
                  <a:srgbClr val="FFFFFF"/>
                </a:solidFill>
                <a:latin typeface="Arial"/>
              </a:rPr>
              <a:t>CLINICAL PROBLEM</a:t>
            </a:r>
          </a:p>
        </p:txBody>
      </p:sp>
      <p:sp>
        <p:nvSpPr>
          <p:cNvPr id="13" name="TextBox 12"/>
          <p:cNvSpPr txBox="1"/>
          <p:nvPr/>
        </p:nvSpPr>
        <p:spPr>
          <a:xfrm>
            <a:off x="822960" y="1645920"/>
            <a:ext cx="5394960" cy="914400"/>
          </a:xfrm>
          <a:prstGeom prst="rect">
            <a:avLst/>
          </a:prstGeom>
          <a:noFill/>
        </p:spPr>
        <p:txBody>
          <a:bodyPr wrap="square" lIns="0" rIns="0" tIns="0" bIns="0" anchor="t">
            <a:spAutoFit/>
          </a:bodyPr>
          <a:lstStyle/>
          <a:p>
            <a:pPr algn="l"/>
            <a:r>
              <a:rPr sz="1150" b="0" i="0">
                <a:solidFill>
                  <a:srgbClr val="404040"/>
                </a:solidFill>
                <a:latin typeface="Arial"/>
              </a:rPr>
              <a:t>Invasive Aspergillus infection, other fungal pneumonias and non-fungal (bacterial / viral) pneumonias can look alike on chest CT — nodules, consolidation, cavities and ground-glass change overlap. The three groups need different first-line treatment, so an early, evidence-based differential matters.</a:t>
            </a:r>
          </a:p>
        </p:txBody>
      </p:sp>
      <p:sp>
        <p:nvSpPr>
          <p:cNvPr id="14" name="Rounded Rectangle 13"/>
          <p:cNvSpPr/>
          <p:nvPr/>
        </p:nvSpPr>
        <p:spPr>
          <a:xfrm>
            <a:off x="822960" y="2788920"/>
            <a:ext cx="2606040" cy="12344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 y="2862072"/>
            <a:ext cx="64008" cy="1088136"/>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2880360"/>
            <a:ext cx="2331720" cy="274320"/>
          </a:xfrm>
          <a:prstGeom prst="rect">
            <a:avLst/>
          </a:prstGeom>
          <a:noFill/>
        </p:spPr>
        <p:txBody>
          <a:bodyPr wrap="square" lIns="0" rIns="0" tIns="0" bIns="0" anchor="t">
            <a:spAutoFit/>
          </a:bodyPr>
          <a:lstStyle/>
          <a:p>
            <a:pPr algn="l"/>
            <a:r>
              <a:rPr sz="1150" b="1" i="0">
                <a:solidFill>
                  <a:srgbClr val="203864"/>
                </a:solidFill>
                <a:latin typeface="Arial"/>
              </a:rPr>
              <a:t>Imaging alone is ambiguous</a:t>
            </a:r>
          </a:p>
        </p:txBody>
      </p:sp>
      <p:sp>
        <p:nvSpPr>
          <p:cNvPr id="17" name="TextBox 16"/>
          <p:cNvSpPr txBox="1"/>
          <p:nvPr/>
        </p:nvSpPr>
        <p:spPr>
          <a:xfrm>
            <a:off x="1005840" y="3172968"/>
            <a:ext cx="2331720" cy="777240"/>
          </a:xfrm>
          <a:prstGeom prst="rect">
            <a:avLst/>
          </a:prstGeom>
          <a:noFill/>
        </p:spPr>
        <p:txBody>
          <a:bodyPr wrap="square" lIns="0" rIns="0" tIns="0" bIns="0" anchor="t">
            <a:spAutoFit/>
          </a:bodyPr>
          <a:lstStyle/>
          <a:p>
            <a:pPr algn="l"/>
            <a:r>
              <a:rPr sz="1000" b="0" i="0">
                <a:solidFill>
                  <a:srgbClr val="404040"/>
                </a:solidFill>
                <a:latin typeface="Arial"/>
              </a:rPr>
              <a:t>Radiological signs such as the halo sign or cavitation are suggestive but not specific.</a:t>
            </a:r>
          </a:p>
        </p:txBody>
      </p:sp>
      <p:sp>
        <p:nvSpPr>
          <p:cNvPr id="18" name="Rounded Rectangle 17"/>
          <p:cNvSpPr/>
          <p:nvPr/>
        </p:nvSpPr>
        <p:spPr>
          <a:xfrm>
            <a:off x="3611880" y="2788920"/>
            <a:ext cx="2606040" cy="12344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11880" y="2862072"/>
            <a:ext cx="64008" cy="10881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94760" y="2880360"/>
            <a:ext cx="2331720" cy="274320"/>
          </a:xfrm>
          <a:prstGeom prst="rect">
            <a:avLst/>
          </a:prstGeom>
          <a:noFill/>
        </p:spPr>
        <p:txBody>
          <a:bodyPr wrap="square" lIns="0" rIns="0" tIns="0" bIns="0" anchor="t">
            <a:spAutoFit/>
          </a:bodyPr>
          <a:lstStyle/>
          <a:p>
            <a:pPr algn="l"/>
            <a:r>
              <a:rPr sz="1150" b="1" i="0">
                <a:solidFill>
                  <a:srgbClr val="0E7C86"/>
                </a:solidFill>
                <a:latin typeface="Arial"/>
              </a:rPr>
              <a:t>Lab tests alone are slow / partial</a:t>
            </a:r>
          </a:p>
        </p:txBody>
      </p:sp>
      <p:sp>
        <p:nvSpPr>
          <p:cNvPr id="21" name="TextBox 20"/>
          <p:cNvSpPr txBox="1"/>
          <p:nvPr/>
        </p:nvSpPr>
        <p:spPr>
          <a:xfrm>
            <a:off x="3794760" y="3172968"/>
            <a:ext cx="2331720" cy="777240"/>
          </a:xfrm>
          <a:prstGeom prst="rect">
            <a:avLst/>
          </a:prstGeom>
          <a:noFill/>
        </p:spPr>
        <p:txBody>
          <a:bodyPr wrap="square" lIns="0" rIns="0" tIns="0" bIns="0" anchor="t">
            <a:spAutoFit/>
          </a:bodyPr>
          <a:lstStyle/>
          <a:p>
            <a:pPr algn="l"/>
            <a:r>
              <a:rPr sz="1000" b="0" i="0">
                <a:solidFill>
                  <a:srgbClr val="404040"/>
                </a:solidFill>
                <a:latin typeface="Arial"/>
              </a:rPr>
              <a:t>G-test and GM-antigen are positive in only a minority of cases in our data.</a:t>
            </a:r>
          </a:p>
        </p:txBody>
      </p:sp>
      <p:sp>
        <p:nvSpPr>
          <p:cNvPr id="22" name="Rounded Rectangle 21"/>
          <p:cNvSpPr/>
          <p:nvPr/>
        </p:nvSpPr>
        <p:spPr>
          <a:xfrm>
            <a:off x="822960" y="4251960"/>
            <a:ext cx="5394960" cy="1600200"/>
          </a:xfrm>
          <a:prstGeom prst="roundRect">
            <a:avLst>
              <a:gd name="adj" fmla="val 6000"/>
            </a:avLst>
          </a:prstGeom>
          <a:solidFill>
            <a:srgbClr val="FDF2DE"/>
          </a:solidFill>
          <a:ln w="1270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4370832"/>
            <a:ext cx="5029200" cy="274320"/>
          </a:xfrm>
          <a:prstGeom prst="rect">
            <a:avLst/>
          </a:prstGeom>
          <a:noFill/>
        </p:spPr>
        <p:txBody>
          <a:bodyPr wrap="square" lIns="0" rIns="0" tIns="0" bIns="0" anchor="t">
            <a:spAutoFit/>
          </a:bodyPr>
          <a:lstStyle/>
          <a:p>
            <a:pPr algn="l"/>
            <a:r>
              <a:rPr sz="1250" b="1" i="0">
                <a:solidFill>
                  <a:srgbClr val="B05A00"/>
                </a:solidFill>
                <a:latin typeface="Arial"/>
              </a:rPr>
              <a:t>Our hypothesis</a:t>
            </a:r>
          </a:p>
        </p:txBody>
      </p:sp>
      <p:sp>
        <p:nvSpPr>
          <p:cNvPr id="24" name="TextBox 23"/>
          <p:cNvSpPr txBox="1"/>
          <p:nvPr/>
        </p:nvSpPr>
        <p:spPr>
          <a:xfrm>
            <a:off x="1005840" y="4681728"/>
            <a:ext cx="5029200" cy="1097280"/>
          </a:xfrm>
          <a:prstGeom prst="rect">
            <a:avLst/>
          </a:prstGeom>
          <a:noFill/>
        </p:spPr>
        <p:txBody>
          <a:bodyPr wrap="square" lIns="0" rIns="0" tIns="0" bIns="0" anchor="t">
            <a:spAutoFit/>
          </a:bodyPr>
          <a:lstStyle/>
          <a:p>
            <a:pPr algn="l"/>
            <a:r>
              <a:rPr sz="1100" b="0" i="0">
                <a:solidFill>
                  <a:srgbClr val="404040"/>
                </a:solidFill>
                <a:latin typeface="Arial"/>
              </a:rPr>
              <a:t>Combining the CT pattern with a small set of routine clinical variables (immune status, comorbidities, fungal markers, lymphocyte count, D-dimer) gives a more reliable three-way classification than either source alone. We test this on PAC569, a public multi-centre dataset released in September 2026.</a:t>
            </a:r>
          </a:p>
        </p:txBody>
      </p:sp>
      <p:sp>
        <p:nvSpPr>
          <p:cNvPr id="25" name="Rectangle 24"/>
          <p:cNvSpPr/>
          <p:nvPr/>
        </p:nvSpPr>
        <p:spPr>
          <a:xfrm>
            <a:off x="6766560" y="1280160"/>
            <a:ext cx="155448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0" y="1280160"/>
            <a:ext cx="1554480" cy="256032"/>
          </a:xfrm>
          <a:prstGeom prst="rect">
            <a:avLst/>
          </a:prstGeom>
          <a:noFill/>
        </p:spPr>
        <p:txBody>
          <a:bodyPr wrap="square" lIns="0" rIns="0" tIns="0" bIns="0" anchor="ctr">
            <a:spAutoFit/>
          </a:bodyPr>
          <a:lstStyle/>
          <a:p>
            <a:pPr algn="ctr"/>
            <a:r>
              <a:rPr sz="1000" b="1" i="0">
                <a:solidFill>
                  <a:srgbClr val="FFFFFF"/>
                </a:solidFill>
                <a:latin typeface="Arial"/>
              </a:rPr>
              <a:t>PROJECT GOAL</a:t>
            </a:r>
          </a:p>
        </p:txBody>
      </p:sp>
      <p:sp>
        <p:nvSpPr>
          <p:cNvPr id="27" name="TextBox 26"/>
          <p:cNvSpPr txBox="1"/>
          <p:nvPr/>
        </p:nvSpPr>
        <p:spPr>
          <a:xfrm>
            <a:off x="6766560" y="1645920"/>
            <a:ext cx="4572000" cy="822960"/>
          </a:xfrm>
          <a:prstGeom prst="rect">
            <a:avLst/>
          </a:prstGeom>
          <a:noFill/>
        </p:spPr>
        <p:txBody>
          <a:bodyPr wrap="square" lIns="0" rIns="0" tIns="0" bIns="0" anchor="t">
            <a:spAutoFit/>
          </a:bodyPr>
          <a:lstStyle/>
          <a:p>
            <a:pPr algn="l"/>
            <a:r>
              <a:rPr sz="1150" b="0" i="0">
                <a:solidFill>
                  <a:srgbClr val="404040"/>
                </a:solidFill>
                <a:latin typeface="Arial"/>
              </a:rPr>
              <a:t>A research prototype that reads one patient's chest CT and clinical record and returns a three-class infection prediction with confidence — decision support, not a diagnosis.</a:t>
            </a:r>
          </a:p>
        </p:txBody>
      </p:sp>
      <p:sp>
        <p:nvSpPr>
          <p:cNvPr id="28" name="Rectangle 27"/>
          <p:cNvSpPr/>
          <p:nvPr/>
        </p:nvSpPr>
        <p:spPr>
          <a:xfrm>
            <a:off x="6766560" y="2606040"/>
            <a:ext cx="137160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0" y="2606040"/>
            <a:ext cx="1371600" cy="256032"/>
          </a:xfrm>
          <a:prstGeom prst="rect">
            <a:avLst/>
          </a:prstGeom>
          <a:noFill/>
        </p:spPr>
        <p:txBody>
          <a:bodyPr wrap="square" lIns="0" rIns="0" tIns="0" bIns="0" anchor="ctr">
            <a:spAutoFit/>
          </a:bodyPr>
          <a:lstStyle/>
          <a:p>
            <a:pPr algn="ctr"/>
            <a:r>
              <a:rPr sz="1000" b="1" i="0">
                <a:solidFill>
                  <a:srgbClr val="FFFFFF"/>
                </a:solidFill>
                <a:latin typeface="Arial"/>
              </a:rPr>
              <a:t>OBJECTIVES</a:t>
            </a:r>
          </a:p>
        </p:txBody>
      </p:sp>
      <p:sp>
        <p:nvSpPr>
          <p:cNvPr id="30" name="Oval 29"/>
          <p:cNvSpPr/>
          <p:nvPr/>
        </p:nvSpPr>
        <p:spPr>
          <a:xfrm>
            <a:off x="6766560" y="3017520"/>
            <a:ext cx="365760" cy="36576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0" y="3017520"/>
            <a:ext cx="365760" cy="365760"/>
          </a:xfrm>
          <a:prstGeom prst="rect">
            <a:avLst/>
          </a:prstGeom>
          <a:noFill/>
        </p:spPr>
        <p:txBody>
          <a:bodyPr wrap="square" lIns="0" rIns="0" tIns="0" bIns="0" anchor="ctr">
            <a:spAutoFit/>
          </a:bodyPr>
          <a:lstStyle/>
          <a:p>
            <a:pPr algn="ctr"/>
            <a:r>
              <a:rPr sz="1100" b="1" i="0">
                <a:solidFill>
                  <a:srgbClr val="FFFFFF"/>
                </a:solidFill>
                <a:latin typeface="Arial"/>
              </a:rPr>
              <a:t>01</a:t>
            </a:r>
          </a:p>
        </p:txBody>
      </p:sp>
      <p:sp>
        <p:nvSpPr>
          <p:cNvPr id="32" name="TextBox 31"/>
          <p:cNvSpPr txBox="1"/>
          <p:nvPr/>
        </p:nvSpPr>
        <p:spPr>
          <a:xfrm>
            <a:off x="7242048" y="2980944"/>
            <a:ext cx="4069080" cy="237744"/>
          </a:xfrm>
          <a:prstGeom prst="rect">
            <a:avLst/>
          </a:prstGeom>
          <a:noFill/>
        </p:spPr>
        <p:txBody>
          <a:bodyPr wrap="square" lIns="0" rIns="0" tIns="0" bIns="0" anchor="t">
            <a:spAutoFit/>
          </a:bodyPr>
          <a:lstStyle/>
          <a:p>
            <a:pPr algn="l"/>
            <a:r>
              <a:rPr sz="1250" b="1" i="0">
                <a:solidFill>
                  <a:srgbClr val="203864"/>
                </a:solidFill>
                <a:latin typeface="Arial"/>
              </a:rPr>
              <a:t>Classify</a:t>
            </a:r>
          </a:p>
        </p:txBody>
      </p:sp>
      <p:sp>
        <p:nvSpPr>
          <p:cNvPr id="33" name="TextBox 32"/>
          <p:cNvSpPr txBox="1"/>
          <p:nvPr/>
        </p:nvSpPr>
        <p:spPr>
          <a:xfrm>
            <a:off x="7242048" y="3218688"/>
            <a:ext cx="4069080" cy="457200"/>
          </a:xfrm>
          <a:prstGeom prst="rect">
            <a:avLst/>
          </a:prstGeom>
          <a:noFill/>
        </p:spPr>
        <p:txBody>
          <a:bodyPr wrap="square" lIns="0" rIns="0" tIns="0" bIns="0" anchor="t">
            <a:spAutoFit/>
          </a:bodyPr>
          <a:lstStyle/>
          <a:p>
            <a:pPr algn="l"/>
            <a:r>
              <a:rPr sz="1050" b="0" i="0">
                <a:solidFill>
                  <a:srgbClr val="404040"/>
                </a:solidFill>
                <a:latin typeface="Arial"/>
              </a:rPr>
              <a:t>Aspergillus vs non-Aspergillus fungi vs non-fungal, with calibrated confidence</a:t>
            </a:r>
          </a:p>
        </p:txBody>
      </p:sp>
      <p:sp>
        <p:nvSpPr>
          <p:cNvPr id="34" name="Oval 33"/>
          <p:cNvSpPr/>
          <p:nvPr/>
        </p:nvSpPr>
        <p:spPr>
          <a:xfrm>
            <a:off x="6766560" y="3703320"/>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766560" y="3703320"/>
            <a:ext cx="365760" cy="365760"/>
          </a:xfrm>
          <a:prstGeom prst="rect">
            <a:avLst/>
          </a:prstGeom>
          <a:noFill/>
        </p:spPr>
        <p:txBody>
          <a:bodyPr wrap="square" lIns="0" rIns="0" tIns="0" bIns="0" anchor="ctr">
            <a:spAutoFit/>
          </a:bodyPr>
          <a:lstStyle/>
          <a:p>
            <a:pPr algn="ctr"/>
            <a:r>
              <a:rPr sz="1100" b="1" i="0">
                <a:solidFill>
                  <a:srgbClr val="FFFFFF"/>
                </a:solidFill>
                <a:latin typeface="Arial"/>
              </a:rPr>
              <a:t>02</a:t>
            </a:r>
          </a:p>
        </p:txBody>
      </p:sp>
      <p:sp>
        <p:nvSpPr>
          <p:cNvPr id="36" name="TextBox 35"/>
          <p:cNvSpPr txBox="1"/>
          <p:nvPr/>
        </p:nvSpPr>
        <p:spPr>
          <a:xfrm>
            <a:off x="7242048" y="3666744"/>
            <a:ext cx="4069080" cy="237744"/>
          </a:xfrm>
          <a:prstGeom prst="rect">
            <a:avLst/>
          </a:prstGeom>
          <a:noFill/>
        </p:spPr>
        <p:txBody>
          <a:bodyPr wrap="square" lIns="0" rIns="0" tIns="0" bIns="0" anchor="t">
            <a:spAutoFit/>
          </a:bodyPr>
          <a:lstStyle/>
          <a:p>
            <a:pPr algn="l"/>
            <a:r>
              <a:rPr sz="1250" b="1" i="0">
                <a:solidFill>
                  <a:srgbClr val="203864"/>
                </a:solidFill>
                <a:latin typeface="Arial"/>
              </a:rPr>
              <a:t>Fuse modalities</a:t>
            </a:r>
          </a:p>
        </p:txBody>
      </p:sp>
      <p:sp>
        <p:nvSpPr>
          <p:cNvPr id="37" name="TextBox 36"/>
          <p:cNvSpPr txBox="1"/>
          <p:nvPr/>
        </p:nvSpPr>
        <p:spPr>
          <a:xfrm>
            <a:off x="7242048" y="3904487"/>
            <a:ext cx="4069080" cy="457200"/>
          </a:xfrm>
          <a:prstGeom prst="rect">
            <a:avLst/>
          </a:prstGeom>
          <a:noFill/>
        </p:spPr>
        <p:txBody>
          <a:bodyPr wrap="square" lIns="0" rIns="0" tIns="0" bIns="0" anchor="t">
            <a:spAutoFit/>
          </a:bodyPr>
          <a:lstStyle/>
          <a:p>
            <a:pPr algn="l"/>
            <a:r>
              <a:rPr sz="1050" b="0" i="0">
                <a:solidFill>
                  <a:srgbClr val="404040"/>
                </a:solidFill>
                <a:latin typeface="Arial"/>
              </a:rPr>
              <a:t>Show whether CT + clinical beats CT-only and clinical-only</a:t>
            </a:r>
          </a:p>
        </p:txBody>
      </p:sp>
      <p:sp>
        <p:nvSpPr>
          <p:cNvPr id="38" name="Oval 37"/>
          <p:cNvSpPr/>
          <p:nvPr/>
        </p:nvSpPr>
        <p:spPr>
          <a:xfrm>
            <a:off x="6766560" y="4389120"/>
            <a:ext cx="365760" cy="365760"/>
          </a:xfrm>
          <a:prstGeom prst="ellipse">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66560" y="4389120"/>
            <a:ext cx="365760" cy="365760"/>
          </a:xfrm>
          <a:prstGeom prst="rect">
            <a:avLst/>
          </a:prstGeom>
          <a:noFill/>
        </p:spPr>
        <p:txBody>
          <a:bodyPr wrap="square" lIns="0" rIns="0" tIns="0" bIns="0" anchor="ctr">
            <a:spAutoFit/>
          </a:bodyPr>
          <a:lstStyle/>
          <a:p>
            <a:pPr algn="ctr"/>
            <a:r>
              <a:rPr sz="1100" b="1" i="0">
                <a:solidFill>
                  <a:srgbClr val="FFFFFF"/>
                </a:solidFill>
                <a:latin typeface="Arial"/>
              </a:rPr>
              <a:t>03</a:t>
            </a:r>
          </a:p>
        </p:txBody>
      </p:sp>
      <p:sp>
        <p:nvSpPr>
          <p:cNvPr id="40" name="TextBox 39"/>
          <p:cNvSpPr txBox="1"/>
          <p:nvPr/>
        </p:nvSpPr>
        <p:spPr>
          <a:xfrm>
            <a:off x="7242048" y="4352544"/>
            <a:ext cx="4069080" cy="237744"/>
          </a:xfrm>
          <a:prstGeom prst="rect">
            <a:avLst/>
          </a:prstGeom>
          <a:noFill/>
        </p:spPr>
        <p:txBody>
          <a:bodyPr wrap="square" lIns="0" rIns="0" tIns="0" bIns="0" anchor="t">
            <a:spAutoFit/>
          </a:bodyPr>
          <a:lstStyle/>
          <a:p>
            <a:pPr algn="l"/>
            <a:r>
              <a:rPr sz="1250" b="1" i="0">
                <a:solidFill>
                  <a:srgbClr val="203864"/>
                </a:solidFill>
                <a:latin typeface="Arial"/>
              </a:rPr>
              <a:t>Explain</a:t>
            </a:r>
          </a:p>
        </p:txBody>
      </p:sp>
      <p:sp>
        <p:nvSpPr>
          <p:cNvPr id="41" name="TextBox 40"/>
          <p:cNvSpPr txBox="1"/>
          <p:nvPr/>
        </p:nvSpPr>
        <p:spPr>
          <a:xfrm>
            <a:off x="7242048" y="4590288"/>
            <a:ext cx="4069080" cy="457200"/>
          </a:xfrm>
          <a:prstGeom prst="rect">
            <a:avLst/>
          </a:prstGeom>
          <a:noFill/>
        </p:spPr>
        <p:txBody>
          <a:bodyPr wrap="square" lIns="0" rIns="0" tIns="0" bIns="0" anchor="t">
            <a:spAutoFit/>
          </a:bodyPr>
          <a:lstStyle/>
          <a:p>
            <a:pPr algn="l"/>
            <a:r>
              <a:rPr sz="1050" b="0" i="0">
                <a:solidFill>
                  <a:srgbClr val="404040"/>
                </a:solidFill>
                <a:latin typeface="Arial"/>
              </a:rPr>
              <a:t>Highlight suspicious lung regions (saliency); severity estimate as stretch goal</a:t>
            </a:r>
          </a:p>
        </p:txBody>
      </p:sp>
      <p:sp>
        <p:nvSpPr>
          <p:cNvPr id="42" name="Oval 41"/>
          <p:cNvSpPr/>
          <p:nvPr/>
        </p:nvSpPr>
        <p:spPr>
          <a:xfrm>
            <a:off x="6766560" y="5074920"/>
            <a:ext cx="365760" cy="36576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766560" y="5074920"/>
            <a:ext cx="365760" cy="365760"/>
          </a:xfrm>
          <a:prstGeom prst="rect">
            <a:avLst/>
          </a:prstGeom>
          <a:noFill/>
        </p:spPr>
        <p:txBody>
          <a:bodyPr wrap="square" lIns="0" rIns="0" tIns="0" bIns="0" anchor="ctr">
            <a:spAutoFit/>
          </a:bodyPr>
          <a:lstStyle/>
          <a:p>
            <a:pPr algn="ctr"/>
            <a:r>
              <a:rPr sz="1100" b="1" i="0">
                <a:solidFill>
                  <a:srgbClr val="FFFFFF"/>
                </a:solidFill>
                <a:latin typeface="Arial"/>
              </a:rPr>
              <a:t>04</a:t>
            </a:r>
          </a:p>
        </p:txBody>
      </p:sp>
      <p:sp>
        <p:nvSpPr>
          <p:cNvPr id="44" name="TextBox 43"/>
          <p:cNvSpPr txBox="1"/>
          <p:nvPr/>
        </p:nvSpPr>
        <p:spPr>
          <a:xfrm>
            <a:off x="7242048" y="5038344"/>
            <a:ext cx="4069080" cy="237744"/>
          </a:xfrm>
          <a:prstGeom prst="rect">
            <a:avLst/>
          </a:prstGeom>
          <a:noFill/>
        </p:spPr>
        <p:txBody>
          <a:bodyPr wrap="square" lIns="0" rIns="0" tIns="0" bIns="0" anchor="t">
            <a:spAutoFit/>
          </a:bodyPr>
          <a:lstStyle/>
          <a:p>
            <a:pPr algn="l"/>
            <a:r>
              <a:rPr sz="1250" b="1" i="0">
                <a:solidFill>
                  <a:srgbClr val="203864"/>
                </a:solidFill>
                <a:latin typeface="Arial"/>
              </a:rPr>
              <a:t>Study the data regime</a:t>
            </a:r>
          </a:p>
        </p:txBody>
      </p:sp>
      <p:sp>
        <p:nvSpPr>
          <p:cNvPr id="45" name="TextBox 44"/>
          <p:cNvSpPr txBox="1"/>
          <p:nvPr/>
        </p:nvSpPr>
        <p:spPr>
          <a:xfrm>
            <a:off x="7242048" y="5276088"/>
            <a:ext cx="4069080" cy="457200"/>
          </a:xfrm>
          <a:prstGeom prst="rect">
            <a:avLst/>
          </a:prstGeom>
          <a:noFill/>
        </p:spPr>
        <p:txBody>
          <a:bodyPr wrap="square" lIns="0" rIns="0" tIns="0" bIns="0" anchor="t">
            <a:spAutoFit/>
          </a:bodyPr>
          <a:lstStyle/>
          <a:p>
            <a:pPr algn="l"/>
            <a:r>
              <a:rPr sz="1050" b="0" i="0">
                <a:solidFill>
                  <a:srgbClr val="404040"/>
                </a:solidFill>
                <a:latin typeface="Arial"/>
              </a:rPr>
              <a:t>Pre-trained backbones, training-set size and augmentation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Rectangle 2"/>
          <p:cNvSpPr/>
          <p:nvPr/>
        </p:nvSpPr>
        <p:spPr>
          <a:xfrm>
            <a:off x="2011680" y="146304"/>
            <a:ext cx="155448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FFFFFF"/>
                </a:solidFill>
                <a:latin typeface="Arial"/>
              </a:rPr>
              <a:t>Scope &amp; Data</a:t>
            </a: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Project Scope — What the Prototype Will and Will Not Do</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3</a:t>
            </a:r>
          </a:p>
        </p:txBody>
      </p:sp>
      <p:sp>
        <p:nvSpPr>
          <p:cNvPr id="11" name="Rectangle 10"/>
          <p:cNvSpPr/>
          <p:nvPr/>
        </p:nvSpPr>
        <p:spPr>
          <a:xfrm>
            <a:off x="822960" y="1280160"/>
            <a:ext cx="237744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2377440" cy="256032"/>
          </a:xfrm>
          <a:prstGeom prst="rect">
            <a:avLst/>
          </a:prstGeom>
          <a:noFill/>
        </p:spPr>
        <p:txBody>
          <a:bodyPr wrap="square" lIns="0" rIns="0" tIns="0" bIns="0" anchor="ctr">
            <a:spAutoFit/>
          </a:bodyPr>
          <a:lstStyle/>
          <a:p>
            <a:pPr algn="ctr"/>
            <a:r>
              <a:rPr sz="1000" b="1" i="0">
                <a:solidFill>
                  <a:srgbClr val="FFFFFF"/>
                </a:solidFill>
                <a:latin typeface="Arial"/>
              </a:rPr>
              <a:t>FUNCTIONAL REQUIREMENTS</a:t>
            </a:r>
          </a:p>
        </p:txBody>
      </p:sp>
      <p:graphicFrame>
        <p:nvGraphicFramePr>
          <p:cNvPr id="13" name="Table 12"/>
          <p:cNvGraphicFramePr>
            <a:graphicFrameLocks noGrp="1"/>
          </p:cNvGraphicFramePr>
          <p:nvPr/>
        </p:nvGraphicFramePr>
        <p:xfrm>
          <a:off x="822960" y="1645920"/>
          <a:ext cx="6035040" cy="3456432"/>
        </p:xfrm>
        <a:graphic>
          <a:graphicData uri="http://schemas.openxmlformats.org/drawingml/2006/table">
            <a:tbl>
              <a:tblPr firstRow="1" bandRow="1">
                <a:tableStyleId>{5C22544A-7EE6-4342-B048-85BDC9FD1C3A}</a:tableStyleId>
              </a:tblPr>
              <a:tblGrid>
                <a:gridCol w="548640"/>
                <a:gridCol w="4480560"/>
                <a:gridCol w="1005840"/>
              </a:tblGrid>
              <a:tr h="384048">
                <a:tc>
                  <a:txBody>
                    <a:bodyPr/>
                    <a:lstStyle/>
                    <a:p>
                      <a:pPr algn="l"/>
                      <a:r>
                        <a:rPr sz="1000" b="1">
                          <a:solidFill>
                            <a:srgbClr val="FFFFFF"/>
                          </a:solidFill>
                          <a:latin typeface="Arial"/>
                        </a:rPr>
                        <a:t>ID</a:t>
                      </a:r>
                    </a:p>
                  </a:txBody>
                  <a:tcPr marL="73152" marR="73152" marT="18288" marB="18288" anchor="ctr">
                    <a:solidFill>
                      <a:srgbClr val="203864"/>
                    </a:solidFill>
                  </a:tcPr>
                </a:tc>
                <a:tc>
                  <a:txBody>
                    <a:bodyPr/>
                    <a:lstStyle/>
                    <a:p>
                      <a:pPr algn="l"/>
                      <a:r>
                        <a:rPr sz="1000" b="1">
                          <a:solidFill>
                            <a:srgbClr val="FFFFFF"/>
                          </a:solidFill>
                          <a:latin typeface="Arial"/>
                        </a:rPr>
                        <a:t>Requirement</a:t>
                      </a:r>
                    </a:p>
                  </a:txBody>
                  <a:tcPr marL="73152" marR="73152" marT="18288" marB="18288" anchor="ctr">
                    <a:solidFill>
                      <a:srgbClr val="203864"/>
                    </a:solidFill>
                  </a:tcPr>
                </a:tc>
                <a:tc>
                  <a:txBody>
                    <a:bodyPr/>
                    <a:lstStyle/>
                    <a:p>
                      <a:pPr algn="ctr"/>
                      <a:r>
                        <a:rPr sz="1000" b="1">
                          <a:solidFill>
                            <a:srgbClr val="FFFFFF"/>
                          </a:solidFill>
                          <a:latin typeface="Arial"/>
                        </a:rPr>
                        <a:t>Priority</a:t>
                      </a:r>
                    </a:p>
                  </a:txBody>
                  <a:tcPr marL="73152" marR="73152" marT="18288" marB="18288" anchor="ctr">
                    <a:solidFill>
                      <a:srgbClr val="203864"/>
                    </a:solidFill>
                  </a:tcPr>
                </a:tc>
              </a:tr>
              <a:tr h="384048">
                <a:tc>
                  <a:txBody>
                    <a:bodyPr/>
                    <a:lstStyle/>
                    <a:p>
                      <a:pPr algn="l"/>
                      <a:r>
                        <a:rPr sz="1000" b="1">
                          <a:solidFill>
                            <a:srgbClr val="1A1A1A"/>
                          </a:solidFill>
                          <a:latin typeface="Arial"/>
                        </a:rPr>
                        <a:t>FR1</a:t>
                      </a:r>
                    </a:p>
                  </a:txBody>
                  <a:tcPr marL="73152" marR="73152" marT="18288" marB="18288" anchor="ctr">
                    <a:solidFill>
                      <a:srgbClr val="FFFFFF"/>
                    </a:solidFill>
                  </a:tcPr>
                </a:tc>
                <a:tc>
                  <a:txBody>
                    <a:bodyPr/>
                    <a:lstStyle/>
                    <a:p>
                      <a:pPr algn="l"/>
                      <a:r>
                        <a:rPr sz="1000" b="0">
                          <a:solidFill>
                            <a:srgbClr val="1A1A1A"/>
                          </a:solidFill>
                          <a:latin typeface="Arial"/>
                        </a:rPr>
                        <a:t>Load one case: CT volume (NIfTI) + clinical record</a:t>
                      </a:r>
                    </a:p>
                  </a:txBody>
                  <a:tcPr marL="73152" marR="73152" marT="18288" marB="18288" anchor="ctr">
                    <a:solidFill>
                      <a:srgbClr val="FFFFFF"/>
                    </a:solidFill>
                  </a:tcPr>
                </a:tc>
                <a:tc>
                  <a:txBody>
                    <a:bodyPr/>
                    <a:lstStyle/>
                    <a:p>
                      <a:pPr algn="ctr"/>
                      <a:r>
                        <a:rPr sz="1000" b="0">
                          <a:solidFill>
                            <a:srgbClr val="1A1A1A"/>
                          </a:solidFill>
                          <a:latin typeface="Arial"/>
                        </a:rPr>
                        <a:t>Must</a:t>
                      </a:r>
                    </a:p>
                  </a:txBody>
                  <a:tcPr marL="73152" marR="73152" marT="18288" marB="18288" anchor="ctr">
                    <a:solidFill>
                      <a:srgbClr val="FFFFFF"/>
                    </a:solidFill>
                  </a:tcPr>
                </a:tc>
              </a:tr>
              <a:tr h="384048">
                <a:tc>
                  <a:txBody>
                    <a:bodyPr/>
                    <a:lstStyle/>
                    <a:p>
                      <a:pPr algn="l"/>
                      <a:r>
                        <a:rPr sz="1000" b="1">
                          <a:solidFill>
                            <a:srgbClr val="1A1A1A"/>
                          </a:solidFill>
                          <a:latin typeface="Arial"/>
                        </a:rPr>
                        <a:t>FR2</a:t>
                      </a:r>
                    </a:p>
                  </a:txBody>
                  <a:tcPr marL="73152" marR="73152" marT="18288" marB="18288" anchor="ctr">
                    <a:solidFill>
                      <a:srgbClr val="F2F5F9"/>
                    </a:solidFill>
                  </a:tcPr>
                </a:tc>
                <a:tc>
                  <a:txBody>
                    <a:bodyPr/>
                    <a:lstStyle/>
                    <a:p>
                      <a:pPr algn="l"/>
                      <a:r>
                        <a:rPr sz="1000" b="0">
                          <a:solidFill>
                            <a:srgbClr val="1A1A1A"/>
                          </a:solidFill>
                          <a:latin typeface="Arial"/>
                        </a:rPr>
                        <a:t>Preprocess CT (window, lung crop, slice sampling)</a:t>
                      </a:r>
                    </a:p>
                  </a:txBody>
                  <a:tcPr marL="73152" marR="73152" marT="18288" marB="18288" anchor="ctr">
                    <a:solidFill>
                      <a:srgbClr val="F2F5F9"/>
                    </a:solidFill>
                  </a:tcPr>
                </a:tc>
                <a:tc>
                  <a:txBody>
                    <a:bodyPr/>
                    <a:lstStyle/>
                    <a:p>
                      <a:pPr algn="ctr"/>
                      <a:r>
                        <a:rPr sz="1000" b="0">
                          <a:solidFill>
                            <a:srgbClr val="1A1A1A"/>
                          </a:solidFill>
                          <a:latin typeface="Arial"/>
                        </a:rPr>
                        <a:t>Must</a:t>
                      </a:r>
                    </a:p>
                  </a:txBody>
                  <a:tcPr marL="73152" marR="73152" marT="18288" marB="18288" anchor="ctr">
                    <a:solidFill>
                      <a:srgbClr val="F2F5F9"/>
                    </a:solidFill>
                  </a:tcPr>
                </a:tc>
              </a:tr>
              <a:tr h="384048">
                <a:tc>
                  <a:txBody>
                    <a:bodyPr/>
                    <a:lstStyle/>
                    <a:p>
                      <a:pPr algn="l"/>
                      <a:r>
                        <a:rPr sz="1000" b="1">
                          <a:solidFill>
                            <a:srgbClr val="1A1A1A"/>
                          </a:solidFill>
                          <a:latin typeface="Arial"/>
                        </a:rPr>
                        <a:t>FR3</a:t>
                      </a:r>
                    </a:p>
                  </a:txBody>
                  <a:tcPr marL="73152" marR="73152" marT="18288" marB="18288" anchor="ctr">
                    <a:solidFill>
                      <a:srgbClr val="FFFFFF"/>
                    </a:solidFill>
                  </a:tcPr>
                </a:tc>
                <a:tc>
                  <a:txBody>
                    <a:bodyPr/>
                    <a:lstStyle/>
                    <a:p>
                      <a:pPr algn="l"/>
                      <a:r>
                        <a:rPr sz="1000" b="0">
                          <a:solidFill>
                            <a:srgbClr val="1A1A1A"/>
                          </a:solidFill>
                          <a:latin typeface="Arial"/>
                        </a:rPr>
                        <a:t>Encode clinical data (impute, scale, one-hot)</a:t>
                      </a:r>
                    </a:p>
                  </a:txBody>
                  <a:tcPr marL="73152" marR="73152" marT="18288" marB="18288" anchor="ctr">
                    <a:solidFill>
                      <a:srgbClr val="FFFFFF"/>
                    </a:solidFill>
                  </a:tcPr>
                </a:tc>
                <a:tc>
                  <a:txBody>
                    <a:bodyPr/>
                    <a:lstStyle/>
                    <a:p>
                      <a:pPr algn="ctr"/>
                      <a:r>
                        <a:rPr sz="1000" b="0">
                          <a:solidFill>
                            <a:srgbClr val="1A1A1A"/>
                          </a:solidFill>
                          <a:latin typeface="Arial"/>
                        </a:rPr>
                        <a:t>Must</a:t>
                      </a:r>
                    </a:p>
                  </a:txBody>
                  <a:tcPr marL="73152" marR="73152" marT="18288" marB="18288" anchor="ctr">
                    <a:solidFill>
                      <a:srgbClr val="FFFFFF"/>
                    </a:solidFill>
                  </a:tcPr>
                </a:tc>
              </a:tr>
              <a:tr h="384048">
                <a:tc>
                  <a:txBody>
                    <a:bodyPr/>
                    <a:lstStyle/>
                    <a:p>
                      <a:pPr algn="l"/>
                      <a:r>
                        <a:rPr sz="1000" b="1">
                          <a:solidFill>
                            <a:srgbClr val="1A1A1A"/>
                          </a:solidFill>
                          <a:latin typeface="Arial"/>
                        </a:rPr>
                        <a:t>FR4</a:t>
                      </a:r>
                    </a:p>
                  </a:txBody>
                  <a:tcPr marL="73152" marR="73152" marT="18288" marB="18288" anchor="ctr">
                    <a:solidFill>
                      <a:srgbClr val="F2F5F9"/>
                    </a:solidFill>
                  </a:tcPr>
                </a:tc>
                <a:tc>
                  <a:txBody>
                    <a:bodyPr/>
                    <a:lstStyle/>
                    <a:p>
                      <a:pPr algn="l"/>
                      <a:r>
                        <a:rPr sz="1000" b="0">
                          <a:solidFill>
                            <a:srgbClr val="1A1A1A"/>
                          </a:solidFill>
                          <a:latin typeface="Arial"/>
                        </a:rPr>
                        <a:t>Predict 3 classes with probabilities</a:t>
                      </a:r>
                    </a:p>
                  </a:txBody>
                  <a:tcPr marL="73152" marR="73152" marT="18288" marB="18288" anchor="ctr">
                    <a:solidFill>
                      <a:srgbClr val="F2F5F9"/>
                    </a:solidFill>
                  </a:tcPr>
                </a:tc>
                <a:tc>
                  <a:txBody>
                    <a:bodyPr/>
                    <a:lstStyle/>
                    <a:p>
                      <a:pPr algn="ctr"/>
                      <a:r>
                        <a:rPr sz="1000" b="0">
                          <a:solidFill>
                            <a:srgbClr val="1A1A1A"/>
                          </a:solidFill>
                          <a:latin typeface="Arial"/>
                        </a:rPr>
                        <a:t>Must</a:t>
                      </a:r>
                    </a:p>
                  </a:txBody>
                  <a:tcPr marL="73152" marR="73152" marT="18288" marB="18288" anchor="ctr">
                    <a:solidFill>
                      <a:srgbClr val="F2F5F9"/>
                    </a:solidFill>
                  </a:tcPr>
                </a:tc>
              </a:tr>
              <a:tr h="384048">
                <a:tc>
                  <a:txBody>
                    <a:bodyPr/>
                    <a:lstStyle/>
                    <a:p>
                      <a:pPr algn="l"/>
                      <a:r>
                        <a:rPr sz="1000" b="1">
                          <a:solidFill>
                            <a:srgbClr val="1A1A1A"/>
                          </a:solidFill>
                          <a:latin typeface="Arial"/>
                        </a:rPr>
                        <a:t>FR5</a:t>
                      </a:r>
                    </a:p>
                  </a:txBody>
                  <a:tcPr marL="73152" marR="73152" marT="18288" marB="18288" anchor="ctr">
                    <a:solidFill>
                      <a:srgbClr val="FFFFFF"/>
                    </a:solidFill>
                  </a:tcPr>
                </a:tc>
                <a:tc>
                  <a:txBody>
                    <a:bodyPr/>
                    <a:lstStyle/>
                    <a:p>
                      <a:pPr algn="l"/>
                      <a:r>
                        <a:rPr sz="1000" b="0">
                          <a:solidFill>
                            <a:srgbClr val="1A1A1A"/>
                          </a:solidFill>
                          <a:latin typeface="Arial"/>
                        </a:rPr>
                        <a:t>Return 'uncertain' when confidence is low</a:t>
                      </a:r>
                    </a:p>
                  </a:txBody>
                  <a:tcPr marL="73152" marR="73152" marT="18288" marB="18288" anchor="ctr">
                    <a:solidFill>
                      <a:srgbClr val="FFFFFF"/>
                    </a:solidFill>
                  </a:tcPr>
                </a:tc>
                <a:tc>
                  <a:txBody>
                    <a:bodyPr/>
                    <a:lstStyle/>
                    <a:p>
                      <a:pPr algn="ctr"/>
                      <a:r>
                        <a:rPr sz="1000" b="0">
                          <a:solidFill>
                            <a:srgbClr val="1A1A1A"/>
                          </a:solidFill>
                          <a:latin typeface="Arial"/>
                        </a:rPr>
                        <a:t>Should</a:t>
                      </a:r>
                    </a:p>
                  </a:txBody>
                  <a:tcPr marL="73152" marR="73152" marT="18288" marB="18288" anchor="ctr">
                    <a:solidFill>
                      <a:srgbClr val="FFFFFF"/>
                    </a:solidFill>
                  </a:tcPr>
                </a:tc>
              </a:tr>
              <a:tr h="384048">
                <a:tc>
                  <a:txBody>
                    <a:bodyPr/>
                    <a:lstStyle/>
                    <a:p>
                      <a:pPr algn="l"/>
                      <a:r>
                        <a:rPr sz="1000" b="1">
                          <a:solidFill>
                            <a:srgbClr val="1A1A1A"/>
                          </a:solidFill>
                          <a:latin typeface="Arial"/>
                        </a:rPr>
                        <a:t>FR6</a:t>
                      </a:r>
                    </a:p>
                  </a:txBody>
                  <a:tcPr marL="73152" marR="73152" marT="18288" marB="18288" anchor="ctr">
                    <a:solidFill>
                      <a:srgbClr val="F2F5F9"/>
                    </a:solidFill>
                  </a:tcPr>
                </a:tc>
                <a:tc>
                  <a:txBody>
                    <a:bodyPr/>
                    <a:lstStyle/>
                    <a:p>
                      <a:pPr algn="l"/>
                      <a:r>
                        <a:rPr sz="1000" b="0">
                          <a:solidFill>
                            <a:srgbClr val="1A1A1A"/>
                          </a:solidFill>
                          <a:latin typeface="Arial"/>
                        </a:rPr>
                        <a:t>Saliency map over CT slices (lesion localisation)</a:t>
                      </a:r>
                    </a:p>
                  </a:txBody>
                  <a:tcPr marL="73152" marR="73152" marT="18288" marB="18288" anchor="ctr">
                    <a:solidFill>
                      <a:srgbClr val="F2F5F9"/>
                    </a:solidFill>
                  </a:tcPr>
                </a:tc>
                <a:tc>
                  <a:txBody>
                    <a:bodyPr/>
                    <a:lstStyle/>
                    <a:p>
                      <a:pPr algn="ctr"/>
                      <a:r>
                        <a:rPr sz="1000" b="0">
                          <a:solidFill>
                            <a:srgbClr val="1A1A1A"/>
                          </a:solidFill>
                          <a:latin typeface="Arial"/>
                        </a:rPr>
                        <a:t>Should</a:t>
                      </a:r>
                    </a:p>
                  </a:txBody>
                  <a:tcPr marL="73152" marR="73152" marT="18288" marB="18288" anchor="ctr">
                    <a:solidFill>
                      <a:srgbClr val="F2F5F9"/>
                    </a:solidFill>
                  </a:tcPr>
                </a:tc>
              </a:tr>
              <a:tr h="384048">
                <a:tc>
                  <a:txBody>
                    <a:bodyPr/>
                    <a:lstStyle/>
                    <a:p>
                      <a:pPr algn="l"/>
                      <a:r>
                        <a:rPr sz="1000" b="1">
                          <a:solidFill>
                            <a:srgbClr val="1A1A1A"/>
                          </a:solidFill>
                          <a:latin typeface="Arial"/>
                        </a:rPr>
                        <a:t>FR7</a:t>
                      </a:r>
                    </a:p>
                  </a:txBody>
                  <a:tcPr marL="73152" marR="73152" marT="18288" marB="18288" anchor="ctr">
                    <a:solidFill>
                      <a:srgbClr val="FFFFFF"/>
                    </a:solidFill>
                  </a:tcPr>
                </a:tc>
                <a:tc>
                  <a:txBody>
                    <a:bodyPr/>
                    <a:lstStyle/>
                    <a:p>
                      <a:pPr algn="l"/>
                      <a:r>
                        <a:rPr sz="1000" b="0">
                          <a:solidFill>
                            <a:srgbClr val="1A1A1A"/>
                          </a:solidFill>
                          <a:latin typeface="Arial"/>
                        </a:rPr>
                        <a:t>Severity estimate (definition to agree with supervisor)</a:t>
                      </a:r>
                    </a:p>
                  </a:txBody>
                  <a:tcPr marL="73152" marR="73152" marT="18288" marB="18288" anchor="ctr">
                    <a:solidFill>
                      <a:srgbClr val="FFFFFF"/>
                    </a:solidFill>
                  </a:tcPr>
                </a:tc>
                <a:tc>
                  <a:txBody>
                    <a:bodyPr/>
                    <a:lstStyle/>
                    <a:p>
                      <a:pPr algn="ctr"/>
                      <a:r>
                        <a:rPr sz="1000" b="0">
                          <a:solidFill>
                            <a:srgbClr val="1A1A1A"/>
                          </a:solidFill>
                          <a:latin typeface="Arial"/>
                        </a:rPr>
                        <a:t>Could</a:t>
                      </a:r>
                    </a:p>
                  </a:txBody>
                  <a:tcPr marL="73152" marR="73152" marT="18288" marB="18288" anchor="ctr">
                    <a:solidFill>
                      <a:srgbClr val="FFFFFF"/>
                    </a:solidFill>
                  </a:tcPr>
                </a:tc>
              </a:tr>
              <a:tr h="384048">
                <a:tc>
                  <a:txBody>
                    <a:bodyPr/>
                    <a:lstStyle/>
                    <a:p>
                      <a:pPr algn="l"/>
                      <a:r>
                        <a:rPr sz="1000" b="1">
                          <a:solidFill>
                            <a:srgbClr val="1A1A1A"/>
                          </a:solidFill>
                          <a:latin typeface="Arial"/>
                        </a:rPr>
                        <a:t>FR8</a:t>
                      </a:r>
                    </a:p>
                  </a:txBody>
                  <a:tcPr marL="73152" marR="73152" marT="18288" marB="18288" anchor="ctr">
                    <a:solidFill>
                      <a:srgbClr val="F2F5F9"/>
                    </a:solidFill>
                  </a:tcPr>
                </a:tc>
                <a:tc>
                  <a:txBody>
                    <a:bodyPr/>
                    <a:lstStyle/>
                    <a:p>
                      <a:pPr algn="l"/>
                      <a:r>
                        <a:rPr sz="1000" b="0">
                          <a:solidFill>
                            <a:srgbClr val="1A1A1A"/>
                          </a:solidFill>
                          <a:latin typeface="Arial"/>
                        </a:rPr>
                        <a:t>Viewer UI: CT slices + clinical panel + outputs</a:t>
                      </a:r>
                    </a:p>
                  </a:txBody>
                  <a:tcPr marL="73152" marR="73152" marT="18288" marB="18288" anchor="ctr">
                    <a:solidFill>
                      <a:srgbClr val="F2F5F9"/>
                    </a:solidFill>
                  </a:tcPr>
                </a:tc>
                <a:tc>
                  <a:txBody>
                    <a:bodyPr/>
                    <a:lstStyle/>
                    <a:p>
                      <a:pPr algn="ctr"/>
                      <a:r>
                        <a:rPr sz="1000" b="0">
                          <a:solidFill>
                            <a:srgbClr val="1A1A1A"/>
                          </a:solidFill>
                          <a:latin typeface="Arial"/>
                        </a:rPr>
                        <a:t>Must</a:t>
                      </a:r>
                    </a:p>
                  </a:txBody>
                  <a:tcPr marL="73152" marR="73152" marT="18288" marB="18288" anchor="ctr">
                    <a:solidFill>
                      <a:srgbClr val="F2F5F9"/>
                    </a:solidFill>
                  </a:tcPr>
                </a:tc>
              </a:tr>
            </a:tbl>
          </a:graphicData>
        </a:graphic>
      </p:graphicFrame>
      <p:sp>
        <p:nvSpPr>
          <p:cNvPr id="14" name="Rectangle 13"/>
          <p:cNvSpPr/>
          <p:nvPr/>
        </p:nvSpPr>
        <p:spPr>
          <a:xfrm>
            <a:off x="7269480" y="1280160"/>
            <a:ext cx="283464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9480" y="1280160"/>
            <a:ext cx="2834640" cy="256032"/>
          </a:xfrm>
          <a:prstGeom prst="rect">
            <a:avLst/>
          </a:prstGeom>
          <a:noFill/>
        </p:spPr>
        <p:txBody>
          <a:bodyPr wrap="square" lIns="0" rIns="0" tIns="0" bIns="0" anchor="ctr">
            <a:spAutoFit/>
          </a:bodyPr>
          <a:lstStyle/>
          <a:p>
            <a:pPr algn="ctr"/>
            <a:r>
              <a:rPr sz="1000" b="1" i="0">
                <a:solidFill>
                  <a:srgbClr val="FFFFFF"/>
                </a:solidFill>
                <a:latin typeface="Arial"/>
              </a:rPr>
              <a:t>PATTERN-RECOGNITION TECHNIQUES</a:t>
            </a:r>
          </a:p>
        </p:txBody>
      </p:sp>
      <p:sp>
        <p:nvSpPr>
          <p:cNvPr id="16" name="Rounded Rectangle 15"/>
          <p:cNvSpPr/>
          <p:nvPr/>
        </p:nvSpPr>
        <p:spPr>
          <a:xfrm>
            <a:off x="7269480" y="1645920"/>
            <a:ext cx="4114800" cy="7772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69480" y="1719072"/>
            <a:ext cx="64008" cy="630936"/>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52360" y="1737360"/>
            <a:ext cx="3840480" cy="274320"/>
          </a:xfrm>
          <a:prstGeom prst="rect">
            <a:avLst/>
          </a:prstGeom>
          <a:noFill/>
        </p:spPr>
        <p:txBody>
          <a:bodyPr wrap="square" lIns="0" rIns="0" tIns="0" bIns="0" anchor="t">
            <a:spAutoFit/>
          </a:bodyPr>
          <a:lstStyle/>
          <a:p>
            <a:pPr algn="l"/>
            <a:r>
              <a:rPr sz="1150" b="1" i="0">
                <a:solidFill>
                  <a:srgbClr val="203864"/>
                </a:solidFill>
                <a:latin typeface="Arial"/>
              </a:rPr>
              <a:t>Supervised deep learning</a:t>
            </a:r>
          </a:p>
        </p:txBody>
      </p:sp>
      <p:sp>
        <p:nvSpPr>
          <p:cNvPr id="19" name="TextBox 18"/>
          <p:cNvSpPr txBox="1"/>
          <p:nvPr/>
        </p:nvSpPr>
        <p:spPr>
          <a:xfrm>
            <a:off x="7452360" y="2029968"/>
            <a:ext cx="3840480" cy="320040"/>
          </a:xfrm>
          <a:prstGeom prst="rect">
            <a:avLst/>
          </a:prstGeom>
          <a:noFill/>
        </p:spPr>
        <p:txBody>
          <a:bodyPr wrap="square" lIns="0" rIns="0" tIns="0" bIns="0" anchor="t">
            <a:spAutoFit/>
          </a:bodyPr>
          <a:lstStyle/>
          <a:p>
            <a:pPr algn="l"/>
            <a:r>
              <a:rPr sz="950" b="0" i="0">
                <a:solidFill>
                  <a:srgbClr val="404040"/>
                </a:solidFill>
                <a:latin typeface="Arial"/>
              </a:rPr>
              <a:t>Transfer learning from ImageNet ResNet-18 / ResNet-50 on 2.5D CT slices</a:t>
            </a:r>
          </a:p>
        </p:txBody>
      </p:sp>
      <p:sp>
        <p:nvSpPr>
          <p:cNvPr id="20" name="Rounded Rectangle 19"/>
          <p:cNvSpPr/>
          <p:nvPr/>
        </p:nvSpPr>
        <p:spPr>
          <a:xfrm>
            <a:off x="7269480" y="2514600"/>
            <a:ext cx="4114800" cy="7772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69480" y="2587752"/>
            <a:ext cx="64008" cy="6309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52360" y="2606040"/>
            <a:ext cx="3840480" cy="274320"/>
          </a:xfrm>
          <a:prstGeom prst="rect">
            <a:avLst/>
          </a:prstGeom>
          <a:noFill/>
        </p:spPr>
        <p:txBody>
          <a:bodyPr wrap="square" lIns="0" rIns="0" tIns="0" bIns="0" anchor="t">
            <a:spAutoFit/>
          </a:bodyPr>
          <a:lstStyle/>
          <a:p>
            <a:pPr algn="l"/>
            <a:r>
              <a:rPr sz="1150" b="1" i="0">
                <a:solidFill>
                  <a:srgbClr val="0E7C86"/>
                </a:solidFill>
                <a:latin typeface="Arial"/>
              </a:rPr>
              <a:t>Multimodal fusion</a:t>
            </a:r>
          </a:p>
        </p:txBody>
      </p:sp>
      <p:sp>
        <p:nvSpPr>
          <p:cNvPr id="23" name="TextBox 22"/>
          <p:cNvSpPr txBox="1"/>
          <p:nvPr/>
        </p:nvSpPr>
        <p:spPr>
          <a:xfrm>
            <a:off x="7452360" y="2898648"/>
            <a:ext cx="3840480" cy="320040"/>
          </a:xfrm>
          <a:prstGeom prst="rect">
            <a:avLst/>
          </a:prstGeom>
          <a:noFill/>
        </p:spPr>
        <p:txBody>
          <a:bodyPr wrap="square" lIns="0" rIns="0" tIns="0" bIns="0" anchor="t">
            <a:spAutoFit/>
          </a:bodyPr>
          <a:lstStyle/>
          <a:p>
            <a:pPr algn="l"/>
            <a:r>
              <a:rPr sz="950" b="0" i="0">
                <a:solidFill>
                  <a:srgbClr val="404040"/>
                </a:solidFill>
                <a:latin typeface="Arial"/>
              </a:rPr>
              <a:t>CT features ⊕ clinical MLP features → MLP classifier (late / feature fusion)</a:t>
            </a:r>
          </a:p>
        </p:txBody>
      </p:sp>
      <p:sp>
        <p:nvSpPr>
          <p:cNvPr id="24" name="Rounded Rectangle 23"/>
          <p:cNvSpPr/>
          <p:nvPr/>
        </p:nvSpPr>
        <p:spPr>
          <a:xfrm>
            <a:off x="7269480" y="3383280"/>
            <a:ext cx="4114800" cy="7772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9480" y="3456432"/>
            <a:ext cx="64008" cy="630936"/>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2360" y="3474720"/>
            <a:ext cx="3840480" cy="274320"/>
          </a:xfrm>
          <a:prstGeom prst="rect">
            <a:avLst/>
          </a:prstGeom>
          <a:noFill/>
        </p:spPr>
        <p:txBody>
          <a:bodyPr wrap="square" lIns="0" rIns="0" tIns="0" bIns="0" anchor="t">
            <a:spAutoFit/>
          </a:bodyPr>
          <a:lstStyle/>
          <a:p>
            <a:pPr algn="l"/>
            <a:r>
              <a:rPr sz="1150" b="1" i="0">
                <a:solidFill>
                  <a:srgbClr val="203864"/>
                </a:solidFill>
                <a:latin typeface="Arial"/>
              </a:rPr>
              <a:t>Classical ML baselines</a:t>
            </a:r>
          </a:p>
        </p:txBody>
      </p:sp>
      <p:sp>
        <p:nvSpPr>
          <p:cNvPr id="27" name="TextBox 26"/>
          <p:cNvSpPr txBox="1"/>
          <p:nvPr/>
        </p:nvSpPr>
        <p:spPr>
          <a:xfrm>
            <a:off x="7452360" y="3767328"/>
            <a:ext cx="3840480" cy="320040"/>
          </a:xfrm>
          <a:prstGeom prst="rect">
            <a:avLst/>
          </a:prstGeom>
          <a:noFill/>
        </p:spPr>
        <p:txBody>
          <a:bodyPr wrap="square" lIns="0" rIns="0" tIns="0" bIns="0" anchor="t">
            <a:spAutoFit/>
          </a:bodyPr>
          <a:lstStyle/>
          <a:p>
            <a:pPr algn="l"/>
            <a:r>
              <a:rPr sz="950" b="0" i="0">
                <a:solidFill>
                  <a:srgbClr val="404040"/>
                </a:solidFill>
                <a:latin typeface="Arial"/>
              </a:rPr>
              <a:t>Logistic regression, random forest, LightGBM on clinical variables</a:t>
            </a:r>
          </a:p>
        </p:txBody>
      </p:sp>
      <p:sp>
        <p:nvSpPr>
          <p:cNvPr id="28" name="Rounded Rectangle 27"/>
          <p:cNvSpPr/>
          <p:nvPr/>
        </p:nvSpPr>
        <p:spPr>
          <a:xfrm>
            <a:off x="7269480" y="4251959"/>
            <a:ext cx="4114800" cy="77724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269480" y="4325112"/>
            <a:ext cx="64008" cy="63093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4343399"/>
            <a:ext cx="3840480" cy="274320"/>
          </a:xfrm>
          <a:prstGeom prst="rect">
            <a:avLst/>
          </a:prstGeom>
          <a:noFill/>
        </p:spPr>
        <p:txBody>
          <a:bodyPr wrap="square" lIns="0" rIns="0" tIns="0" bIns="0" anchor="t">
            <a:spAutoFit/>
          </a:bodyPr>
          <a:lstStyle/>
          <a:p>
            <a:pPr algn="l"/>
            <a:r>
              <a:rPr sz="1150" b="1" i="0">
                <a:solidFill>
                  <a:srgbClr val="0E7C86"/>
                </a:solidFill>
                <a:latin typeface="Arial"/>
              </a:rPr>
              <a:t>Explainability</a:t>
            </a:r>
          </a:p>
        </p:txBody>
      </p:sp>
      <p:sp>
        <p:nvSpPr>
          <p:cNvPr id="31" name="TextBox 30"/>
          <p:cNvSpPr txBox="1"/>
          <p:nvPr/>
        </p:nvSpPr>
        <p:spPr>
          <a:xfrm>
            <a:off x="7452360" y="4636007"/>
            <a:ext cx="3840480" cy="320040"/>
          </a:xfrm>
          <a:prstGeom prst="rect">
            <a:avLst/>
          </a:prstGeom>
          <a:noFill/>
        </p:spPr>
        <p:txBody>
          <a:bodyPr wrap="square" lIns="0" rIns="0" tIns="0" bIns="0" anchor="t">
            <a:spAutoFit/>
          </a:bodyPr>
          <a:lstStyle/>
          <a:p>
            <a:pPr algn="l"/>
            <a:r>
              <a:rPr sz="950" b="0" i="0">
                <a:solidFill>
                  <a:srgbClr val="404040"/>
                </a:solidFill>
                <a:latin typeface="Arial"/>
              </a:rPr>
              <a:t>Grad-CAM saliency for weakly-supervised lesion localisation</a:t>
            </a:r>
          </a:p>
        </p:txBody>
      </p:sp>
      <p:sp>
        <p:nvSpPr>
          <p:cNvPr id="32" name="Rounded Rectangle 31"/>
          <p:cNvSpPr/>
          <p:nvPr/>
        </p:nvSpPr>
        <p:spPr>
          <a:xfrm>
            <a:off x="7269480" y="5166360"/>
            <a:ext cx="4114800" cy="868680"/>
          </a:xfrm>
          <a:prstGeom prst="roundRect">
            <a:avLst>
              <a:gd name="adj" fmla="val 6000"/>
            </a:avLst>
          </a:prstGeom>
          <a:solidFill>
            <a:srgbClr val="F6F8FB"/>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0" y="5230368"/>
            <a:ext cx="3840480" cy="1005840"/>
          </a:xfrm>
          <a:prstGeom prst="rect">
            <a:avLst/>
          </a:prstGeom>
          <a:noFill/>
        </p:spPr>
        <p:txBody>
          <a:bodyPr wrap="square" lIns="0" rIns="0" tIns="0" bIns="0" anchor="t">
            <a:spAutoFit/>
          </a:bodyPr>
          <a:lstStyle/>
          <a:p>
            <a:pPr algn="l"/>
            <a:r>
              <a:rPr sz="1000" b="1" i="0">
                <a:solidFill>
                  <a:srgbClr val="1A1A1A"/>
                </a:solidFill>
                <a:latin typeface="Arial"/>
              </a:rPr>
              <a:t>Out of scope: </a:t>
            </a:r>
            <a:r>
              <a:rPr sz="1000" b="0" i="0">
                <a:solidFill>
                  <a:srgbClr val="404040"/>
                </a:solidFill>
                <a:latin typeface="Arial"/>
              </a:rPr>
              <a:t>clinical validation or certification, deployment in hospital workflow, pathogen species identification, voxel-level lesion segmentation (no masks in the dataset).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Rectangle 2"/>
          <p:cNvSpPr/>
          <p:nvPr/>
        </p:nvSpPr>
        <p:spPr>
          <a:xfrm>
            <a:off x="2011680" y="146304"/>
            <a:ext cx="155448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FFFFFF"/>
                </a:solidFill>
                <a:latin typeface="Arial"/>
              </a:rPr>
              <a:t>Scope &amp; Data</a:t>
            </a: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Data — PAC569 Multi-Modal Dataset (OMIX014539, NGDC China)</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4</a:t>
            </a:r>
          </a:p>
        </p:txBody>
      </p:sp>
      <p:sp>
        <p:nvSpPr>
          <p:cNvPr id="11" name="Rectangle 10"/>
          <p:cNvSpPr/>
          <p:nvPr/>
        </p:nvSpPr>
        <p:spPr>
          <a:xfrm>
            <a:off x="822960" y="1280160"/>
            <a:ext cx="210312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2103120" cy="256032"/>
          </a:xfrm>
          <a:prstGeom prst="rect">
            <a:avLst/>
          </a:prstGeom>
          <a:noFill/>
        </p:spPr>
        <p:txBody>
          <a:bodyPr wrap="square" lIns="0" rIns="0" tIns="0" bIns="0" anchor="ctr">
            <a:spAutoFit/>
          </a:bodyPr>
          <a:lstStyle/>
          <a:p>
            <a:pPr algn="ctr"/>
            <a:r>
              <a:rPr sz="1000" b="1" i="0">
                <a:solidFill>
                  <a:srgbClr val="FFFFFF"/>
                </a:solidFill>
                <a:latin typeface="Arial"/>
              </a:rPr>
              <a:t>WHAT WE DOWNLOADED</a:t>
            </a:r>
          </a:p>
        </p:txBody>
      </p:sp>
      <p:graphicFrame>
        <p:nvGraphicFramePr>
          <p:cNvPr id="13" name="Table 12"/>
          <p:cNvGraphicFramePr>
            <a:graphicFrameLocks noGrp="1"/>
          </p:cNvGraphicFramePr>
          <p:nvPr/>
        </p:nvGraphicFramePr>
        <p:xfrm>
          <a:off x="822960" y="1645920"/>
          <a:ext cx="5852160" cy="1371600"/>
        </p:xfrm>
        <a:graphic>
          <a:graphicData uri="http://schemas.openxmlformats.org/drawingml/2006/table">
            <a:tbl>
              <a:tblPr firstRow="1" bandRow="1">
                <a:tableStyleId>{5C22544A-7EE6-4342-B048-85BDC9FD1C3A}</a:tableStyleId>
              </a:tblPr>
              <a:tblGrid>
                <a:gridCol w="1417320"/>
                <a:gridCol w="2423160"/>
                <a:gridCol w="1005840"/>
                <a:gridCol w="1005840"/>
              </a:tblGrid>
              <a:tr h="274320">
                <a:tc>
                  <a:txBody>
                    <a:bodyPr/>
                    <a:lstStyle/>
                    <a:p>
                      <a:pPr algn="l"/>
                      <a:r>
                        <a:rPr sz="1000" b="1">
                          <a:solidFill>
                            <a:srgbClr val="FFFFFF"/>
                          </a:solidFill>
                          <a:latin typeface="Arial"/>
                        </a:rPr>
                        <a:t>File</a:t>
                      </a:r>
                    </a:p>
                  </a:txBody>
                  <a:tcPr marL="73152" marR="73152" marT="18288" marB="18288" anchor="ctr">
                    <a:solidFill>
                      <a:srgbClr val="203864"/>
                    </a:solidFill>
                  </a:tcPr>
                </a:tc>
                <a:tc>
                  <a:txBody>
                    <a:bodyPr/>
                    <a:lstStyle/>
                    <a:p>
                      <a:pPr algn="l"/>
                      <a:r>
                        <a:rPr sz="1000" b="1">
                          <a:solidFill>
                            <a:srgbClr val="FFFFFF"/>
                          </a:solidFill>
                          <a:latin typeface="Arial"/>
                        </a:rPr>
                        <a:t>Content</a:t>
                      </a:r>
                    </a:p>
                  </a:txBody>
                  <a:tcPr marL="73152" marR="73152" marT="18288" marB="18288" anchor="ctr">
                    <a:solidFill>
                      <a:srgbClr val="203864"/>
                    </a:solidFill>
                  </a:tcPr>
                </a:tc>
                <a:tc>
                  <a:txBody>
                    <a:bodyPr/>
                    <a:lstStyle/>
                    <a:p>
                      <a:pPr algn="ctr"/>
                      <a:r>
                        <a:rPr sz="1000" b="1">
                          <a:solidFill>
                            <a:srgbClr val="FFFFFF"/>
                          </a:solidFill>
                          <a:latin typeface="Arial"/>
                        </a:rPr>
                        <a:t>Cases</a:t>
                      </a:r>
                    </a:p>
                  </a:txBody>
                  <a:tcPr marL="73152" marR="73152" marT="18288" marB="18288" anchor="ctr">
                    <a:solidFill>
                      <a:srgbClr val="203864"/>
                    </a:solidFill>
                  </a:tcPr>
                </a:tc>
                <a:tc>
                  <a:txBody>
                    <a:bodyPr/>
                    <a:lstStyle/>
                    <a:p>
                      <a:pPr algn="ctr"/>
                      <a:r>
                        <a:rPr sz="1000" b="1">
                          <a:solidFill>
                            <a:srgbClr val="FFFFFF"/>
                          </a:solidFill>
                          <a:latin typeface="Arial"/>
                        </a:rPr>
                        <a:t>Size</a:t>
                      </a:r>
                    </a:p>
                  </a:txBody>
                  <a:tcPr marL="73152" marR="73152" marT="18288" marB="18288" anchor="ctr">
                    <a:solidFill>
                      <a:srgbClr val="203864"/>
                    </a:solidFill>
                  </a:tcPr>
                </a:tc>
              </a:tr>
              <a:tr h="274320">
                <a:tc>
                  <a:txBody>
                    <a:bodyPr/>
                    <a:lstStyle/>
                    <a:p>
                      <a:pPr algn="l"/>
                      <a:r>
                        <a:rPr sz="1000" b="1">
                          <a:solidFill>
                            <a:srgbClr val="1A1A1A"/>
                          </a:solidFill>
                          <a:latin typeface="Arial"/>
                        </a:rPr>
                        <a:t>OMIX014539-03</a:t>
                      </a:r>
                    </a:p>
                  </a:txBody>
                  <a:tcPr marL="73152" marR="73152" marT="18288" marB="18288" anchor="ctr">
                    <a:solidFill>
                      <a:srgbClr val="FFFFFF"/>
                    </a:solidFill>
                  </a:tcPr>
                </a:tc>
                <a:tc>
                  <a:txBody>
                    <a:bodyPr/>
                    <a:lstStyle/>
                    <a:p>
                      <a:pPr algn="l"/>
                      <a:r>
                        <a:rPr sz="1000" b="0">
                          <a:solidFill>
                            <a:srgbClr val="1A1A1A"/>
                          </a:solidFill>
                          <a:latin typeface="Arial"/>
                        </a:rPr>
                        <a:t>Aspergillus CT (.nii.gz)</a:t>
                      </a:r>
                    </a:p>
                  </a:txBody>
                  <a:tcPr marL="73152" marR="73152" marT="18288" marB="18288" anchor="ctr">
                    <a:solidFill>
                      <a:srgbClr val="FFFFFF"/>
                    </a:solidFill>
                  </a:tcPr>
                </a:tc>
                <a:tc>
                  <a:txBody>
                    <a:bodyPr/>
                    <a:lstStyle/>
                    <a:p>
                      <a:pPr algn="ctr"/>
                      <a:r>
                        <a:rPr sz="1000" b="0">
                          <a:solidFill>
                            <a:srgbClr val="1A1A1A"/>
                          </a:solidFill>
                          <a:latin typeface="Arial"/>
                        </a:rPr>
                        <a:t>153</a:t>
                      </a:r>
                    </a:p>
                  </a:txBody>
                  <a:tcPr marL="73152" marR="73152" marT="18288" marB="18288" anchor="ctr">
                    <a:solidFill>
                      <a:srgbClr val="FFFFFF"/>
                    </a:solidFill>
                  </a:tcPr>
                </a:tc>
                <a:tc>
                  <a:txBody>
                    <a:bodyPr/>
                    <a:lstStyle/>
                    <a:p>
                      <a:pPr algn="ctr"/>
                      <a:r>
                        <a:rPr sz="1000" b="0">
                          <a:solidFill>
                            <a:srgbClr val="1A1A1A"/>
                          </a:solidFill>
                          <a:latin typeface="Arial"/>
                        </a:rPr>
                        <a:t>3.53 GB</a:t>
                      </a:r>
                    </a:p>
                  </a:txBody>
                  <a:tcPr marL="73152" marR="73152" marT="18288" marB="18288" anchor="ctr">
                    <a:solidFill>
                      <a:srgbClr val="FFFFFF"/>
                    </a:solidFill>
                  </a:tcPr>
                </a:tc>
              </a:tr>
              <a:tr h="274320">
                <a:tc>
                  <a:txBody>
                    <a:bodyPr/>
                    <a:lstStyle/>
                    <a:p>
                      <a:pPr algn="l"/>
                      <a:r>
                        <a:rPr sz="1000" b="1">
                          <a:solidFill>
                            <a:srgbClr val="1A1A1A"/>
                          </a:solidFill>
                          <a:latin typeface="Arial"/>
                        </a:rPr>
                        <a:t>OMIX014539-04</a:t>
                      </a:r>
                    </a:p>
                  </a:txBody>
                  <a:tcPr marL="73152" marR="73152" marT="18288" marB="18288" anchor="ctr">
                    <a:solidFill>
                      <a:srgbClr val="F2F5F9"/>
                    </a:solidFill>
                  </a:tcPr>
                </a:tc>
                <a:tc>
                  <a:txBody>
                    <a:bodyPr/>
                    <a:lstStyle/>
                    <a:p>
                      <a:pPr algn="l"/>
                      <a:r>
                        <a:rPr sz="1000" b="0">
                          <a:solidFill>
                            <a:srgbClr val="1A1A1A"/>
                          </a:solidFill>
                          <a:latin typeface="Arial"/>
                        </a:rPr>
                        <a:t>Non-Aspergillus fungi CT</a:t>
                      </a:r>
                    </a:p>
                  </a:txBody>
                  <a:tcPr marL="73152" marR="73152" marT="18288" marB="18288" anchor="ctr">
                    <a:solidFill>
                      <a:srgbClr val="F2F5F9"/>
                    </a:solidFill>
                  </a:tcPr>
                </a:tc>
                <a:tc>
                  <a:txBody>
                    <a:bodyPr/>
                    <a:lstStyle/>
                    <a:p>
                      <a:pPr algn="ctr"/>
                      <a:r>
                        <a:rPr sz="1000" b="0">
                          <a:solidFill>
                            <a:srgbClr val="1A1A1A"/>
                          </a:solidFill>
                          <a:latin typeface="Arial"/>
                        </a:rPr>
                        <a:t>209</a:t>
                      </a:r>
                    </a:p>
                  </a:txBody>
                  <a:tcPr marL="73152" marR="73152" marT="18288" marB="18288" anchor="ctr">
                    <a:solidFill>
                      <a:srgbClr val="F2F5F9"/>
                    </a:solidFill>
                  </a:tcPr>
                </a:tc>
                <a:tc>
                  <a:txBody>
                    <a:bodyPr/>
                    <a:lstStyle/>
                    <a:p>
                      <a:pPr algn="ctr"/>
                      <a:r>
                        <a:rPr sz="1000" b="0">
                          <a:solidFill>
                            <a:srgbClr val="1A1A1A"/>
                          </a:solidFill>
                          <a:latin typeface="Arial"/>
                        </a:rPr>
                        <a:t>4.88 GB</a:t>
                      </a:r>
                    </a:p>
                  </a:txBody>
                  <a:tcPr marL="73152" marR="73152" marT="18288" marB="18288" anchor="ctr">
                    <a:solidFill>
                      <a:srgbClr val="F2F5F9"/>
                    </a:solidFill>
                  </a:tcPr>
                </a:tc>
              </a:tr>
              <a:tr h="274320">
                <a:tc>
                  <a:txBody>
                    <a:bodyPr/>
                    <a:lstStyle/>
                    <a:p>
                      <a:pPr algn="l"/>
                      <a:r>
                        <a:rPr sz="1000" b="1">
                          <a:solidFill>
                            <a:srgbClr val="1A1A1A"/>
                          </a:solidFill>
                          <a:latin typeface="Arial"/>
                        </a:rPr>
                        <a:t>OMIX014539-05</a:t>
                      </a:r>
                    </a:p>
                  </a:txBody>
                  <a:tcPr marL="73152" marR="73152" marT="18288" marB="18288" anchor="ctr">
                    <a:solidFill>
                      <a:srgbClr val="FFFFFF"/>
                    </a:solidFill>
                  </a:tcPr>
                </a:tc>
                <a:tc>
                  <a:txBody>
                    <a:bodyPr/>
                    <a:lstStyle/>
                    <a:p>
                      <a:pPr algn="l"/>
                      <a:r>
                        <a:rPr sz="1000" b="0">
                          <a:solidFill>
                            <a:srgbClr val="1A1A1A"/>
                          </a:solidFill>
                          <a:latin typeface="Arial"/>
                        </a:rPr>
                        <a:t>Non-fungal CT</a:t>
                      </a:r>
                    </a:p>
                  </a:txBody>
                  <a:tcPr marL="73152" marR="73152" marT="18288" marB="18288" anchor="ctr">
                    <a:solidFill>
                      <a:srgbClr val="FFFFFF"/>
                    </a:solidFill>
                  </a:tcPr>
                </a:tc>
                <a:tc>
                  <a:txBody>
                    <a:bodyPr/>
                    <a:lstStyle/>
                    <a:p>
                      <a:pPr algn="ctr"/>
                      <a:r>
                        <a:rPr sz="1000" b="0">
                          <a:solidFill>
                            <a:srgbClr val="1A1A1A"/>
                          </a:solidFill>
                          <a:latin typeface="Arial"/>
                        </a:rPr>
                        <a:t>207</a:t>
                      </a:r>
                    </a:p>
                  </a:txBody>
                  <a:tcPr marL="73152" marR="73152" marT="18288" marB="18288" anchor="ctr">
                    <a:solidFill>
                      <a:srgbClr val="FFFFFF"/>
                    </a:solidFill>
                  </a:tcPr>
                </a:tc>
                <a:tc>
                  <a:txBody>
                    <a:bodyPr/>
                    <a:lstStyle/>
                    <a:p>
                      <a:pPr algn="ctr"/>
                      <a:r>
                        <a:rPr sz="1000" b="0">
                          <a:solidFill>
                            <a:srgbClr val="1A1A1A"/>
                          </a:solidFill>
                          <a:latin typeface="Arial"/>
                        </a:rPr>
                        <a:t>4.67 GB</a:t>
                      </a:r>
                    </a:p>
                  </a:txBody>
                  <a:tcPr marL="73152" marR="73152" marT="18288" marB="18288" anchor="ctr">
                    <a:solidFill>
                      <a:srgbClr val="FFFFFF"/>
                    </a:solidFill>
                  </a:tcPr>
                </a:tc>
              </a:tr>
              <a:tr h="274320">
                <a:tc>
                  <a:txBody>
                    <a:bodyPr/>
                    <a:lstStyle/>
                    <a:p>
                      <a:pPr algn="l"/>
                      <a:r>
                        <a:rPr sz="1000" b="1">
                          <a:solidFill>
                            <a:srgbClr val="1A1A1A"/>
                          </a:solidFill>
                          <a:latin typeface="Arial"/>
                        </a:rPr>
                        <a:t>OMIX014539-08</a:t>
                      </a:r>
                    </a:p>
                  </a:txBody>
                  <a:tcPr marL="73152" marR="73152" marT="18288" marB="18288" anchor="ctr">
                    <a:solidFill>
                      <a:srgbClr val="F2F5F9"/>
                    </a:solidFill>
                  </a:tcPr>
                </a:tc>
                <a:tc>
                  <a:txBody>
                    <a:bodyPr/>
                    <a:lstStyle/>
                    <a:p>
                      <a:pPr algn="l"/>
                      <a:r>
                        <a:rPr sz="1000" b="0">
                          <a:solidFill>
                            <a:srgbClr val="1A1A1A"/>
                          </a:solidFill>
                          <a:latin typeface="Arial"/>
                        </a:rPr>
                        <a:t>Clinical variables (.csv)</a:t>
                      </a:r>
                    </a:p>
                  </a:txBody>
                  <a:tcPr marL="73152" marR="73152" marT="18288" marB="18288" anchor="ctr">
                    <a:solidFill>
                      <a:srgbClr val="F2F5F9"/>
                    </a:solidFill>
                  </a:tcPr>
                </a:tc>
                <a:tc>
                  <a:txBody>
                    <a:bodyPr/>
                    <a:lstStyle/>
                    <a:p>
                      <a:pPr algn="ctr"/>
                      <a:r>
                        <a:rPr sz="1000" b="0">
                          <a:solidFill>
                            <a:srgbClr val="1A1A1A"/>
                          </a:solidFill>
                          <a:latin typeface="Arial"/>
                        </a:rPr>
                        <a:t>569 rows</a:t>
                      </a:r>
                    </a:p>
                  </a:txBody>
                  <a:tcPr marL="73152" marR="73152" marT="18288" marB="18288" anchor="ctr">
                    <a:solidFill>
                      <a:srgbClr val="F2F5F9"/>
                    </a:solidFill>
                  </a:tcPr>
                </a:tc>
                <a:tc>
                  <a:txBody>
                    <a:bodyPr/>
                    <a:lstStyle/>
                    <a:p>
                      <a:pPr algn="ctr"/>
                      <a:r>
                        <a:rPr sz="1000" b="0">
                          <a:solidFill>
                            <a:srgbClr val="1A1A1A"/>
                          </a:solidFill>
                          <a:latin typeface="Arial"/>
                        </a:rPr>
                        <a:t>28 KB</a:t>
                      </a:r>
                    </a:p>
                  </a:txBody>
                  <a:tcPr marL="73152" marR="73152" marT="18288" marB="18288" anchor="ctr">
                    <a:solidFill>
                      <a:srgbClr val="F2F5F9"/>
                    </a:solidFill>
                  </a:tcPr>
                </a:tc>
              </a:tr>
            </a:tbl>
          </a:graphicData>
        </a:graphic>
      </p:graphicFrame>
      <p:pic>
        <p:nvPicPr>
          <p:cNvPr id="14" name="Picture 13" descr="eda_class_missing.png"/>
          <p:cNvPicPr>
            <a:picLocks noChangeAspect="1"/>
          </p:cNvPicPr>
          <p:nvPr/>
        </p:nvPicPr>
        <p:blipFill>
          <a:blip r:embed="rId2"/>
          <a:stretch>
            <a:fillRect/>
          </a:stretch>
        </p:blipFill>
        <p:spPr>
          <a:xfrm>
            <a:off x="777240" y="3154680"/>
            <a:ext cx="5943600" cy="2113280"/>
          </a:xfrm>
          <a:prstGeom prst="rect">
            <a:avLst/>
          </a:prstGeom>
        </p:spPr>
      </p:pic>
      <p:sp>
        <p:nvSpPr>
          <p:cNvPr id="15" name="Rectangle 14"/>
          <p:cNvSpPr/>
          <p:nvPr/>
        </p:nvSpPr>
        <p:spPr>
          <a:xfrm>
            <a:off x="7040880" y="1280160"/>
            <a:ext cx="137160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040880" y="1280160"/>
            <a:ext cx="1371600" cy="256032"/>
          </a:xfrm>
          <a:prstGeom prst="rect">
            <a:avLst/>
          </a:prstGeom>
          <a:noFill/>
        </p:spPr>
        <p:txBody>
          <a:bodyPr wrap="square" lIns="0" rIns="0" tIns="0" bIns="0" anchor="ctr">
            <a:spAutoFit/>
          </a:bodyPr>
          <a:lstStyle/>
          <a:p>
            <a:pPr algn="ctr"/>
            <a:r>
              <a:rPr sz="1000" b="1" i="0">
                <a:solidFill>
                  <a:srgbClr val="FFFFFF"/>
                </a:solidFill>
                <a:latin typeface="Arial"/>
              </a:rPr>
              <a:t>CT VOLUMES</a:t>
            </a:r>
          </a:p>
        </p:txBody>
      </p:sp>
      <p:sp>
        <p:nvSpPr>
          <p:cNvPr id="17" name="TextBox 16"/>
          <p:cNvSpPr txBox="1"/>
          <p:nvPr/>
        </p:nvSpPr>
        <p:spPr>
          <a:xfrm>
            <a:off x="7040880" y="1645920"/>
            <a:ext cx="4389120" cy="1280160"/>
          </a:xfrm>
          <a:prstGeom prst="rect">
            <a:avLst/>
          </a:prstGeom>
          <a:noFill/>
        </p:spPr>
        <p:txBody>
          <a:bodyPr wrap="square" lIns="0" rIns="0" tIns="0" bIns="0" anchor="t">
            <a:spAutoFit/>
          </a:bodyPr>
          <a:lstStyle/>
          <a:p>
            <a:pPr algn="l">
              <a:spcAft>
                <a:spcPts val="400"/>
              </a:spcAft>
            </a:pPr>
            <a:r>
              <a:rPr sz="1050" b="1" i="0">
                <a:solidFill>
                  <a:srgbClr val="0E7C86"/>
                </a:solidFill>
                <a:latin typeface="Arial"/>
              </a:rPr>
              <a:t>• </a:t>
            </a:r>
            <a:r>
              <a:rPr sz="1050" b="1" i="0">
                <a:solidFill>
                  <a:srgbClr val="1A1A1A"/>
                </a:solidFill>
                <a:latin typeface="Arial"/>
              </a:rPr>
              <a:t>One volume per case: </a:t>
            </a:r>
            <a:r>
              <a:rPr sz="1050" b="0" i="0">
                <a:solidFill>
                  <a:srgbClr val="404040"/>
                </a:solidFill>
                <a:latin typeface="Arial"/>
              </a:rPr>
              <a:t>CaseXXX.nii.gz, IDs match the CSV 569 / 569, labels agree 100%</a:t>
            </a:r>
          </a:p>
          <a:p>
            <a:pPr algn="l">
              <a:spcAft>
                <a:spcPts val="400"/>
              </a:spcAft>
            </a:pPr>
            <a:r>
              <a:rPr sz="1050" b="1" i="0">
                <a:solidFill>
                  <a:srgbClr val="0E7C86"/>
                </a:solidFill>
                <a:latin typeface="Arial"/>
              </a:rPr>
              <a:t>• </a:t>
            </a:r>
            <a:r>
              <a:rPr sz="1050" b="1" i="0">
                <a:solidFill>
                  <a:srgbClr val="1A1A1A"/>
                </a:solidFill>
                <a:latin typeface="Arial"/>
              </a:rPr>
              <a:t>Geometry (all 569): </a:t>
            </a:r>
            <a:r>
              <a:rPr sz="1050" b="0" i="0">
                <a:solidFill>
                  <a:srgbClr val="404040"/>
                </a:solidFill>
                <a:latin typeface="Arial"/>
              </a:rPr>
              <a:t>512 × 512 in-plane (0.50–0.97 mm), 31–81 slices (median 65), all 5 mm thick</a:t>
            </a:r>
          </a:p>
          <a:p>
            <a:pPr algn="l">
              <a:spcAft>
                <a:spcPts val="400"/>
              </a:spcAft>
            </a:pPr>
            <a:r>
              <a:rPr sz="1050" b="1" i="0">
                <a:solidFill>
                  <a:srgbClr val="0E7C86"/>
                </a:solidFill>
                <a:latin typeface="Arial"/>
              </a:rPr>
              <a:t>• </a:t>
            </a:r>
            <a:r>
              <a:rPr sz="1050" b="1" i="0">
                <a:solidFill>
                  <a:srgbClr val="1A1A1A"/>
                </a:solidFill>
                <a:latin typeface="Arial"/>
              </a:rPr>
              <a:t>Intensity: </a:t>
            </a:r>
            <a:r>
              <a:rPr sz="1050" b="0" i="0">
                <a:solidFill>
                  <a:srgbClr val="404040"/>
                </a:solidFill>
                <a:latin typeface="Arial"/>
              </a:rPr>
              <a:t>raw Hounsfield units (air ≈ −1000, soft tissue ≈ 0–100)</a:t>
            </a:r>
          </a:p>
          <a:p>
            <a:pPr algn="l">
              <a:spcAft>
                <a:spcPts val="400"/>
              </a:spcAft>
            </a:pPr>
            <a:r>
              <a:rPr sz="1050" b="1" i="0">
                <a:solidFill>
                  <a:srgbClr val="0E7C86"/>
                </a:solidFill>
                <a:latin typeface="Arial"/>
              </a:rPr>
              <a:t>• </a:t>
            </a:r>
            <a:r>
              <a:rPr sz="1050" b="1" i="0">
                <a:solidFill>
                  <a:srgbClr val="1A1A1A"/>
                </a:solidFill>
                <a:latin typeface="Arial"/>
              </a:rPr>
              <a:t>No lesion masks, no severity labels</a:t>
            </a:r>
            <a:r>
              <a:rPr sz="1050" b="0" i="0">
                <a:solidFill>
                  <a:srgbClr val="404040"/>
                </a:solidFill>
                <a:latin typeface="Arial"/>
              </a:rPr>
              <a:t/>
            </a:r>
          </a:p>
        </p:txBody>
      </p:sp>
      <p:sp>
        <p:nvSpPr>
          <p:cNvPr id="18" name="Rectangle 17"/>
          <p:cNvSpPr/>
          <p:nvPr/>
        </p:nvSpPr>
        <p:spPr>
          <a:xfrm>
            <a:off x="7040880" y="3154680"/>
            <a:ext cx="219456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0" y="3154680"/>
            <a:ext cx="2194560" cy="256032"/>
          </a:xfrm>
          <a:prstGeom prst="rect">
            <a:avLst/>
          </a:prstGeom>
          <a:noFill/>
        </p:spPr>
        <p:txBody>
          <a:bodyPr wrap="square" lIns="0" rIns="0" tIns="0" bIns="0" anchor="ctr">
            <a:spAutoFit/>
          </a:bodyPr>
          <a:lstStyle/>
          <a:p>
            <a:pPr algn="ctr"/>
            <a:r>
              <a:rPr sz="1000" b="1" i="0">
                <a:solidFill>
                  <a:srgbClr val="FFFFFF"/>
                </a:solidFill>
                <a:latin typeface="Arial"/>
              </a:rPr>
              <a:t>CLINICAL VARIABLES (12)</a:t>
            </a:r>
          </a:p>
        </p:txBody>
      </p:sp>
      <p:graphicFrame>
        <p:nvGraphicFramePr>
          <p:cNvPr id="20" name="Table 19"/>
          <p:cNvGraphicFramePr>
            <a:graphicFrameLocks noGrp="1"/>
          </p:cNvGraphicFramePr>
          <p:nvPr/>
        </p:nvGraphicFramePr>
        <p:xfrm>
          <a:off x="7040880" y="3520440"/>
          <a:ext cx="4343400" cy="1975104"/>
        </p:xfrm>
        <a:graphic>
          <a:graphicData uri="http://schemas.openxmlformats.org/drawingml/2006/table">
            <a:tbl>
              <a:tblPr firstRow="1" bandRow="1">
                <a:tableStyleId>{5C22544A-7EE6-4342-B048-85BDC9FD1C3A}</a:tableStyleId>
              </a:tblPr>
              <a:tblGrid>
                <a:gridCol w="1234440"/>
                <a:gridCol w="3108960"/>
              </a:tblGrid>
              <a:tr h="329184">
                <a:tc>
                  <a:txBody>
                    <a:bodyPr/>
                    <a:lstStyle/>
                    <a:p>
                      <a:pPr algn="l"/>
                      <a:r>
                        <a:rPr sz="950" b="1">
                          <a:solidFill>
                            <a:srgbClr val="FFFFFF"/>
                          </a:solidFill>
                          <a:latin typeface="Arial"/>
                        </a:rPr>
                        <a:t>Group</a:t>
                      </a:r>
                    </a:p>
                  </a:txBody>
                  <a:tcPr marL="73152" marR="73152" marT="18288" marB="18288" anchor="ctr">
                    <a:solidFill>
                      <a:srgbClr val="203864"/>
                    </a:solidFill>
                  </a:tcPr>
                </a:tc>
                <a:tc>
                  <a:txBody>
                    <a:bodyPr/>
                    <a:lstStyle/>
                    <a:p>
                      <a:pPr algn="l"/>
                      <a:r>
                        <a:rPr sz="950" b="1">
                          <a:solidFill>
                            <a:srgbClr val="FFFFFF"/>
                          </a:solidFill>
                          <a:latin typeface="Arial"/>
                        </a:rPr>
                        <a:t>Variables</a:t>
                      </a:r>
                    </a:p>
                  </a:txBody>
                  <a:tcPr marL="73152" marR="73152" marT="18288" marB="18288" anchor="ctr">
                    <a:solidFill>
                      <a:srgbClr val="203864"/>
                    </a:solidFill>
                  </a:tcPr>
                </a:tc>
              </a:tr>
              <a:tr h="329184">
                <a:tc>
                  <a:txBody>
                    <a:bodyPr/>
                    <a:lstStyle/>
                    <a:p>
                      <a:pPr algn="l"/>
                      <a:r>
                        <a:rPr sz="950" b="1">
                          <a:solidFill>
                            <a:srgbClr val="1A1A1A"/>
                          </a:solidFill>
                          <a:latin typeface="Arial"/>
                        </a:rPr>
                        <a:t>Demographics</a:t>
                      </a:r>
                    </a:p>
                  </a:txBody>
                  <a:tcPr marL="73152" marR="73152" marT="18288" marB="18288" anchor="ctr">
                    <a:solidFill>
                      <a:srgbClr val="FFFFFF"/>
                    </a:solidFill>
                  </a:tcPr>
                </a:tc>
                <a:tc>
                  <a:txBody>
                    <a:bodyPr/>
                    <a:lstStyle/>
                    <a:p>
                      <a:pPr algn="l"/>
                      <a:r>
                        <a:rPr sz="950" b="0">
                          <a:solidFill>
                            <a:srgbClr val="1A1A1A"/>
                          </a:solidFill>
                          <a:latin typeface="Arial"/>
                        </a:rPr>
                        <a:t>Gender, Age</a:t>
                      </a:r>
                    </a:p>
                  </a:txBody>
                  <a:tcPr marL="73152" marR="73152" marT="18288" marB="18288" anchor="ctr">
                    <a:solidFill>
                      <a:srgbClr val="FFFFFF"/>
                    </a:solidFill>
                  </a:tcPr>
                </a:tc>
              </a:tr>
              <a:tr h="329184">
                <a:tc>
                  <a:txBody>
                    <a:bodyPr/>
                    <a:lstStyle/>
                    <a:p>
                      <a:pPr algn="l"/>
                      <a:r>
                        <a:rPr sz="950" b="1">
                          <a:solidFill>
                            <a:srgbClr val="1A1A1A"/>
                          </a:solidFill>
                          <a:latin typeface="Arial"/>
                        </a:rPr>
                        <a:t>Comorbidity</a:t>
                      </a:r>
                    </a:p>
                  </a:txBody>
                  <a:tcPr marL="73152" marR="73152" marT="18288" marB="18288" anchor="ctr">
                    <a:solidFill>
                      <a:srgbClr val="F2F5F9"/>
                    </a:solidFill>
                  </a:tcPr>
                </a:tc>
                <a:tc>
                  <a:txBody>
                    <a:bodyPr/>
                    <a:lstStyle/>
                    <a:p>
                      <a:pPr algn="l"/>
                      <a:r>
                        <a:rPr sz="950" b="0">
                          <a:solidFill>
                            <a:srgbClr val="1A1A1A"/>
                          </a:solidFill>
                          <a:latin typeface="Arial"/>
                        </a:rPr>
                        <a:t>Solid tumour, Diabetes, Renal dysfunction, AIDS</a:t>
                      </a:r>
                    </a:p>
                  </a:txBody>
                  <a:tcPr marL="73152" marR="73152" marT="18288" marB="18288" anchor="ctr">
                    <a:solidFill>
                      <a:srgbClr val="F2F5F9"/>
                    </a:solidFill>
                  </a:tcPr>
                </a:tc>
              </a:tr>
              <a:tr h="329184">
                <a:tc>
                  <a:txBody>
                    <a:bodyPr/>
                    <a:lstStyle/>
                    <a:p>
                      <a:pPr algn="l"/>
                      <a:r>
                        <a:rPr sz="950" b="1">
                          <a:solidFill>
                            <a:srgbClr val="1A1A1A"/>
                          </a:solidFill>
                          <a:latin typeface="Arial"/>
                        </a:rPr>
                        <a:t>Treatment</a:t>
                      </a:r>
                    </a:p>
                  </a:txBody>
                  <a:tcPr marL="73152" marR="73152" marT="18288" marB="18288" anchor="ctr">
                    <a:solidFill>
                      <a:srgbClr val="FFFFFF"/>
                    </a:solidFill>
                  </a:tcPr>
                </a:tc>
                <a:tc>
                  <a:txBody>
                    <a:bodyPr/>
                    <a:lstStyle/>
                    <a:p>
                      <a:pPr algn="l"/>
                      <a:r>
                        <a:rPr sz="950" b="0">
                          <a:solidFill>
                            <a:srgbClr val="1A1A1A"/>
                          </a:solidFill>
                          <a:latin typeface="Arial"/>
                        </a:rPr>
                        <a:t>Immunosuppressants</a:t>
                      </a:r>
                    </a:p>
                  </a:txBody>
                  <a:tcPr marL="73152" marR="73152" marT="18288" marB="18288" anchor="ctr">
                    <a:solidFill>
                      <a:srgbClr val="FFFFFF"/>
                    </a:solidFill>
                  </a:tcPr>
                </a:tc>
              </a:tr>
              <a:tr h="329184">
                <a:tc>
                  <a:txBody>
                    <a:bodyPr/>
                    <a:lstStyle/>
                    <a:p>
                      <a:pPr algn="l"/>
                      <a:r>
                        <a:rPr sz="950" b="1">
                          <a:solidFill>
                            <a:srgbClr val="1A1A1A"/>
                          </a:solidFill>
                          <a:latin typeface="Arial"/>
                        </a:rPr>
                        <a:t>Laboratory</a:t>
                      </a:r>
                    </a:p>
                  </a:txBody>
                  <a:tcPr marL="73152" marR="73152" marT="18288" marB="18288" anchor="ctr">
                    <a:solidFill>
                      <a:srgbClr val="F2F5F9"/>
                    </a:solidFill>
                  </a:tcPr>
                </a:tc>
                <a:tc>
                  <a:txBody>
                    <a:bodyPr/>
                    <a:lstStyle/>
                    <a:p>
                      <a:pPr algn="l"/>
                      <a:r>
                        <a:rPr sz="950" b="0">
                          <a:solidFill>
                            <a:srgbClr val="1A1A1A"/>
                          </a:solidFill>
                          <a:latin typeface="Arial"/>
                        </a:rPr>
                        <a:t>Lymphocyte count, D-dimer</a:t>
                      </a:r>
                    </a:p>
                  </a:txBody>
                  <a:tcPr marL="73152" marR="73152" marT="18288" marB="18288" anchor="ctr">
                    <a:solidFill>
                      <a:srgbClr val="F2F5F9"/>
                    </a:solidFill>
                  </a:tcPr>
                </a:tc>
              </a:tr>
              <a:tr h="329184">
                <a:tc>
                  <a:txBody>
                    <a:bodyPr/>
                    <a:lstStyle/>
                    <a:p>
                      <a:pPr algn="l"/>
                      <a:r>
                        <a:rPr sz="950" b="1">
                          <a:solidFill>
                            <a:srgbClr val="1A1A1A"/>
                          </a:solidFill>
                          <a:latin typeface="Arial"/>
                        </a:rPr>
                        <a:t>Fungal markers</a:t>
                      </a:r>
                    </a:p>
                  </a:txBody>
                  <a:tcPr marL="73152" marR="73152" marT="18288" marB="18288" anchor="ctr">
                    <a:solidFill>
                      <a:srgbClr val="FFFFFF"/>
                    </a:solidFill>
                  </a:tcPr>
                </a:tc>
                <a:tc>
                  <a:txBody>
                    <a:bodyPr/>
                    <a:lstStyle/>
                    <a:p>
                      <a:pPr algn="l"/>
                      <a:r>
                        <a:rPr sz="950" b="0">
                          <a:solidFill>
                            <a:srgbClr val="1A1A1A"/>
                          </a:solidFill>
                          <a:latin typeface="Arial"/>
                        </a:rPr>
                        <a:t>(1,3)-β-D-glucan (G), GM antigen</a:t>
                      </a:r>
                    </a:p>
                  </a:txBody>
                  <a:tcPr marL="73152" marR="73152" marT="18288" marB="18288" anchor="ctr">
                    <a:solidFill>
                      <a:srgbClr val="FFFFFF"/>
                    </a:solidFill>
                  </a:tcPr>
                </a:tc>
              </a:tr>
            </a:tbl>
          </a:graphicData>
        </a:graphic>
      </p:graphicFrame>
      <p:sp>
        <p:nvSpPr>
          <p:cNvPr id="21" name="TextBox 20"/>
          <p:cNvSpPr txBox="1"/>
          <p:nvPr/>
        </p:nvSpPr>
        <p:spPr>
          <a:xfrm>
            <a:off x="7040880" y="5577840"/>
            <a:ext cx="4343400" cy="640080"/>
          </a:xfrm>
          <a:prstGeom prst="rect">
            <a:avLst/>
          </a:prstGeom>
          <a:noFill/>
        </p:spPr>
        <p:txBody>
          <a:bodyPr wrap="square" lIns="0" rIns="0" tIns="0" bIns="0" anchor="t">
            <a:spAutoFit/>
          </a:bodyPr>
          <a:lstStyle/>
          <a:p>
            <a:pPr algn="l"/>
            <a:r>
              <a:rPr sz="900" b="0" i="1">
                <a:solidFill>
                  <a:srgbClr val="757575"/>
                </a:solidFill>
                <a:latin typeface="Arial"/>
              </a:rPr>
              <a:t>A 13th column, Pathogen Identification, is 1 for every row and is dropped. Source: ngdc.cncb.ac.cn/omix/release/OMIX014539 (released 11 Sep 2026, Wuxi People's Hospital).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Rectangle 2"/>
          <p:cNvSpPr/>
          <p:nvPr/>
        </p:nvSpPr>
        <p:spPr>
          <a:xfrm>
            <a:off x="2011680" y="146304"/>
            <a:ext cx="155448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FFFFFF"/>
                </a:solidFill>
                <a:latin typeface="Arial"/>
              </a:rPr>
              <a:t>Scope &amp; Data</a:t>
            </a: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Data Exploration — What We Found Before Modelling</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5</a:t>
            </a:r>
          </a:p>
        </p:txBody>
      </p:sp>
      <p:sp>
        <p:nvSpPr>
          <p:cNvPr id="11" name="Rectangle 10"/>
          <p:cNvSpPr/>
          <p:nvPr/>
        </p:nvSpPr>
        <p:spPr>
          <a:xfrm>
            <a:off x="822960" y="1280160"/>
            <a:ext cx="3383280" cy="256032"/>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3383280" cy="256032"/>
          </a:xfrm>
          <a:prstGeom prst="rect">
            <a:avLst/>
          </a:prstGeom>
          <a:noFill/>
        </p:spPr>
        <p:txBody>
          <a:bodyPr wrap="square" lIns="0" rIns="0" tIns="0" bIns="0" anchor="ctr">
            <a:spAutoFit/>
          </a:bodyPr>
          <a:lstStyle/>
          <a:p>
            <a:pPr algn="ctr"/>
            <a:r>
              <a:rPr sz="1000" b="1" i="0">
                <a:solidFill>
                  <a:srgbClr val="FFFFFF"/>
                </a:solidFill>
                <a:latin typeface="Arial"/>
              </a:rPr>
              <a:t>CLINICAL RISK FACTORS DIFFER BY CLASS</a:t>
            </a:r>
          </a:p>
        </p:txBody>
      </p:sp>
      <p:pic>
        <p:nvPicPr>
          <p:cNvPr id="13" name="Picture 12" descr="eda_prevalence.png"/>
          <p:cNvPicPr>
            <a:picLocks noChangeAspect="1"/>
          </p:cNvPicPr>
          <p:nvPr/>
        </p:nvPicPr>
        <p:blipFill>
          <a:blip r:embed="rId2"/>
          <a:stretch>
            <a:fillRect/>
          </a:stretch>
        </p:blipFill>
        <p:spPr>
          <a:xfrm>
            <a:off x="777240" y="1645920"/>
            <a:ext cx="6035040" cy="2279904"/>
          </a:xfrm>
          <a:prstGeom prst="rect">
            <a:avLst/>
          </a:prstGeom>
        </p:spPr>
      </p:pic>
      <p:sp>
        <p:nvSpPr>
          <p:cNvPr id="14" name="TextBox 13"/>
          <p:cNvSpPr txBox="1"/>
          <p:nvPr/>
        </p:nvSpPr>
        <p:spPr>
          <a:xfrm>
            <a:off x="822960" y="4160520"/>
            <a:ext cx="5943600" cy="822960"/>
          </a:xfrm>
          <a:prstGeom prst="rect">
            <a:avLst/>
          </a:prstGeom>
          <a:noFill/>
        </p:spPr>
        <p:txBody>
          <a:bodyPr wrap="square" lIns="0" rIns="0" tIns="0" bIns="0" anchor="t">
            <a:spAutoFit/>
          </a:bodyPr>
          <a:lstStyle/>
          <a:p>
            <a:pPr algn="l"/>
            <a:r>
              <a:rPr sz="1050" b="0" i="0">
                <a:solidFill>
                  <a:srgbClr val="404040"/>
                </a:solidFill>
                <a:latin typeface="Arial"/>
              </a:rPr>
              <a:t>AIDS: 39 of 41 AIDS patients are in the non-Aspergillus fungal class. GM antigen is positive in 29.4% of Aspergillus cases; G-test in 34.0% of non-Aspergillus fungal cases.</a:t>
            </a:r>
          </a:p>
        </p:txBody>
      </p:sp>
      <p:sp>
        <p:nvSpPr>
          <p:cNvPr id="15" name="Rounded Rectangle 14"/>
          <p:cNvSpPr/>
          <p:nvPr/>
        </p:nvSpPr>
        <p:spPr>
          <a:xfrm>
            <a:off x="822960" y="4709160"/>
            <a:ext cx="5943600" cy="1051560"/>
          </a:xfrm>
          <a:prstGeom prst="roundRect">
            <a:avLst>
              <a:gd name="adj" fmla="val 8000"/>
            </a:avLst>
          </a:prstGeom>
          <a:solidFill>
            <a:srgbClr val="FDF2DE"/>
          </a:solidFill>
          <a:ln w="1270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800600"/>
            <a:ext cx="5577840" cy="914400"/>
          </a:xfrm>
          <a:prstGeom prst="rect">
            <a:avLst/>
          </a:prstGeom>
          <a:noFill/>
        </p:spPr>
        <p:txBody>
          <a:bodyPr wrap="square" lIns="0" rIns="0" tIns="0" bIns="0" anchor="t">
            <a:spAutoFit/>
          </a:bodyPr>
          <a:lstStyle/>
          <a:p>
            <a:pPr algn="l"/>
            <a:r>
              <a:rPr sz="1050" b="1" i="0">
                <a:solidFill>
                  <a:srgbClr val="B05A00"/>
                </a:solidFill>
                <a:latin typeface="Arial"/>
              </a:rPr>
              <a:t>Implication: </a:t>
            </a:r>
            <a:r>
              <a:rPr sz="1050" b="0" i="0">
                <a:solidFill>
                  <a:srgbClr val="404040"/>
                </a:solidFill>
                <a:latin typeface="Arial"/>
              </a:rPr>
              <a:t>clinical data carry real signal, but no single marker separates the classes — each is positive in a minority. G / GM are themselves diagnostic criteria, so we also report results with and without them to check for label shortcuts.</a:t>
            </a:r>
          </a:p>
        </p:txBody>
      </p:sp>
      <p:sp>
        <p:nvSpPr>
          <p:cNvPr id="17" name="Rectangle 16"/>
          <p:cNvSpPr/>
          <p:nvPr/>
        </p:nvSpPr>
        <p:spPr>
          <a:xfrm>
            <a:off x="7086600" y="1280160"/>
            <a:ext cx="201168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86600" y="1280160"/>
            <a:ext cx="2011680" cy="256032"/>
          </a:xfrm>
          <a:prstGeom prst="rect">
            <a:avLst/>
          </a:prstGeom>
          <a:noFill/>
        </p:spPr>
        <p:txBody>
          <a:bodyPr wrap="square" lIns="0" rIns="0" tIns="0" bIns="0" anchor="ctr">
            <a:spAutoFit/>
          </a:bodyPr>
          <a:lstStyle/>
          <a:p>
            <a:pPr algn="ctr"/>
            <a:r>
              <a:rPr sz="1000" b="1" i="0">
                <a:solidFill>
                  <a:srgbClr val="FFFFFF"/>
                </a:solidFill>
                <a:latin typeface="Arial"/>
              </a:rPr>
              <a:t>DATA-QUALITY CHECKS</a:t>
            </a:r>
          </a:p>
        </p:txBody>
      </p:sp>
      <p:sp>
        <p:nvSpPr>
          <p:cNvPr id="19" name="Rounded Rectangle 18"/>
          <p:cNvSpPr/>
          <p:nvPr/>
        </p:nvSpPr>
        <p:spPr>
          <a:xfrm>
            <a:off x="7086600" y="1645920"/>
            <a:ext cx="4297680" cy="96012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086600" y="1719072"/>
            <a:ext cx="64008" cy="813816"/>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80" y="1737360"/>
            <a:ext cx="4023360" cy="274320"/>
          </a:xfrm>
          <a:prstGeom prst="rect">
            <a:avLst/>
          </a:prstGeom>
          <a:noFill/>
        </p:spPr>
        <p:txBody>
          <a:bodyPr wrap="square" lIns="0" rIns="0" tIns="0" bIns="0" anchor="t">
            <a:spAutoFit/>
          </a:bodyPr>
          <a:lstStyle/>
          <a:p>
            <a:pPr algn="l"/>
            <a:r>
              <a:rPr sz="1150" b="1" i="0">
                <a:solidFill>
                  <a:srgbClr val="B05A00"/>
                </a:solidFill>
                <a:latin typeface="Arial"/>
              </a:rPr>
              <a:t>21 repeated clinical records</a:t>
            </a:r>
          </a:p>
        </p:txBody>
      </p:sp>
      <p:sp>
        <p:nvSpPr>
          <p:cNvPr id="22" name="TextBox 21"/>
          <p:cNvSpPr txBox="1"/>
          <p:nvPr/>
        </p:nvSpPr>
        <p:spPr>
          <a:xfrm>
            <a:off x="7269480" y="2029968"/>
            <a:ext cx="4023360" cy="502920"/>
          </a:xfrm>
          <a:prstGeom prst="rect">
            <a:avLst/>
          </a:prstGeom>
          <a:noFill/>
        </p:spPr>
        <p:txBody>
          <a:bodyPr wrap="square" lIns="0" rIns="0" tIns="0" bIns="0" anchor="t">
            <a:spAutoFit/>
          </a:bodyPr>
          <a:lstStyle/>
          <a:p>
            <a:pPr algn="l"/>
            <a:r>
              <a:rPr sz="1000" b="0" i="0">
                <a:solidFill>
                  <a:srgbClr val="404040"/>
                </a:solidFill>
                <a:latin typeface="Arial"/>
              </a:rPr>
              <a:t>21 rows repeat the previous row exactly (consecutive IDs) → likely repeat scans of one patient. Grouped into 548 patient groups; a group never crosses splits.</a:t>
            </a:r>
          </a:p>
        </p:txBody>
      </p:sp>
      <p:sp>
        <p:nvSpPr>
          <p:cNvPr id="23" name="Rounded Rectangle 22"/>
          <p:cNvSpPr/>
          <p:nvPr/>
        </p:nvSpPr>
        <p:spPr>
          <a:xfrm>
            <a:off x="7086600" y="2697480"/>
            <a:ext cx="4297680" cy="86868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086600" y="2770632"/>
            <a:ext cx="64008" cy="722375"/>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69480" y="2788920"/>
            <a:ext cx="4023360" cy="274320"/>
          </a:xfrm>
          <a:prstGeom prst="rect">
            <a:avLst/>
          </a:prstGeom>
          <a:noFill/>
        </p:spPr>
        <p:txBody>
          <a:bodyPr wrap="square" lIns="0" rIns="0" tIns="0" bIns="0" anchor="t">
            <a:spAutoFit/>
          </a:bodyPr>
          <a:lstStyle/>
          <a:p>
            <a:pPr algn="l"/>
            <a:r>
              <a:rPr sz="1150" b="1" i="0">
                <a:solidFill>
                  <a:srgbClr val="0E7C86"/>
                </a:solidFill>
                <a:latin typeface="Arial"/>
              </a:rPr>
              <a:t>Missing values</a:t>
            </a:r>
          </a:p>
        </p:txBody>
      </p:sp>
      <p:sp>
        <p:nvSpPr>
          <p:cNvPr id="26" name="TextBox 25"/>
          <p:cNvSpPr txBox="1"/>
          <p:nvPr/>
        </p:nvSpPr>
        <p:spPr>
          <a:xfrm>
            <a:off x="7269480" y="3081528"/>
            <a:ext cx="4023360" cy="411479"/>
          </a:xfrm>
          <a:prstGeom prst="rect">
            <a:avLst/>
          </a:prstGeom>
          <a:noFill/>
        </p:spPr>
        <p:txBody>
          <a:bodyPr wrap="square" lIns="0" rIns="0" tIns="0" bIns="0" anchor="t">
            <a:spAutoFit/>
          </a:bodyPr>
          <a:lstStyle/>
          <a:p>
            <a:pPr algn="l"/>
            <a:r>
              <a:rPr sz="1000" b="0" i="0">
                <a:solidFill>
                  <a:srgbClr val="404040"/>
                </a:solidFill>
                <a:latin typeface="Arial"/>
              </a:rPr>
              <a:t>D-dimer 33 ('/'), lymphocyte count 5. Imputed with training-set median.</a:t>
            </a:r>
          </a:p>
        </p:txBody>
      </p:sp>
      <p:sp>
        <p:nvSpPr>
          <p:cNvPr id="27" name="Rounded Rectangle 26"/>
          <p:cNvSpPr/>
          <p:nvPr/>
        </p:nvSpPr>
        <p:spPr>
          <a:xfrm>
            <a:off x="7086600" y="3657600"/>
            <a:ext cx="4297680" cy="86868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086600" y="3730752"/>
            <a:ext cx="64008" cy="722375"/>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69480" y="3749039"/>
            <a:ext cx="4023360" cy="274320"/>
          </a:xfrm>
          <a:prstGeom prst="rect">
            <a:avLst/>
          </a:prstGeom>
          <a:noFill/>
        </p:spPr>
        <p:txBody>
          <a:bodyPr wrap="square" lIns="0" rIns="0" tIns="0" bIns="0" anchor="t">
            <a:spAutoFit/>
          </a:bodyPr>
          <a:lstStyle/>
          <a:p>
            <a:pPr algn="l"/>
            <a:r>
              <a:rPr sz="1150" b="1" i="0">
                <a:solidFill>
                  <a:srgbClr val="203864"/>
                </a:solidFill>
                <a:latin typeface="Arial"/>
              </a:rPr>
              <a:t>Inconsistent coding</a:t>
            </a:r>
          </a:p>
        </p:txBody>
      </p:sp>
      <p:sp>
        <p:nvSpPr>
          <p:cNvPr id="30" name="TextBox 29"/>
          <p:cNvSpPr txBox="1"/>
          <p:nvPr/>
        </p:nvSpPr>
        <p:spPr>
          <a:xfrm>
            <a:off x="7269480" y="4041648"/>
            <a:ext cx="4023360" cy="411479"/>
          </a:xfrm>
          <a:prstGeom prst="rect">
            <a:avLst/>
          </a:prstGeom>
          <a:noFill/>
        </p:spPr>
        <p:txBody>
          <a:bodyPr wrap="square" lIns="0" rIns="0" tIns="0" bIns="0" anchor="t">
            <a:spAutoFit/>
          </a:bodyPr>
          <a:lstStyle/>
          <a:p>
            <a:pPr algn="l"/>
            <a:r>
              <a:rPr sz="1000" b="0" i="0">
                <a:solidFill>
                  <a:srgbClr val="404040"/>
                </a:solidFill>
                <a:latin typeface="Arial"/>
              </a:rPr>
              <a:t>Gender values with trailing spaces ('F ' vs 'F'); constant Pathogen Identification column.</a:t>
            </a:r>
          </a:p>
        </p:txBody>
      </p:sp>
      <p:sp>
        <p:nvSpPr>
          <p:cNvPr id="31" name="Rounded Rectangle 30"/>
          <p:cNvSpPr/>
          <p:nvPr/>
        </p:nvSpPr>
        <p:spPr>
          <a:xfrm>
            <a:off x="7086600" y="4617720"/>
            <a:ext cx="4297680" cy="914400"/>
          </a:xfrm>
          <a:prstGeom prst="roundRect">
            <a:avLst>
              <a:gd name="adj" fmla="val 6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086600" y="4690872"/>
            <a:ext cx="64008" cy="768096"/>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69480" y="4709159"/>
            <a:ext cx="4023360" cy="274320"/>
          </a:xfrm>
          <a:prstGeom prst="rect">
            <a:avLst/>
          </a:prstGeom>
          <a:noFill/>
        </p:spPr>
        <p:txBody>
          <a:bodyPr wrap="square" lIns="0" rIns="0" tIns="0" bIns="0" anchor="t">
            <a:spAutoFit/>
          </a:bodyPr>
          <a:lstStyle/>
          <a:p>
            <a:pPr algn="l"/>
            <a:r>
              <a:rPr sz="1150" b="1" i="0">
                <a:solidFill>
                  <a:srgbClr val="B05A00"/>
                </a:solidFill>
                <a:latin typeface="Arial"/>
              </a:rPr>
              <a:t>No lesion / severity ground truth</a:t>
            </a:r>
          </a:p>
        </p:txBody>
      </p:sp>
      <p:sp>
        <p:nvSpPr>
          <p:cNvPr id="34" name="TextBox 33"/>
          <p:cNvSpPr txBox="1"/>
          <p:nvPr/>
        </p:nvSpPr>
        <p:spPr>
          <a:xfrm>
            <a:off x="7269480" y="5001768"/>
            <a:ext cx="4023360" cy="457200"/>
          </a:xfrm>
          <a:prstGeom prst="rect">
            <a:avLst/>
          </a:prstGeom>
          <a:noFill/>
        </p:spPr>
        <p:txBody>
          <a:bodyPr wrap="square" lIns="0" rIns="0" tIns="0" bIns="0" anchor="t">
            <a:spAutoFit/>
          </a:bodyPr>
          <a:lstStyle/>
          <a:p>
            <a:pPr algn="l"/>
            <a:r>
              <a:rPr sz="1000" b="0" i="0">
                <a:solidFill>
                  <a:srgbClr val="404040"/>
                </a:solidFill>
                <a:latin typeface="Arial"/>
              </a:rPr>
              <a:t>Localisation becomes weakly supervised (Grad-CAM); severity needs an agreed proxy definition.</a:t>
            </a:r>
          </a:p>
        </p:txBody>
      </p:sp>
      <p:sp>
        <p:nvSpPr>
          <p:cNvPr id="35" name="TextBox 34"/>
          <p:cNvSpPr txBox="1"/>
          <p:nvPr/>
        </p:nvSpPr>
        <p:spPr>
          <a:xfrm>
            <a:off x="7086600" y="5669280"/>
            <a:ext cx="4297680" cy="548640"/>
          </a:xfrm>
          <a:prstGeom prst="rect">
            <a:avLst/>
          </a:prstGeom>
          <a:noFill/>
        </p:spPr>
        <p:txBody>
          <a:bodyPr wrap="square" lIns="0" rIns="0" tIns="0" bIns="0" anchor="t">
            <a:spAutoFit/>
          </a:bodyPr>
          <a:lstStyle/>
          <a:p>
            <a:pPr algn="l"/>
            <a:r>
              <a:rPr sz="1000" b="0" i="1">
                <a:solidFill>
                  <a:srgbClr val="757575"/>
                </a:solidFill>
                <a:latin typeface="Arial"/>
              </a:rPr>
              <a:t>Class balance is moderate (153 / 209 / 207) → class-weighted loss, macro-F1 as primary metric.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Rectangle 3"/>
          <p:cNvSpPr/>
          <p:nvPr/>
        </p:nvSpPr>
        <p:spPr>
          <a:xfrm>
            <a:off x="3749039" y="146304"/>
            <a:ext cx="160020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FFFFFF"/>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System Design — Multimodal Architecture</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6</a:t>
            </a:r>
          </a:p>
        </p:txBody>
      </p:sp>
      <p:sp>
        <p:nvSpPr>
          <p:cNvPr id="11" name="TextBox 10"/>
          <p:cNvSpPr txBox="1"/>
          <p:nvPr/>
        </p:nvSpPr>
        <p:spPr>
          <a:xfrm>
            <a:off x="777240" y="1143000"/>
            <a:ext cx="1828800" cy="228600"/>
          </a:xfrm>
          <a:prstGeom prst="rect">
            <a:avLst/>
          </a:prstGeom>
          <a:noFill/>
        </p:spPr>
        <p:txBody>
          <a:bodyPr wrap="square" lIns="0" rIns="0" tIns="0" bIns="0" anchor="t">
            <a:spAutoFit/>
          </a:bodyPr>
          <a:lstStyle/>
          <a:p>
            <a:pPr algn="l"/>
            <a:r>
              <a:rPr sz="950" b="1" i="0">
                <a:solidFill>
                  <a:srgbClr val="203864"/>
                </a:solidFill>
                <a:latin typeface="Arial"/>
              </a:rPr>
              <a:t>CT BRANCH</a:t>
            </a:r>
          </a:p>
        </p:txBody>
      </p:sp>
      <p:sp>
        <p:nvSpPr>
          <p:cNvPr id="12" name="Rounded Rectangle 11"/>
          <p:cNvSpPr/>
          <p:nvPr/>
        </p:nvSpPr>
        <p:spPr>
          <a:xfrm>
            <a:off x="777240" y="1417320"/>
            <a:ext cx="1600200" cy="11430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1508760"/>
            <a:ext cx="1453896" cy="274320"/>
          </a:xfrm>
          <a:prstGeom prst="rect">
            <a:avLst/>
          </a:prstGeom>
          <a:noFill/>
        </p:spPr>
        <p:txBody>
          <a:bodyPr wrap="square" lIns="0" rIns="0" tIns="0" bIns="0" anchor="t">
            <a:spAutoFit/>
          </a:bodyPr>
          <a:lstStyle/>
          <a:p>
            <a:pPr algn="ctr"/>
            <a:r>
              <a:rPr sz="1150" b="1" i="0">
                <a:solidFill>
                  <a:srgbClr val="203864"/>
                </a:solidFill>
                <a:latin typeface="Arial"/>
              </a:rPr>
              <a:t>Chest CT</a:t>
            </a:r>
          </a:p>
        </p:txBody>
      </p:sp>
      <p:sp>
        <p:nvSpPr>
          <p:cNvPr id="14" name="TextBox 13"/>
          <p:cNvSpPr txBox="1"/>
          <p:nvPr/>
        </p:nvSpPr>
        <p:spPr>
          <a:xfrm>
            <a:off x="850392" y="1801368"/>
            <a:ext cx="1453896" cy="731520"/>
          </a:xfrm>
          <a:prstGeom prst="rect">
            <a:avLst/>
          </a:prstGeom>
          <a:noFill/>
        </p:spPr>
        <p:txBody>
          <a:bodyPr wrap="square" lIns="0" rIns="0" tIns="0" bIns="0" anchor="t">
            <a:spAutoFit/>
          </a:bodyPr>
          <a:lstStyle/>
          <a:p>
            <a:pPr algn="ctr"/>
            <a:r>
              <a:rPr sz="950" b="0" i="0">
                <a:solidFill>
                  <a:srgbClr val="404040"/>
                </a:solidFill>
                <a:latin typeface="Arial"/>
              </a:rPr>
              <a:t>NIfTI volume
512×512×31–81, HU</a:t>
            </a:r>
          </a:p>
        </p:txBody>
      </p:sp>
      <p:sp>
        <p:nvSpPr>
          <p:cNvPr id="15" name="Right Arrow 14"/>
          <p:cNvSpPr/>
          <p:nvPr/>
        </p:nvSpPr>
        <p:spPr>
          <a:xfrm>
            <a:off x="2441448" y="1874519"/>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743200" y="1417320"/>
            <a:ext cx="1828800" cy="11430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16352" y="1508760"/>
            <a:ext cx="1682496" cy="274320"/>
          </a:xfrm>
          <a:prstGeom prst="rect">
            <a:avLst/>
          </a:prstGeom>
          <a:noFill/>
        </p:spPr>
        <p:txBody>
          <a:bodyPr wrap="square" lIns="0" rIns="0" tIns="0" bIns="0" anchor="t">
            <a:spAutoFit/>
          </a:bodyPr>
          <a:lstStyle/>
          <a:p>
            <a:pPr algn="ctr"/>
            <a:r>
              <a:rPr sz="1150" b="1" i="0">
                <a:solidFill>
                  <a:srgbClr val="203864"/>
                </a:solidFill>
                <a:latin typeface="Arial"/>
              </a:rPr>
              <a:t>Preprocess</a:t>
            </a:r>
          </a:p>
        </p:txBody>
      </p:sp>
      <p:sp>
        <p:nvSpPr>
          <p:cNvPr id="18" name="TextBox 17"/>
          <p:cNvSpPr txBox="1"/>
          <p:nvPr/>
        </p:nvSpPr>
        <p:spPr>
          <a:xfrm>
            <a:off x="2816352" y="1801368"/>
            <a:ext cx="1682496" cy="731520"/>
          </a:xfrm>
          <a:prstGeom prst="rect">
            <a:avLst/>
          </a:prstGeom>
          <a:noFill/>
        </p:spPr>
        <p:txBody>
          <a:bodyPr wrap="square" lIns="0" rIns="0" tIns="0" bIns="0" anchor="t">
            <a:spAutoFit/>
          </a:bodyPr>
          <a:lstStyle/>
          <a:p>
            <a:pPr algn="ctr"/>
            <a:r>
              <a:rPr sz="950" b="0" i="0">
                <a:solidFill>
                  <a:srgbClr val="404040"/>
                </a:solidFill>
                <a:latin typeface="Arial"/>
              </a:rPr>
              <a:t>lung window, lung crop,
16 slices × 3 adjacent
→ 224×224</a:t>
            </a:r>
          </a:p>
        </p:txBody>
      </p:sp>
      <p:sp>
        <p:nvSpPr>
          <p:cNvPr id="19" name="Right Arrow 18"/>
          <p:cNvSpPr/>
          <p:nvPr/>
        </p:nvSpPr>
        <p:spPr>
          <a:xfrm>
            <a:off x="4636008" y="1874519"/>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0" y="1417320"/>
            <a:ext cx="1828800" cy="11430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10912" y="1508760"/>
            <a:ext cx="1682496" cy="274320"/>
          </a:xfrm>
          <a:prstGeom prst="rect">
            <a:avLst/>
          </a:prstGeom>
          <a:noFill/>
        </p:spPr>
        <p:txBody>
          <a:bodyPr wrap="square" lIns="0" rIns="0" tIns="0" bIns="0" anchor="t">
            <a:spAutoFit/>
          </a:bodyPr>
          <a:lstStyle/>
          <a:p>
            <a:pPr algn="ctr"/>
            <a:r>
              <a:rPr sz="1150" b="1" i="0">
                <a:solidFill>
                  <a:srgbClr val="203864"/>
                </a:solidFill>
                <a:latin typeface="Arial"/>
              </a:rPr>
              <a:t>ResNet-18</a:t>
            </a:r>
          </a:p>
        </p:txBody>
      </p:sp>
      <p:sp>
        <p:nvSpPr>
          <p:cNvPr id="22" name="TextBox 21"/>
          <p:cNvSpPr txBox="1"/>
          <p:nvPr/>
        </p:nvSpPr>
        <p:spPr>
          <a:xfrm>
            <a:off x="5010912" y="1801368"/>
            <a:ext cx="1682496" cy="731520"/>
          </a:xfrm>
          <a:prstGeom prst="rect">
            <a:avLst/>
          </a:prstGeom>
          <a:noFill/>
        </p:spPr>
        <p:txBody>
          <a:bodyPr wrap="square" lIns="0" rIns="0" tIns="0" bIns="0" anchor="t">
            <a:spAutoFit/>
          </a:bodyPr>
          <a:lstStyle/>
          <a:p>
            <a:pPr algn="ctr"/>
            <a:r>
              <a:rPr sz="950" b="0" i="0">
                <a:solidFill>
                  <a:srgbClr val="404040"/>
                </a:solidFill>
                <a:latin typeface="Arial"/>
              </a:rPr>
              <a:t>ImageNet pre-trained,
shared over 16 slices
→ 16 × 512</a:t>
            </a:r>
          </a:p>
        </p:txBody>
      </p:sp>
      <p:sp>
        <p:nvSpPr>
          <p:cNvPr id="23" name="Right Arrow 22"/>
          <p:cNvSpPr/>
          <p:nvPr/>
        </p:nvSpPr>
        <p:spPr>
          <a:xfrm>
            <a:off x="6830568" y="1874519"/>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32320" y="1417320"/>
            <a:ext cx="1371600" cy="11430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05472" y="1508760"/>
            <a:ext cx="1225296" cy="274320"/>
          </a:xfrm>
          <a:prstGeom prst="rect">
            <a:avLst/>
          </a:prstGeom>
          <a:noFill/>
        </p:spPr>
        <p:txBody>
          <a:bodyPr wrap="square" lIns="0" rIns="0" tIns="0" bIns="0" anchor="t">
            <a:spAutoFit/>
          </a:bodyPr>
          <a:lstStyle/>
          <a:p>
            <a:pPr algn="ctr"/>
            <a:r>
              <a:rPr sz="1150" b="1" i="0">
                <a:solidFill>
                  <a:srgbClr val="203864"/>
                </a:solidFill>
                <a:latin typeface="Arial"/>
              </a:rPr>
              <a:t>Mean pool</a:t>
            </a:r>
          </a:p>
        </p:txBody>
      </p:sp>
      <p:sp>
        <p:nvSpPr>
          <p:cNvPr id="26" name="TextBox 25"/>
          <p:cNvSpPr txBox="1"/>
          <p:nvPr/>
        </p:nvSpPr>
        <p:spPr>
          <a:xfrm>
            <a:off x="7205472" y="1801368"/>
            <a:ext cx="1225296" cy="731520"/>
          </a:xfrm>
          <a:prstGeom prst="rect">
            <a:avLst/>
          </a:prstGeom>
          <a:noFill/>
        </p:spPr>
        <p:txBody>
          <a:bodyPr wrap="square" lIns="0" rIns="0" tIns="0" bIns="0" anchor="t">
            <a:spAutoFit/>
          </a:bodyPr>
          <a:lstStyle/>
          <a:p>
            <a:pPr algn="ctr"/>
            <a:r>
              <a:rPr sz="950" b="0" i="0">
                <a:solidFill>
                  <a:srgbClr val="404040"/>
                </a:solidFill>
                <a:latin typeface="Arial"/>
              </a:rPr>
              <a:t>patient-level
512-d</a:t>
            </a:r>
          </a:p>
        </p:txBody>
      </p:sp>
      <p:sp>
        <p:nvSpPr>
          <p:cNvPr id="27" name="TextBox 26"/>
          <p:cNvSpPr txBox="1"/>
          <p:nvPr/>
        </p:nvSpPr>
        <p:spPr>
          <a:xfrm>
            <a:off x="777240" y="2926080"/>
            <a:ext cx="2286000" cy="228600"/>
          </a:xfrm>
          <a:prstGeom prst="rect">
            <a:avLst/>
          </a:prstGeom>
          <a:noFill/>
        </p:spPr>
        <p:txBody>
          <a:bodyPr wrap="square" lIns="0" rIns="0" tIns="0" bIns="0" anchor="t">
            <a:spAutoFit/>
          </a:bodyPr>
          <a:lstStyle/>
          <a:p>
            <a:pPr algn="l"/>
            <a:r>
              <a:rPr sz="950" b="1" i="0">
                <a:solidFill>
                  <a:srgbClr val="0E7C86"/>
                </a:solidFill>
                <a:latin typeface="Arial"/>
              </a:rPr>
              <a:t>CLINICAL BRANCH</a:t>
            </a:r>
          </a:p>
        </p:txBody>
      </p:sp>
      <p:sp>
        <p:nvSpPr>
          <p:cNvPr id="28" name="Rounded Rectangle 27"/>
          <p:cNvSpPr/>
          <p:nvPr/>
        </p:nvSpPr>
        <p:spPr>
          <a:xfrm>
            <a:off x="777240" y="3200400"/>
            <a:ext cx="1600200" cy="1051560"/>
          </a:xfrm>
          <a:prstGeom prst="roundRect">
            <a:avLst>
              <a:gd name="adj" fmla="val 10000"/>
            </a:avLst>
          </a:prstGeom>
          <a:solidFill>
            <a:srgbClr val="E8F5F4"/>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0392" y="3291840"/>
            <a:ext cx="1453896" cy="274320"/>
          </a:xfrm>
          <a:prstGeom prst="rect">
            <a:avLst/>
          </a:prstGeom>
          <a:noFill/>
        </p:spPr>
        <p:txBody>
          <a:bodyPr wrap="square" lIns="0" rIns="0" tIns="0" bIns="0" anchor="t">
            <a:spAutoFit/>
          </a:bodyPr>
          <a:lstStyle/>
          <a:p>
            <a:pPr algn="ctr"/>
            <a:r>
              <a:rPr sz="1150" b="1" i="0">
                <a:solidFill>
                  <a:srgbClr val="0E7C86"/>
                </a:solidFill>
                <a:latin typeface="Arial"/>
              </a:rPr>
              <a:t>Clinical record</a:t>
            </a:r>
          </a:p>
        </p:txBody>
      </p:sp>
      <p:sp>
        <p:nvSpPr>
          <p:cNvPr id="30" name="TextBox 29"/>
          <p:cNvSpPr txBox="1"/>
          <p:nvPr/>
        </p:nvSpPr>
        <p:spPr>
          <a:xfrm>
            <a:off x="850392" y="3584448"/>
            <a:ext cx="1453896" cy="640080"/>
          </a:xfrm>
          <a:prstGeom prst="rect">
            <a:avLst/>
          </a:prstGeom>
          <a:noFill/>
        </p:spPr>
        <p:txBody>
          <a:bodyPr wrap="square" lIns="0" rIns="0" tIns="0" bIns="0" anchor="t">
            <a:spAutoFit/>
          </a:bodyPr>
          <a:lstStyle/>
          <a:p>
            <a:pPr algn="ctr"/>
            <a:r>
              <a:rPr sz="950" b="0" i="0">
                <a:solidFill>
                  <a:srgbClr val="404040"/>
                </a:solidFill>
                <a:latin typeface="Arial"/>
              </a:rPr>
              <a:t>12 variables</a:t>
            </a:r>
          </a:p>
        </p:txBody>
      </p:sp>
      <p:sp>
        <p:nvSpPr>
          <p:cNvPr id="31" name="Right Arrow 30"/>
          <p:cNvSpPr/>
          <p:nvPr/>
        </p:nvSpPr>
        <p:spPr>
          <a:xfrm>
            <a:off x="2441448" y="3611880"/>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2743200" y="3200400"/>
            <a:ext cx="1828800" cy="1051560"/>
          </a:xfrm>
          <a:prstGeom prst="roundRect">
            <a:avLst>
              <a:gd name="adj" fmla="val 10000"/>
            </a:avLst>
          </a:prstGeom>
          <a:solidFill>
            <a:srgbClr val="E8F5F4"/>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16352" y="3291840"/>
            <a:ext cx="1682496" cy="274320"/>
          </a:xfrm>
          <a:prstGeom prst="rect">
            <a:avLst/>
          </a:prstGeom>
          <a:noFill/>
        </p:spPr>
        <p:txBody>
          <a:bodyPr wrap="square" lIns="0" rIns="0" tIns="0" bIns="0" anchor="t">
            <a:spAutoFit/>
          </a:bodyPr>
          <a:lstStyle/>
          <a:p>
            <a:pPr algn="ctr"/>
            <a:r>
              <a:rPr sz="1150" b="1" i="0">
                <a:solidFill>
                  <a:srgbClr val="0E7C86"/>
                </a:solidFill>
                <a:latin typeface="Arial"/>
              </a:rPr>
              <a:t>Encode</a:t>
            </a:r>
          </a:p>
        </p:txBody>
      </p:sp>
      <p:sp>
        <p:nvSpPr>
          <p:cNvPr id="34" name="TextBox 33"/>
          <p:cNvSpPr txBox="1"/>
          <p:nvPr/>
        </p:nvSpPr>
        <p:spPr>
          <a:xfrm>
            <a:off x="2816352" y="3584448"/>
            <a:ext cx="1682496" cy="640080"/>
          </a:xfrm>
          <a:prstGeom prst="rect">
            <a:avLst/>
          </a:prstGeom>
          <a:noFill/>
        </p:spPr>
        <p:txBody>
          <a:bodyPr wrap="square" lIns="0" rIns="0" tIns="0" bIns="0" anchor="t">
            <a:spAutoFit/>
          </a:bodyPr>
          <a:lstStyle/>
          <a:p>
            <a:pPr algn="ctr"/>
            <a:r>
              <a:rPr sz="950" b="0" i="0">
                <a:solidFill>
                  <a:srgbClr val="404040"/>
                </a:solidFill>
                <a:latin typeface="Arial"/>
              </a:rPr>
              <a:t>median impute, z-score,
one-hot (train-fit only)</a:t>
            </a:r>
          </a:p>
        </p:txBody>
      </p:sp>
      <p:sp>
        <p:nvSpPr>
          <p:cNvPr id="35" name="Right Arrow 34"/>
          <p:cNvSpPr/>
          <p:nvPr/>
        </p:nvSpPr>
        <p:spPr>
          <a:xfrm>
            <a:off x="4636008" y="3611880"/>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4937760" y="3200400"/>
            <a:ext cx="1828800" cy="1051560"/>
          </a:xfrm>
          <a:prstGeom prst="roundRect">
            <a:avLst>
              <a:gd name="adj" fmla="val 10000"/>
            </a:avLst>
          </a:prstGeom>
          <a:solidFill>
            <a:srgbClr val="E8F5F4"/>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10912" y="3291840"/>
            <a:ext cx="1682496" cy="274320"/>
          </a:xfrm>
          <a:prstGeom prst="rect">
            <a:avLst/>
          </a:prstGeom>
          <a:noFill/>
        </p:spPr>
        <p:txBody>
          <a:bodyPr wrap="square" lIns="0" rIns="0" tIns="0" bIns="0" anchor="t">
            <a:spAutoFit/>
          </a:bodyPr>
          <a:lstStyle/>
          <a:p>
            <a:pPr algn="ctr"/>
            <a:r>
              <a:rPr sz="1150" b="1" i="0">
                <a:solidFill>
                  <a:srgbClr val="0E7C86"/>
                </a:solidFill>
                <a:latin typeface="Arial"/>
              </a:rPr>
              <a:t>Clinical MLP</a:t>
            </a:r>
          </a:p>
        </p:txBody>
      </p:sp>
      <p:sp>
        <p:nvSpPr>
          <p:cNvPr id="38" name="TextBox 37"/>
          <p:cNvSpPr txBox="1"/>
          <p:nvPr/>
        </p:nvSpPr>
        <p:spPr>
          <a:xfrm>
            <a:off x="5010912" y="3584448"/>
            <a:ext cx="1682496" cy="640080"/>
          </a:xfrm>
          <a:prstGeom prst="rect">
            <a:avLst/>
          </a:prstGeom>
          <a:noFill/>
        </p:spPr>
        <p:txBody>
          <a:bodyPr wrap="square" lIns="0" rIns="0" tIns="0" bIns="0" anchor="t">
            <a:spAutoFit/>
          </a:bodyPr>
          <a:lstStyle/>
          <a:p>
            <a:pPr algn="ctr"/>
            <a:r>
              <a:rPr sz="950" b="0" i="0">
                <a:solidFill>
                  <a:srgbClr val="404040"/>
                </a:solidFill>
                <a:latin typeface="Arial"/>
              </a:rPr>
              <a:t>2 layers → 64-d</a:t>
            </a:r>
          </a:p>
        </p:txBody>
      </p:sp>
      <p:sp>
        <p:nvSpPr>
          <p:cNvPr id="39" name="Right Arrow 38"/>
          <p:cNvSpPr/>
          <p:nvPr/>
        </p:nvSpPr>
        <p:spPr>
          <a:xfrm>
            <a:off x="6830568" y="3611880"/>
            <a:ext cx="219456"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823960" y="2148840"/>
            <a:ext cx="1234440" cy="1280160"/>
          </a:xfrm>
          <a:prstGeom prst="roundRect">
            <a:avLst>
              <a:gd name="adj" fmla="val 10000"/>
            </a:avLst>
          </a:prstGeom>
          <a:solidFill>
            <a:srgbClr val="FDF2DE"/>
          </a:solidFill>
          <a:ln w="12700">
            <a:solidFill>
              <a:srgbClr val="B0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97112" y="2240280"/>
            <a:ext cx="1088136" cy="274320"/>
          </a:xfrm>
          <a:prstGeom prst="rect">
            <a:avLst/>
          </a:prstGeom>
          <a:noFill/>
        </p:spPr>
        <p:txBody>
          <a:bodyPr wrap="square" lIns="0" rIns="0" tIns="0" bIns="0" anchor="t">
            <a:spAutoFit/>
          </a:bodyPr>
          <a:lstStyle/>
          <a:p>
            <a:pPr algn="ctr"/>
            <a:r>
              <a:rPr sz="1150" b="1" i="0">
                <a:solidFill>
                  <a:srgbClr val="B05A00"/>
                </a:solidFill>
                <a:latin typeface="Arial"/>
              </a:rPr>
              <a:t>Concat</a:t>
            </a:r>
          </a:p>
        </p:txBody>
      </p:sp>
      <p:sp>
        <p:nvSpPr>
          <p:cNvPr id="42" name="TextBox 41"/>
          <p:cNvSpPr txBox="1"/>
          <p:nvPr/>
        </p:nvSpPr>
        <p:spPr>
          <a:xfrm>
            <a:off x="8897112" y="2532888"/>
            <a:ext cx="1088136" cy="868680"/>
          </a:xfrm>
          <a:prstGeom prst="rect">
            <a:avLst/>
          </a:prstGeom>
          <a:noFill/>
        </p:spPr>
        <p:txBody>
          <a:bodyPr wrap="square" lIns="0" rIns="0" tIns="0" bIns="0" anchor="t">
            <a:spAutoFit/>
          </a:bodyPr>
          <a:lstStyle/>
          <a:p>
            <a:pPr algn="ctr"/>
            <a:r>
              <a:rPr sz="950" b="0" i="0">
                <a:solidFill>
                  <a:srgbClr val="404040"/>
                </a:solidFill>
                <a:latin typeface="Arial"/>
              </a:rPr>
              <a:t>512 + 64
= 576-d</a:t>
            </a:r>
          </a:p>
        </p:txBody>
      </p:sp>
      <p:cxnSp>
        <p:nvCxnSpPr>
          <p:cNvPr id="43" name="Connector 42"/>
          <p:cNvCxnSpPr/>
          <p:nvPr/>
        </p:nvCxnSpPr>
        <p:spPr>
          <a:xfrm>
            <a:off x="8503920" y="1984248"/>
            <a:ext cx="320040" cy="804672"/>
          </a:xfrm>
          <a:prstGeom prst="line">
            <a:avLst/>
          </a:prstGeom>
          <a:ln w="25400">
            <a:solidFill>
              <a:srgbClr val="8AA0B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132320" y="2788920"/>
            <a:ext cx="1691640" cy="932688"/>
          </a:xfrm>
          <a:prstGeom prst="line">
            <a:avLst/>
          </a:prstGeom>
          <a:ln w="25400">
            <a:solidFill>
              <a:srgbClr val="8AA0B8"/>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10241280" y="2148840"/>
            <a:ext cx="1234440" cy="1280160"/>
          </a:xfrm>
          <a:prstGeom prst="roundRect">
            <a:avLst>
              <a:gd name="adj" fmla="val 10000"/>
            </a:avLst>
          </a:prstGeom>
          <a:solidFill>
            <a:srgbClr val="FDF2DE"/>
          </a:solidFill>
          <a:ln w="12700">
            <a:solidFill>
              <a:srgbClr val="B0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14432" y="2240280"/>
            <a:ext cx="1088136" cy="274320"/>
          </a:xfrm>
          <a:prstGeom prst="rect">
            <a:avLst/>
          </a:prstGeom>
          <a:noFill/>
        </p:spPr>
        <p:txBody>
          <a:bodyPr wrap="square" lIns="0" rIns="0" tIns="0" bIns="0" anchor="t">
            <a:spAutoFit/>
          </a:bodyPr>
          <a:lstStyle/>
          <a:p>
            <a:pPr algn="ctr"/>
            <a:r>
              <a:rPr sz="1150" b="1" i="0">
                <a:solidFill>
                  <a:srgbClr val="B05A00"/>
                </a:solidFill>
                <a:latin typeface="Arial"/>
              </a:rPr>
              <a:t>MLP head</a:t>
            </a:r>
          </a:p>
        </p:txBody>
      </p:sp>
      <p:sp>
        <p:nvSpPr>
          <p:cNvPr id="47" name="TextBox 46"/>
          <p:cNvSpPr txBox="1"/>
          <p:nvPr/>
        </p:nvSpPr>
        <p:spPr>
          <a:xfrm>
            <a:off x="10314432" y="2532888"/>
            <a:ext cx="1088136" cy="868680"/>
          </a:xfrm>
          <a:prstGeom prst="rect">
            <a:avLst/>
          </a:prstGeom>
          <a:noFill/>
        </p:spPr>
        <p:txBody>
          <a:bodyPr wrap="square" lIns="0" rIns="0" tIns="0" bIns="0" anchor="t">
            <a:spAutoFit/>
          </a:bodyPr>
          <a:lstStyle/>
          <a:p>
            <a:pPr algn="ctr"/>
            <a:r>
              <a:rPr sz="950" b="0" i="0">
                <a:solidFill>
                  <a:srgbClr val="404040"/>
                </a:solidFill>
                <a:latin typeface="Arial"/>
              </a:rPr>
              <a:t>dropout,
softmax ×3</a:t>
            </a:r>
          </a:p>
        </p:txBody>
      </p:sp>
      <p:sp>
        <p:nvSpPr>
          <p:cNvPr id="48" name="Right Arrow 47"/>
          <p:cNvSpPr/>
          <p:nvPr/>
        </p:nvSpPr>
        <p:spPr>
          <a:xfrm>
            <a:off x="10085832" y="2670048"/>
            <a:ext cx="146304" cy="237744"/>
          </a:xfrm>
          <a:prstGeom prst="right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Down Arrow 48"/>
          <p:cNvSpPr/>
          <p:nvPr/>
        </p:nvSpPr>
        <p:spPr>
          <a:xfrm>
            <a:off x="10744200" y="3474720"/>
            <a:ext cx="219456" cy="237744"/>
          </a:xfrm>
          <a:prstGeom prst="downArrow">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9555480" y="3794760"/>
            <a:ext cx="1920240" cy="9144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28632" y="3886200"/>
            <a:ext cx="1773936" cy="274320"/>
          </a:xfrm>
          <a:prstGeom prst="rect">
            <a:avLst/>
          </a:prstGeom>
          <a:noFill/>
        </p:spPr>
        <p:txBody>
          <a:bodyPr wrap="square" lIns="0" rIns="0" tIns="0" bIns="0" anchor="t">
            <a:spAutoFit/>
          </a:bodyPr>
          <a:lstStyle/>
          <a:p>
            <a:pPr algn="ctr"/>
            <a:r>
              <a:rPr sz="1150" b="1" i="0">
                <a:solidFill>
                  <a:srgbClr val="203864"/>
                </a:solidFill>
                <a:latin typeface="Arial"/>
              </a:rPr>
              <a:t>Outputs</a:t>
            </a:r>
          </a:p>
        </p:txBody>
      </p:sp>
      <p:sp>
        <p:nvSpPr>
          <p:cNvPr id="52" name="TextBox 51"/>
          <p:cNvSpPr txBox="1"/>
          <p:nvPr/>
        </p:nvSpPr>
        <p:spPr>
          <a:xfrm>
            <a:off x="9628632" y="4178808"/>
            <a:ext cx="1773936" cy="502920"/>
          </a:xfrm>
          <a:prstGeom prst="rect">
            <a:avLst/>
          </a:prstGeom>
          <a:noFill/>
        </p:spPr>
        <p:txBody>
          <a:bodyPr wrap="square" lIns="0" rIns="0" tIns="0" bIns="0" anchor="t">
            <a:spAutoFit/>
          </a:bodyPr>
          <a:lstStyle/>
          <a:p>
            <a:pPr algn="ctr"/>
            <a:r>
              <a:rPr sz="950" b="0" i="0">
                <a:solidFill>
                  <a:srgbClr val="404040"/>
                </a:solidFill>
                <a:latin typeface="Arial"/>
              </a:rPr>
              <a:t>class probabilities,
'uncertain' flag</a:t>
            </a:r>
          </a:p>
        </p:txBody>
      </p:sp>
      <p:sp>
        <p:nvSpPr>
          <p:cNvPr id="53" name="Rounded Rectangle 52"/>
          <p:cNvSpPr/>
          <p:nvPr/>
        </p:nvSpPr>
        <p:spPr>
          <a:xfrm>
            <a:off x="7132320" y="3794760"/>
            <a:ext cx="2194560" cy="914400"/>
          </a:xfrm>
          <a:prstGeom prst="roundRect">
            <a:avLst>
              <a:gd name="adj" fmla="val 10000"/>
            </a:avLst>
          </a:prstGeom>
          <a:solidFill>
            <a:srgbClr val="F2F5F9"/>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05472" y="3886200"/>
            <a:ext cx="2048255" cy="274320"/>
          </a:xfrm>
          <a:prstGeom prst="rect">
            <a:avLst/>
          </a:prstGeom>
          <a:noFill/>
        </p:spPr>
        <p:txBody>
          <a:bodyPr wrap="square" lIns="0" rIns="0" tIns="0" bIns="0" anchor="t">
            <a:spAutoFit/>
          </a:bodyPr>
          <a:lstStyle/>
          <a:p>
            <a:pPr algn="ctr"/>
            <a:r>
              <a:rPr sz="1150" b="1" i="0">
                <a:solidFill>
                  <a:srgbClr val="203864"/>
                </a:solidFill>
                <a:latin typeface="Arial"/>
              </a:rPr>
              <a:t>Grad-CAM</a:t>
            </a:r>
          </a:p>
        </p:txBody>
      </p:sp>
      <p:sp>
        <p:nvSpPr>
          <p:cNvPr id="55" name="TextBox 54"/>
          <p:cNvSpPr txBox="1"/>
          <p:nvPr/>
        </p:nvSpPr>
        <p:spPr>
          <a:xfrm>
            <a:off x="7205472" y="4178808"/>
            <a:ext cx="2048255" cy="502920"/>
          </a:xfrm>
          <a:prstGeom prst="rect">
            <a:avLst/>
          </a:prstGeom>
          <a:noFill/>
        </p:spPr>
        <p:txBody>
          <a:bodyPr wrap="square" lIns="0" rIns="0" tIns="0" bIns="0" anchor="t">
            <a:spAutoFit/>
          </a:bodyPr>
          <a:lstStyle/>
          <a:p>
            <a:pPr algn="ctr"/>
            <a:r>
              <a:rPr sz="950" b="0" i="0">
                <a:solidFill>
                  <a:srgbClr val="404040"/>
                </a:solidFill>
                <a:latin typeface="Arial"/>
              </a:rPr>
              <a:t>saliency on the CT slices
→ lesion localisation</a:t>
            </a:r>
          </a:p>
        </p:txBody>
      </p:sp>
      <p:sp>
        <p:nvSpPr>
          <p:cNvPr id="56" name="Rectangle 55"/>
          <p:cNvSpPr/>
          <p:nvPr/>
        </p:nvSpPr>
        <p:spPr>
          <a:xfrm>
            <a:off x="777240" y="4572000"/>
            <a:ext cx="292608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4572000"/>
            <a:ext cx="2926080" cy="256032"/>
          </a:xfrm>
          <a:prstGeom prst="rect">
            <a:avLst/>
          </a:prstGeom>
          <a:noFill/>
        </p:spPr>
        <p:txBody>
          <a:bodyPr wrap="square" lIns="0" rIns="0" tIns="0" bIns="0" anchor="ctr">
            <a:spAutoFit/>
          </a:bodyPr>
          <a:lstStyle/>
          <a:p>
            <a:pPr algn="ctr"/>
            <a:r>
              <a:rPr sz="1000" b="1" i="0">
                <a:solidFill>
                  <a:srgbClr val="FFFFFF"/>
                </a:solidFill>
                <a:latin typeface="Arial"/>
              </a:rPr>
              <a:t>BASELINES SHARE THE SAME PARTS</a:t>
            </a:r>
          </a:p>
        </p:txBody>
      </p:sp>
      <p:sp>
        <p:nvSpPr>
          <p:cNvPr id="58" name="TextBox 57"/>
          <p:cNvSpPr txBox="1"/>
          <p:nvPr/>
        </p:nvSpPr>
        <p:spPr>
          <a:xfrm>
            <a:off x="777240" y="4937760"/>
            <a:ext cx="6126480" cy="1280160"/>
          </a:xfrm>
          <a:prstGeom prst="rect">
            <a:avLst/>
          </a:prstGeom>
          <a:noFill/>
        </p:spPr>
        <p:txBody>
          <a:bodyPr wrap="square" lIns="0" rIns="0" tIns="0" bIns="0" anchor="t">
            <a:spAutoFit/>
          </a:bodyPr>
          <a:lstStyle/>
          <a:p>
            <a:pPr algn="l">
              <a:spcAft>
                <a:spcPts val="400"/>
              </a:spcAft>
            </a:pPr>
            <a:r>
              <a:rPr sz="1050" b="1" i="0">
                <a:solidFill>
                  <a:srgbClr val="0E7C86"/>
                </a:solidFill>
                <a:latin typeface="Arial"/>
              </a:rPr>
              <a:t>• </a:t>
            </a:r>
            <a:r>
              <a:rPr sz="1050" b="1" i="0">
                <a:solidFill>
                  <a:srgbClr val="1A1A1A"/>
                </a:solidFill>
                <a:latin typeface="Arial"/>
              </a:rPr>
              <a:t>CT-only: </a:t>
            </a:r>
            <a:r>
              <a:rPr sz="1050" b="0" i="0">
                <a:solidFill>
                  <a:srgbClr val="404040"/>
                </a:solidFill>
                <a:latin typeface="Arial"/>
              </a:rPr>
              <a:t>same CT branch + head, clinical branch removed</a:t>
            </a:r>
          </a:p>
          <a:p>
            <a:pPr algn="l">
              <a:spcAft>
                <a:spcPts val="400"/>
              </a:spcAft>
            </a:pPr>
            <a:r>
              <a:rPr sz="1050" b="1" i="0">
                <a:solidFill>
                  <a:srgbClr val="0E7C86"/>
                </a:solidFill>
                <a:latin typeface="Arial"/>
              </a:rPr>
              <a:t>• </a:t>
            </a:r>
            <a:r>
              <a:rPr sz="1050" b="1" i="0">
                <a:solidFill>
                  <a:srgbClr val="1A1A1A"/>
                </a:solidFill>
                <a:latin typeface="Arial"/>
              </a:rPr>
              <a:t>Clinical-only: </a:t>
            </a:r>
            <a:r>
              <a:rPr sz="1050" b="0" i="0">
                <a:solidFill>
                  <a:srgbClr val="404040"/>
                </a:solidFill>
                <a:latin typeface="Arial"/>
              </a:rPr>
              <a:t>logistic regression / random forest / LightGBM on the encoded record</a:t>
            </a:r>
          </a:p>
          <a:p>
            <a:pPr algn="l">
              <a:spcAft>
                <a:spcPts val="400"/>
              </a:spcAft>
            </a:pPr>
            <a:r>
              <a:rPr sz="1050" b="1" i="0">
                <a:solidFill>
                  <a:srgbClr val="0E7C86"/>
                </a:solidFill>
                <a:latin typeface="Arial"/>
              </a:rPr>
              <a:t>• </a:t>
            </a:r>
            <a:r>
              <a:rPr sz="1050" b="1" i="0">
                <a:solidFill>
                  <a:srgbClr val="1A1A1A"/>
                </a:solidFill>
                <a:latin typeface="Arial"/>
              </a:rPr>
              <a:t>Training: </a:t>
            </a:r>
            <a:r>
              <a:rPr sz="1050" b="0" i="0">
                <a:solidFill>
                  <a:srgbClr val="404040"/>
                </a:solidFill>
                <a:latin typeface="Arial"/>
              </a:rPr>
              <a:t>class-weighted cross-entropy, AdamW, cosine LR, mixed precision; model chosen on validation macro-F1</a:t>
            </a:r>
          </a:p>
        </p:txBody>
      </p:sp>
      <p:sp>
        <p:nvSpPr>
          <p:cNvPr id="59" name="Rounded Rectangle 58"/>
          <p:cNvSpPr/>
          <p:nvPr/>
        </p:nvSpPr>
        <p:spPr>
          <a:xfrm>
            <a:off x="7132320" y="4937760"/>
            <a:ext cx="4343400" cy="914400"/>
          </a:xfrm>
          <a:prstGeom prst="roundRect">
            <a:avLst>
              <a:gd name="adj" fmla="val 8000"/>
            </a:avLst>
          </a:prstGeom>
          <a:solidFill>
            <a:srgbClr val="F6F8FB"/>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269480" y="5010912"/>
            <a:ext cx="4114800" cy="1188720"/>
          </a:xfrm>
          <a:prstGeom prst="rect">
            <a:avLst/>
          </a:prstGeom>
          <a:noFill/>
        </p:spPr>
        <p:txBody>
          <a:bodyPr wrap="square" lIns="0" rIns="0" tIns="0" bIns="0" anchor="t">
            <a:spAutoFit/>
          </a:bodyPr>
          <a:lstStyle/>
          <a:p>
            <a:pPr algn="l"/>
            <a:r>
              <a:rPr sz="1000" b="1" i="0">
                <a:solidFill>
                  <a:srgbClr val="203864"/>
                </a:solidFill>
                <a:latin typeface="Arial"/>
              </a:rPr>
              <a:t>Why 2.5D, not 3D? </a:t>
            </a:r>
            <a:r>
              <a:rPr sz="1000" b="0" i="0">
                <a:solidFill>
                  <a:srgbClr val="404040"/>
                </a:solidFill>
                <a:latin typeface="Arial"/>
              </a:rPr>
              <a:t>Slices are 5 mm thick, so a 3D network gains little along z; 2D ImageNet weights transfer directly, and 16 slices × 224² fits our 8 GB GPU. 3 adjacent slices as RGB keep local z-context.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Rectangle 3"/>
          <p:cNvSpPr/>
          <p:nvPr/>
        </p:nvSpPr>
        <p:spPr>
          <a:xfrm>
            <a:off x="3749039" y="146304"/>
            <a:ext cx="160020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FFFFFF"/>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Data Pipeline — CT Preprocessing and Leak-Free Split</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7</a:t>
            </a:r>
          </a:p>
        </p:txBody>
      </p:sp>
      <p:sp>
        <p:nvSpPr>
          <p:cNvPr id="11" name="Rectangle 10"/>
          <p:cNvSpPr/>
          <p:nvPr/>
        </p:nvSpPr>
        <p:spPr>
          <a:xfrm>
            <a:off x="822960" y="1280160"/>
            <a:ext cx="292608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2926080" cy="256032"/>
          </a:xfrm>
          <a:prstGeom prst="rect">
            <a:avLst/>
          </a:prstGeom>
          <a:noFill/>
        </p:spPr>
        <p:txBody>
          <a:bodyPr wrap="square" lIns="0" rIns="0" tIns="0" bIns="0" anchor="ctr">
            <a:spAutoFit/>
          </a:bodyPr>
          <a:lstStyle/>
          <a:p>
            <a:pPr algn="ctr"/>
            <a:r>
              <a:rPr sz="1000" b="1" i="0">
                <a:solidFill>
                  <a:srgbClr val="FFFFFF"/>
                </a:solidFill>
                <a:latin typeface="Arial"/>
              </a:rPr>
              <a:t>CT PREPROCESSING (IMPLEMENTED)</a:t>
            </a:r>
          </a:p>
        </p:txBody>
      </p:sp>
      <p:pic>
        <p:nvPicPr>
          <p:cNvPr id="13" name="Picture 12" descr="ct_pipeline.png"/>
          <p:cNvPicPr>
            <a:picLocks noChangeAspect="1"/>
          </p:cNvPicPr>
          <p:nvPr/>
        </p:nvPicPr>
        <p:blipFill>
          <a:blip r:embed="rId2"/>
          <a:stretch>
            <a:fillRect/>
          </a:stretch>
        </p:blipFill>
        <p:spPr>
          <a:xfrm>
            <a:off x="822960" y="1645920"/>
            <a:ext cx="10561320" cy="2145331"/>
          </a:xfrm>
          <a:prstGeom prst="rect">
            <a:avLst/>
          </a:prstGeom>
        </p:spPr>
      </p:pic>
      <p:sp>
        <p:nvSpPr>
          <p:cNvPr id="14" name="Rectangle 13"/>
          <p:cNvSpPr/>
          <p:nvPr/>
        </p:nvSpPr>
        <p:spPr>
          <a:xfrm>
            <a:off x="822960" y="4069080"/>
            <a:ext cx="356616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069080"/>
            <a:ext cx="3566160" cy="256032"/>
          </a:xfrm>
          <a:prstGeom prst="rect">
            <a:avLst/>
          </a:prstGeom>
          <a:noFill/>
        </p:spPr>
        <p:txBody>
          <a:bodyPr wrap="square" lIns="0" rIns="0" tIns="0" bIns="0" anchor="ctr">
            <a:spAutoFit/>
          </a:bodyPr>
          <a:lstStyle/>
          <a:p>
            <a:pPr algn="ctr"/>
            <a:r>
              <a:rPr sz="1000" b="1" i="0">
                <a:solidFill>
                  <a:srgbClr val="FFFFFF"/>
                </a:solidFill>
                <a:latin typeface="Arial"/>
              </a:rPr>
              <a:t>PATIENT-GROUP STRATIFIED SPLIT · SEED 42</a:t>
            </a:r>
          </a:p>
        </p:txBody>
      </p:sp>
      <p:graphicFrame>
        <p:nvGraphicFramePr>
          <p:cNvPr id="16" name="Table 15"/>
          <p:cNvGraphicFramePr>
            <a:graphicFrameLocks noGrp="1"/>
          </p:cNvGraphicFramePr>
          <p:nvPr/>
        </p:nvGraphicFramePr>
        <p:xfrm>
          <a:off x="822960" y="4434840"/>
          <a:ext cx="5852160" cy="1645920"/>
        </p:xfrm>
        <a:graphic>
          <a:graphicData uri="http://schemas.openxmlformats.org/drawingml/2006/table">
            <a:tbl>
              <a:tblPr firstRow="1" bandRow="1">
                <a:tableStyleId>{5C22544A-7EE6-4342-B048-85BDC9FD1C3A}</a:tableStyleId>
              </a:tblPr>
              <a:tblGrid>
                <a:gridCol w="822960"/>
                <a:gridCol w="1005840"/>
                <a:gridCol w="1143000"/>
                <a:gridCol w="960120"/>
                <a:gridCol w="868680"/>
                <a:gridCol w="1051560"/>
              </a:tblGrid>
              <a:tr h="329184">
                <a:tc>
                  <a:txBody>
                    <a:bodyPr/>
                    <a:lstStyle/>
                    <a:p>
                      <a:pPr algn="l"/>
                      <a:r>
                        <a:rPr sz="1000" b="1">
                          <a:solidFill>
                            <a:srgbClr val="FFFFFF"/>
                          </a:solidFill>
                          <a:latin typeface="Arial"/>
                        </a:rPr>
                        <a:t>Split</a:t>
                      </a:r>
                    </a:p>
                  </a:txBody>
                  <a:tcPr marL="73152" marR="73152" marT="18288" marB="18288" anchor="ctr">
                    <a:solidFill>
                      <a:srgbClr val="203864"/>
                    </a:solidFill>
                  </a:tcPr>
                </a:tc>
                <a:tc>
                  <a:txBody>
                    <a:bodyPr/>
                    <a:lstStyle/>
                    <a:p>
                      <a:pPr algn="ctr"/>
                      <a:r>
                        <a:rPr sz="1000" b="1">
                          <a:solidFill>
                            <a:srgbClr val="FFFFFF"/>
                          </a:solidFill>
                          <a:latin typeface="Arial"/>
                        </a:rPr>
                        <a:t>Aspergillus</a:t>
                      </a:r>
                    </a:p>
                  </a:txBody>
                  <a:tcPr marL="73152" marR="73152" marT="18288" marB="18288" anchor="ctr">
                    <a:solidFill>
                      <a:srgbClr val="203864"/>
                    </a:solidFill>
                  </a:tcPr>
                </a:tc>
                <a:tc>
                  <a:txBody>
                    <a:bodyPr/>
                    <a:lstStyle/>
                    <a:p>
                      <a:pPr algn="ctr"/>
                      <a:r>
                        <a:rPr sz="1000" b="1">
                          <a:solidFill>
                            <a:srgbClr val="FFFFFF"/>
                          </a:solidFill>
                          <a:latin typeface="Arial"/>
                        </a:rPr>
                        <a:t>Non-Asp. fungi</a:t>
                      </a:r>
                    </a:p>
                  </a:txBody>
                  <a:tcPr marL="73152" marR="73152" marT="18288" marB="18288" anchor="ctr">
                    <a:solidFill>
                      <a:srgbClr val="203864"/>
                    </a:solidFill>
                  </a:tcPr>
                </a:tc>
                <a:tc>
                  <a:txBody>
                    <a:bodyPr/>
                    <a:lstStyle/>
                    <a:p>
                      <a:pPr algn="ctr"/>
                      <a:r>
                        <a:rPr sz="1000" b="1">
                          <a:solidFill>
                            <a:srgbClr val="FFFFFF"/>
                          </a:solidFill>
                          <a:latin typeface="Arial"/>
                        </a:rPr>
                        <a:t>Non-fungal</a:t>
                      </a:r>
                    </a:p>
                  </a:txBody>
                  <a:tcPr marL="73152" marR="73152" marT="18288" marB="18288" anchor="ctr">
                    <a:solidFill>
                      <a:srgbClr val="203864"/>
                    </a:solidFill>
                  </a:tcPr>
                </a:tc>
                <a:tc>
                  <a:txBody>
                    <a:bodyPr/>
                    <a:lstStyle/>
                    <a:p>
                      <a:pPr algn="ctr"/>
                      <a:r>
                        <a:rPr sz="1000" b="1">
                          <a:solidFill>
                            <a:srgbClr val="FFFFFF"/>
                          </a:solidFill>
                          <a:latin typeface="Arial"/>
                        </a:rPr>
                        <a:t>Scans</a:t>
                      </a:r>
                    </a:p>
                  </a:txBody>
                  <a:tcPr marL="73152" marR="73152" marT="18288" marB="18288" anchor="ctr">
                    <a:solidFill>
                      <a:srgbClr val="203864"/>
                    </a:solidFill>
                  </a:tcPr>
                </a:tc>
                <a:tc>
                  <a:txBody>
                    <a:bodyPr/>
                    <a:lstStyle/>
                    <a:p>
                      <a:pPr algn="ctr"/>
                      <a:r>
                        <a:rPr sz="1000" b="1">
                          <a:solidFill>
                            <a:srgbClr val="FFFFFF"/>
                          </a:solidFill>
                          <a:latin typeface="Arial"/>
                        </a:rPr>
                        <a:t>Groups</a:t>
                      </a:r>
                    </a:p>
                  </a:txBody>
                  <a:tcPr marL="73152" marR="73152" marT="18288" marB="18288" anchor="ctr">
                    <a:solidFill>
                      <a:srgbClr val="203864"/>
                    </a:solidFill>
                  </a:tcPr>
                </a:tc>
              </a:tr>
              <a:tr h="329184">
                <a:tc>
                  <a:txBody>
                    <a:bodyPr/>
                    <a:lstStyle/>
                    <a:p>
                      <a:pPr algn="l"/>
                      <a:r>
                        <a:rPr sz="1000" b="1">
                          <a:solidFill>
                            <a:srgbClr val="1A1A1A"/>
                          </a:solidFill>
                          <a:latin typeface="Arial"/>
                        </a:rPr>
                        <a:t>Train</a:t>
                      </a:r>
                    </a:p>
                  </a:txBody>
                  <a:tcPr marL="73152" marR="73152" marT="18288" marB="18288" anchor="ctr">
                    <a:solidFill>
                      <a:srgbClr val="FFFFFF"/>
                    </a:solidFill>
                  </a:tcPr>
                </a:tc>
                <a:tc>
                  <a:txBody>
                    <a:bodyPr/>
                    <a:lstStyle/>
                    <a:p>
                      <a:pPr algn="ctr"/>
                      <a:r>
                        <a:rPr sz="1000" b="0">
                          <a:solidFill>
                            <a:srgbClr val="1A1A1A"/>
                          </a:solidFill>
                          <a:latin typeface="Arial"/>
                        </a:rPr>
                        <a:t>107</a:t>
                      </a:r>
                    </a:p>
                  </a:txBody>
                  <a:tcPr marL="73152" marR="73152" marT="18288" marB="18288" anchor="ctr">
                    <a:solidFill>
                      <a:srgbClr val="FFFFFF"/>
                    </a:solidFill>
                  </a:tcPr>
                </a:tc>
                <a:tc>
                  <a:txBody>
                    <a:bodyPr/>
                    <a:lstStyle/>
                    <a:p>
                      <a:pPr algn="ctr"/>
                      <a:r>
                        <a:rPr sz="1000" b="0">
                          <a:solidFill>
                            <a:srgbClr val="1A1A1A"/>
                          </a:solidFill>
                          <a:latin typeface="Arial"/>
                        </a:rPr>
                        <a:t>150</a:t>
                      </a:r>
                    </a:p>
                  </a:txBody>
                  <a:tcPr marL="73152" marR="73152" marT="18288" marB="18288" anchor="ctr">
                    <a:solidFill>
                      <a:srgbClr val="FFFFFF"/>
                    </a:solidFill>
                  </a:tcPr>
                </a:tc>
                <a:tc>
                  <a:txBody>
                    <a:bodyPr/>
                    <a:lstStyle/>
                    <a:p>
                      <a:pPr algn="ctr"/>
                      <a:r>
                        <a:rPr sz="1000" b="0">
                          <a:solidFill>
                            <a:srgbClr val="1A1A1A"/>
                          </a:solidFill>
                          <a:latin typeface="Arial"/>
                        </a:rPr>
                        <a:t>145</a:t>
                      </a:r>
                    </a:p>
                  </a:txBody>
                  <a:tcPr marL="73152" marR="73152" marT="18288" marB="18288" anchor="ctr">
                    <a:solidFill>
                      <a:srgbClr val="FFFFFF"/>
                    </a:solidFill>
                  </a:tcPr>
                </a:tc>
                <a:tc>
                  <a:txBody>
                    <a:bodyPr/>
                    <a:lstStyle/>
                    <a:p>
                      <a:pPr algn="ctr"/>
                      <a:r>
                        <a:rPr sz="1000" b="0">
                          <a:solidFill>
                            <a:srgbClr val="1A1A1A"/>
                          </a:solidFill>
                          <a:latin typeface="Arial"/>
                        </a:rPr>
                        <a:t>402</a:t>
                      </a:r>
                    </a:p>
                  </a:txBody>
                  <a:tcPr marL="73152" marR="73152" marT="18288" marB="18288" anchor="ctr">
                    <a:solidFill>
                      <a:srgbClr val="FFFFFF"/>
                    </a:solidFill>
                  </a:tcPr>
                </a:tc>
                <a:tc>
                  <a:txBody>
                    <a:bodyPr/>
                    <a:lstStyle/>
                    <a:p>
                      <a:pPr algn="ctr"/>
                      <a:r>
                        <a:rPr sz="1000" b="0">
                          <a:solidFill>
                            <a:srgbClr val="1A1A1A"/>
                          </a:solidFill>
                          <a:latin typeface="Arial"/>
                        </a:rPr>
                        <a:t>383</a:t>
                      </a:r>
                    </a:p>
                  </a:txBody>
                  <a:tcPr marL="73152" marR="73152" marT="18288" marB="18288" anchor="ctr">
                    <a:solidFill>
                      <a:srgbClr val="FFFFFF"/>
                    </a:solidFill>
                  </a:tcPr>
                </a:tc>
              </a:tr>
              <a:tr h="329184">
                <a:tc>
                  <a:txBody>
                    <a:bodyPr/>
                    <a:lstStyle/>
                    <a:p>
                      <a:pPr algn="l"/>
                      <a:r>
                        <a:rPr sz="1000" b="1">
                          <a:solidFill>
                            <a:srgbClr val="1A1A1A"/>
                          </a:solidFill>
                          <a:latin typeface="Arial"/>
                        </a:rPr>
                        <a:t>Val</a:t>
                      </a:r>
                    </a:p>
                  </a:txBody>
                  <a:tcPr marL="73152" marR="73152" marT="18288" marB="18288" anchor="ctr">
                    <a:solidFill>
                      <a:srgbClr val="F2F5F9"/>
                    </a:solidFill>
                  </a:tcPr>
                </a:tc>
                <a:tc>
                  <a:txBody>
                    <a:bodyPr/>
                    <a:lstStyle/>
                    <a:p>
                      <a:pPr algn="ctr"/>
                      <a:r>
                        <a:rPr sz="1000" b="0">
                          <a:solidFill>
                            <a:srgbClr val="1A1A1A"/>
                          </a:solidFill>
                          <a:latin typeface="Arial"/>
                        </a:rPr>
                        <a:t>23</a:t>
                      </a:r>
                    </a:p>
                  </a:txBody>
                  <a:tcPr marL="73152" marR="73152" marT="18288" marB="18288" anchor="ctr">
                    <a:solidFill>
                      <a:srgbClr val="F2F5F9"/>
                    </a:solidFill>
                  </a:tcPr>
                </a:tc>
                <a:tc>
                  <a:txBody>
                    <a:bodyPr/>
                    <a:lstStyle/>
                    <a:p>
                      <a:pPr algn="ctr"/>
                      <a:r>
                        <a:rPr sz="1000" b="0">
                          <a:solidFill>
                            <a:srgbClr val="1A1A1A"/>
                          </a:solidFill>
                          <a:latin typeface="Arial"/>
                        </a:rPr>
                        <a:t>30</a:t>
                      </a:r>
                    </a:p>
                  </a:txBody>
                  <a:tcPr marL="73152" marR="73152" marT="18288" marB="18288" anchor="ctr">
                    <a:solidFill>
                      <a:srgbClr val="F2F5F9"/>
                    </a:solidFill>
                  </a:tcPr>
                </a:tc>
                <a:tc>
                  <a:txBody>
                    <a:bodyPr/>
                    <a:lstStyle/>
                    <a:p>
                      <a:pPr algn="ctr"/>
                      <a:r>
                        <a:rPr sz="1000" b="0">
                          <a:solidFill>
                            <a:srgbClr val="1A1A1A"/>
                          </a:solidFill>
                          <a:latin typeface="Arial"/>
                        </a:rPr>
                        <a:t>31</a:t>
                      </a:r>
                    </a:p>
                  </a:txBody>
                  <a:tcPr marL="73152" marR="73152" marT="18288" marB="18288" anchor="ctr">
                    <a:solidFill>
                      <a:srgbClr val="F2F5F9"/>
                    </a:solidFill>
                  </a:tcPr>
                </a:tc>
                <a:tc>
                  <a:txBody>
                    <a:bodyPr/>
                    <a:lstStyle/>
                    <a:p>
                      <a:pPr algn="ctr"/>
                      <a:r>
                        <a:rPr sz="1000" b="0">
                          <a:solidFill>
                            <a:srgbClr val="1A1A1A"/>
                          </a:solidFill>
                          <a:latin typeface="Arial"/>
                        </a:rPr>
                        <a:t>84</a:t>
                      </a:r>
                    </a:p>
                  </a:txBody>
                  <a:tcPr marL="73152" marR="73152" marT="18288" marB="18288" anchor="ctr">
                    <a:solidFill>
                      <a:srgbClr val="F2F5F9"/>
                    </a:solidFill>
                  </a:tcPr>
                </a:tc>
                <a:tc>
                  <a:txBody>
                    <a:bodyPr/>
                    <a:lstStyle/>
                    <a:p>
                      <a:pPr algn="ctr"/>
                      <a:r>
                        <a:rPr sz="1000" b="0">
                          <a:solidFill>
                            <a:srgbClr val="1A1A1A"/>
                          </a:solidFill>
                          <a:latin typeface="Arial"/>
                        </a:rPr>
                        <a:t>82</a:t>
                      </a:r>
                    </a:p>
                  </a:txBody>
                  <a:tcPr marL="73152" marR="73152" marT="18288" marB="18288" anchor="ctr">
                    <a:solidFill>
                      <a:srgbClr val="F2F5F9"/>
                    </a:solidFill>
                  </a:tcPr>
                </a:tc>
              </a:tr>
              <a:tr h="329184">
                <a:tc>
                  <a:txBody>
                    <a:bodyPr/>
                    <a:lstStyle/>
                    <a:p>
                      <a:pPr algn="l"/>
                      <a:r>
                        <a:rPr sz="1000" b="1">
                          <a:solidFill>
                            <a:srgbClr val="1A1A1A"/>
                          </a:solidFill>
                          <a:latin typeface="Arial"/>
                        </a:rPr>
                        <a:t>Test</a:t>
                      </a:r>
                    </a:p>
                  </a:txBody>
                  <a:tcPr marL="73152" marR="73152" marT="18288" marB="18288" anchor="ctr">
                    <a:solidFill>
                      <a:srgbClr val="FFFFFF"/>
                    </a:solidFill>
                  </a:tcPr>
                </a:tc>
                <a:tc>
                  <a:txBody>
                    <a:bodyPr/>
                    <a:lstStyle/>
                    <a:p>
                      <a:pPr algn="ctr"/>
                      <a:r>
                        <a:rPr sz="1000" b="0">
                          <a:solidFill>
                            <a:srgbClr val="1A1A1A"/>
                          </a:solidFill>
                          <a:latin typeface="Arial"/>
                        </a:rPr>
                        <a:t>23</a:t>
                      </a:r>
                    </a:p>
                  </a:txBody>
                  <a:tcPr marL="73152" marR="73152" marT="18288" marB="18288" anchor="ctr">
                    <a:solidFill>
                      <a:srgbClr val="FFFFFF"/>
                    </a:solidFill>
                  </a:tcPr>
                </a:tc>
                <a:tc>
                  <a:txBody>
                    <a:bodyPr/>
                    <a:lstStyle/>
                    <a:p>
                      <a:pPr algn="ctr"/>
                      <a:r>
                        <a:rPr sz="1000" b="0">
                          <a:solidFill>
                            <a:srgbClr val="1A1A1A"/>
                          </a:solidFill>
                          <a:latin typeface="Arial"/>
                        </a:rPr>
                        <a:t>29</a:t>
                      </a:r>
                    </a:p>
                  </a:txBody>
                  <a:tcPr marL="73152" marR="73152" marT="18288" marB="18288" anchor="ctr">
                    <a:solidFill>
                      <a:srgbClr val="FFFFFF"/>
                    </a:solidFill>
                  </a:tcPr>
                </a:tc>
                <a:tc>
                  <a:txBody>
                    <a:bodyPr/>
                    <a:lstStyle/>
                    <a:p>
                      <a:pPr algn="ctr"/>
                      <a:r>
                        <a:rPr sz="1000" b="0">
                          <a:solidFill>
                            <a:srgbClr val="1A1A1A"/>
                          </a:solidFill>
                          <a:latin typeface="Arial"/>
                        </a:rPr>
                        <a:t>31</a:t>
                      </a:r>
                    </a:p>
                  </a:txBody>
                  <a:tcPr marL="73152" marR="73152" marT="18288" marB="18288" anchor="ctr">
                    <a:solidFill>
                      <a:srgbClr val="FFFFFF"/>
                    </a:solidFill>
                  </a:tcPr>
                </a:tc>
                <a:tc>
                  <a:txBody>
                    <a:bodyPr/>
                    <a:lstStyle/>
                    <a:p>
                      <a:pPr algn="ctr"/>
                      <a:r>
                        <a:rPr sz="1000" b="0">
                          <a:solidFill>
                            <a:srgbClr val="1A1A1A"/>
                          </a:solidFill>
                          <a:latin typeface="Arial"/>
                        </a:rPr>
                        <a:t>83</a:t>
                      </a:r>
                    </a:p>
                  </a:txBody>
                  <a:tcPr marL="73152" marR="73152" marT="18288" marB="18288" anchor="ctr">
                    <a:solidFill>
                      <a:srgbClr val="FFFFFF"/>
                    </a:solidFill>
                  </a:tcPr>
                </a:tc>
                <a:tc>
                  <a:txBody>
                    <a:bodyPr/>
                    <a:lstStyle/>
                    <a:p>
                      <a:pPr algn="ctr"/>
                      <a:r>
                        <a:rPr sz="1000" b="0">
                          <a:solidFill>
                            <a:srgbClr val="1A1A1A"/>
                          </a:solidFill>
                          <a:latin typeface="Arial"/>
                        </a:rPr>
                        <a:t>83</a:t>
                      </a:r>
                    </a:p>
                  </a:txBody>
                  <a:tcPr marL="73152" marR="73152" marT="18288" marB="18288" anchor="ctr">
                    <a:solidFill>
                      <a:srgbClr val="FFFFFF"/>
                    </a:solidFill>
                  </a:tcPr>
                </a:tc>
              </a:tr>
              <a:tr h="329184">
                <a:tc>
                  <a:txBody>
                    <a:bodyPr/>
                    <a:lstStyle/>
                    <a:p>
                      <a:pPr algn="l"/>
                      <a:r>
                        <a:rPr sz="1000" b="1">
                          <a:solidFill>
                            <a:srgbClr val="1A1A1A"/>
                          </a:solidFill>
                          <a:latin typeface="Arial"/>
                        </a:rPr>
                        <a:t>Total</a:t>
                      </a:r>
                    </a:p>
                  </a:txBody>
                  <a:tcPr marL="73152" marR="73152" marT="18288" marB="18288" anchor="ctr">
                    <a:solidFill>
                      <a:srgbClr val="F2F5F9"/>
                    </a:solidFill>
                  </a:tcPr>
                </a:tc>
                <a:tc>
                  <a:txBody>
                    <a:bodyPr/>
                    <a:lstStyle/>
                    <a:p>
                      <a:pPr algn="ctr"/>
                      <a:r>
                        <a:rPr sz="1000" b="0">
                          <a:solidFill>
                            <a:srgbClr val="1A1A1A"/>
                          </a:solidFill>
                          <a:latin typeface="Arial"/>
                        </a:rPr>
                        <a:t>153</a:t>
                      </a:r>
                    </a:p>
                  </a:txBody>
                  <a:tcPr marL="73152" marR="73152" marT="18288" marB="18288" anchor="ctr">
                    <a:solidFill>
                      <a:srgbClr val="F2F5F9"/>
                    </a:solidFill>
                  </a:tcPr>
                </a:tc>
                <a:tc>
                  <a:txBody>
                    <a:bodyPr/>
                    <a:lstStyle/>
                    <a:p>
                      <a:pPr algn="ctr"/>
                      <a:r>
                        <a:rPr sz="1000" b="0">
                          <a:solidFill>
                            <a:srgbClr val="1A1A1A"/>
                          </a:solidFill>
                          <a:latin typeface="Arial"/>
                        </a:rPr>
                        <a:t>209</a:t>
                      </a:r>
                    </a:p>
                  </a:txBody>
                  <a:tcPr marL="73152" marR="73152" marT="18288" marB="18288" anchor="ctr">
                    <a:solidFill>
                      <a:srgbClr val="F2F5F9"/>
                    </a:solidFill>
                  </a:tcPr>
                </a:tc>
                <a:tc>
                  <a:txBody>
                    <a:bodyPr/>
                    <a:lstStyle/>
                    <a:p>
                      <a:pPr algn="ctr"/>
                      <a:r>
                        <a:rPr sz="1000" b="0">
                          <a:solidFill>
                            <a:srgbClr val="1A1A1A"/>
                          </a:solidFill>
                          <a:latin typeface="Arial"/>
                        </a:rPr>
                        <a:t>207</a:t>
                      </a:r>
                    </a:p>
                  </a:txBody>
                  <a:tcPr marL="73152" marR="73152" marT="18288" marB="18288" anchor="ctr">
                    <a:solidFill>
                      <a:srgbClr val="F2F5F9"/>
                    </a:solidFill>
                  </a:tcPr>
                </a:tc>
                <a:tc>
                  <a:txBody>
                    <a:bodyPr/>
                    <a:lstStyle/>
                    <a:p>
                      <a:pPr algn="ctr"/>
                      <a:r>
                        <a:rPr sz="1000" b="0">
                          <a:solidFill>
                            <a:srgbClr val="1A1A1A"/>
                          </a:solidFill>
                          <a:latin typeface="Arial"/>
                        </a:rPr>
                        <a:t>569</a:t>
                      </a:r>
                    </a:p>
                  </a:txBody>
                  <a:tcPr marL="73152" marR="73152" marT="18288" marB="18288" anchor="ctr">
                    <a:solidFill>
                      <a:srgbClr val="F2F5F9"/>
                    </a:solidFill>
                  </a:tcPr>
                </a:tc>
                <a:tc>
                  <a:txBody>
                    <a:bodyPr/>
                    <a:lstStyle/>
                    <a:p>
                      <a:pPr algn="ctr"/>
                      <a:r>
                        <a:rPr sz="1000" b="0">
                          <a:solidFill>
                            <a:srgbClr val="1A1A1A"/>
                          </a:solidFill>
                          <a:latin typeface="Arial"/>
                        </a:rPr>
                        <a:t>548</a:t>
                      </a:r>
                    </a:p>
                  </a:txBody>
                  <a:tcPr marL="73152" marR="73152" marT="18288" marB="18288" anchor="ctr">
                    <a:solidFill>
                      <a:srgbClr val="F2F5F9"/>
                    </a:solidFill>
                  </a:tcPr>
                </a:tc>
              </a:tr>
            </a:tbl>
          </a:graphicData>
        </a:graphic>
      </p:graphicFrame>
      <p:sp>
        <p:nvSpPr>
          <p:cNvPr id="17" name="TextBox 16"/>
          <p:cNvSpPr txBox="1"/>
          <p:nvPr/>
        </p:nvSpPr>
        <p:spPr>
          <a:xfrm>
            <a:off x="7040880" y="4114800"/>
            <a:ext cx="4389120" cy="2103120"/>
          </a:xfrm>
          <a:prstGeom prst="rect">
            <a:avLst/>
          </a:prstGeom>
          <a:noFill/>
        </p:spPr>
        <p:txBody>
          <a:bodyPr wrap="square" lIns="0" rIns="0" tIns="0" bIns="0" anchor="t">
            <a:spAutoFit/>
          </a:bodyPr>
          <a:lstStyle/>
          <a:p>
            <a:pPr algn="l">
              <a:spcAft>
                <a:spcPts val="400"/>
              </a:spcAft>
            </a:pPr>
            <a:r>
              <a:rPr sz="1050" b="1" i="0">
                <a:solidFill>
                  <a:srgbClr val="0E7C86"/>
                </a:solidFill>
                <a:latin typeface="Arial"/>
              </a:rPr>
              <a:t>• </a:t>
            </a:r>
            <a:r>
              <a:rPr sz="1050" b="1" i="0">
                <a:solidFill>
                  <a:srgbClr val="1A1A1A"/>
                </a:solidFill>
                <a:latin typeface="Arial"/>
              </a:rPr>
              <a:t>70 / 15 / 15 </a:t>
            </a:r>
            <a:r>
              <a:rPr sz="1050" b="0" i="0">
                <a:solidFill>
                  <a:srgbClr val="404040"/>
                </a:solidFill>
                <a:latin typeface="Arial"/>
              </a:rPr>
              <a:t>split over patient groups, stratified by class</a:t>
            </a:r>
          </a:p>
          <a:p>
            <a:pPr algn="l">
              <a:spcAft>
                <a:spcPts val="400"/>
              </a:spcAft>
            </a:pPr>
            <a:r>
              <a:rPr sz="1050" b="1" i="0">
                <a:solidFill>
                  <a:srgbClr val="0E7C86"/>
                </a:solidFill>
                <a:latin typeface="Arial"/>
              </a:rPr>
              <a:t>• </a:t>
            </a:r>
            <a:r>
              <a:rPr sz="1050" b="1" i="0">
                <a:solidFill>
                  <a:srgbClr val="1A1A1A"/>
                </a:solidFill>
                <a:latin typeface="Arial"/>
              </a:rPr>
              <a:t>No leakage: </a:t>
            </a:r>
            <a:r>
              <a:rPr sz="1050" b="0" i="0">
                <a:solidFill>
                  <a:srgbClr val="404040"/>
                </a:solidFill>
                <a:latin typeface="Arial"/>
              </a:rPr>
              <a:t>repeat scans stay together; imputer, scaler and encoder are fitted on train only</a:t>
            </a:r>
          </a:p>
          <a:p>
            <a:pPr algn="l">
              <a:spcAft>
                <a:spcPts val="400"/>
              </a:spcAft>
            </a:pPr>
            <a:r>
              <a:rPr sz="1050" b="1" i="0">
                <a:solidFill>
                  <a:srgbClr val="0E7C86"/>
                </a:solidFill>
                <a:latin typeface="Arial"/>
              </a:rPr>
              <a:t>• </a:t>
            </a:r>
            <a:r>
              <a:rPr sz="1050" b="1" i="0">
                <a:solidFill>
                  <a:srgbClr val="1A1A1A"/>
                </a:solidFill>
                <a:latin typeface="Arial"/>
              </a:rPr>
              <a:t>Augmentation </a:t>
            </a:r>
            <a:r>
              <a:rPr sz="1050" b="0" i="0">
                <a:solidFill>
                  <a:srgbClr val="404040"/>
                </a:solidFill>
                <a:latin typeface="Arial"/>
              </a:rPr>
              <a:t>only on training cases: ±10° rotation, ±5% shift (same transform for all slices)</a:t>
            </a:r>
          </a:p>
          <a:p>
            <a:pPr algn="l">
              <a:spcAft>
                <a:spcPts val="400"/>
              </a:spcAft>
            </a:pPr>
            <a:r>
              <a:rPr sz="1050" b="1" i="0">
                <a:solidFill>
                  <a:srgbClr val="0E7C86"/>
                </a:solidFill>
                <a:latin typeface="Arial"/>
              </a:rPr>
              <a:t>• </a:t>
            </a:r>
            <a:r>
              <a:rPr sz="1050" b="1" i="0">
                <a:solidFill>
                  <a:srgbClr val="1A1A1A"/>
                </a:solidFill>
                <a:latin typeface="Arial"/>
              </a:rPr>
              <a:t>Test set </a:t>
            </a:r>
            <a:r>
              <a:rPr sz="1050" b="0" i="0">
                <a:solidFill>
                  <a:srgbClr val="404040"/>
                </a:solidFill>
                <a:latin typeface="Arial"/>
              </a:rPr>
              <a:t>is touched once per final configuration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Rectangle 3"/>
          <p:cNvSpPr/>
          <p:nvPr/>
        </p:nvSpPr>
        <p:spPr>
          <a:xfrm>
            <a:off x="3749039" y="146304"/>
            <a:ext cx="160020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FFFFFF"/>
                </a:solidFill>
                <a:latin typeface="Arial"/>
              </a:rPr>
              <a:t>System Design</a:t>
            </a: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Experimental Design — Three Supervisor-Requested Comparisons</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8</a:t>
            </a:r>
          </a:p>
        </p:txBody>
      </p:sp>
      <p:sp>
        <p:nvSpPr>
          <p:cNvPr id="11" name="Rounded Rectangle 10"/>
          <p:cNvSpPr/>
          <p:nvPr/>
        </p:nvSpPr>
        <p:spPr>
          <a:xfrm>
            <a:off x="822960" y="1280160"/>
            <a:ext cx="3383280" cy="2834640"/>
          </a:xfrm>
          <a:prstGeom prst="roundRect">
            <a:avLst>
              <a:gd name="adj" fmla="val 5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 y="1280160"/>
            <a:ext cx="3383280" cy="6858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1325880"/>
            <a:ext cx="3108960" cy="320040"/>
          </a:xfrm>
          <a:prstGeom prst="rect">
            <a:avLst/>
          </a:prstGeom>
          <a:noFill/>
        </p:spPr>
        <p:txBody>
          <a:bodyPr wrap="square" lIns="0" rIns="0" tIns="0" bIns="0" anchor="t">
            <a:spAutoFit/>
          </a:bodyPr>
          <a:lstStyle/>
          <a:p>
            <a:pPr algn="l"/>
            <a:r>
              <a:rPr sz="1250" b="1" i="0">
                <a:solidFill>
                  <a:srgbClr val="FFFFFF"/>
                </a:solidFill>
                <a:latin typeface="Arial"/>
              </a:rPr>
              <a:t>E1 · Pre-trained Baseline &amp; Modality</a:t>
            </a:r>
          </a:p>
        </p:txBody>
      </p:sp>
      <p:sp>
        <p:nvSpPr>
          <p:cNvPr id="14" name="TextBox 13"/>
          <p:cNvSpPr txBox="1"/>
          <p:nvPr/>
        </p:nvSpPr>
        <p:spPr>
          <a:xfrm>
            <a:off x="960120" y="1645920"/>
            <a:ext cx="3108960" cy="274320"/>
          </a:xfrm>
          <a:prstGeom prst="rect">
            <a:avLst/>
          </a:prstGeom>
          <a:noFill/>
        </p:spPr>
        <p:txBody>
          <a:bodyPr wrap="square" lIns="0" rIns="0" tIns="0" bIns="0" anchor="t">
            <a:spAutoFit/>
          </a:bodyPr>
          <a:lstStyle/>
          <a:p>
            <a:pPr algn="l"/>
            <a:r>
              <a:rPr sz="1000" b="0" i="1">
                <a:solidFill>
                  <a:srgbClr val="FFFFFF"/>
                </a:solidFill>
                <a:latin typeface="Arial"/>
              </a:rPr>
              <a:t>Does adding clinical data help?</a:t>
            </a:r>
          </a:p>
        </p:txBody>
      </p:sp>
      <p:sp>
        <p:nvSpPr>
          <p:cNvPr id="15" name="TextBox 14"/>
          <p:cNvSpPr txBox="1"/>
          <p:nvPr/>
        </p:nvSpPr>
        <p:spPr>
          <a:xfrm>
            <a:off x="960120" y="2103120"/>
            <a:ext cx="3108960" cy="1554480"/>
          </a:xfrm>
          <a:prstGeom prst="rect">
            <a:avLst/>
          </a:prstGeom>
          <a:noFill/>
        </p:spPr>
        <p:txBody>
          <a:bodyPr wrap="square" lIns="0" rIns="0" tIns="0" bIns="0" anchor="t">
            <a:spAutoFit/>
          </a:bodyPr>
          <a:lstStyle/>
          <a:p>
            <a:pPr algn="l">
              <a:spcAft>
                <a:spcPts val="600"/>
              </a:spcAft>
            </a:pPr>
            <a:r>
              <a:rPr sz="1050" b="1" i="0">
                <a:solidFill>
                  <a:srgbClr val="0E7C86"/>
                </a:solidFill>
                <a:latin typeface="Arial"/>
              </a:rPr>
              <a:t>• </a:t>
            </a:r>
            <a:r>
              <a:rPr sz="1050" b="0" i="0">
                <a:solidFill>
                  <a:srgbClr val="404040"/>
                </a:solidFill>
                <a:latin typeface="Arial"/>
              </a:rPr>
              <a:t>CT-only ResNet-18 (ImageNet) — baseline</a:t>
            </a:r>
          </a:p>
          <a:p>
            <a:pPr algn="l">
              <a:spcAft>
                <a:spcPts val="600"/>
              </a:spcAft>
            </a:pPr>
            <a:r>
              <a:rPr sz="1050" b="1" i="0">
                <a:solidFill>
                  <a:srgbClr val="0E7C86"/>
                </a:solidFill>
                <a:latin typeface="Arial"/>
              </a:rPr>
              <a:t>• </a:t>
            </a:r>
            <a:r>
              <a:rPr sz="1050" b="0" i="0">
                <a:solidFill>
                  <a:srgbClr val="404040"/>
                </a:solidFill>
                <a:latin typeface="Arial"/>
              </a:rPr>
              <a:t>Backbone: ResNet-18 vs ResNet-50</a:t>
            </a:r>
          </a:p>
          <a:p>
            <a:pPr algn="l">
              <a:spcAft>
                <a:spcPts val="600"/>
              </a:spcAft>
            </a:pPr>
            <a:r>
              <a:rPr sz="1050" b="1" i="0">
                <a:solidFill>
                  <a:srgbClr val="0E7C86"/>
                </a:solidFill>
                <a:latin typeface="Arial"/>
              </a:rPr>
              <a:t>• </a:t>
            </a:r>
            <a:r>
              <a:rPr sz="1050" b="0" i="0">
                <a:solidFill>
                  <a:srgbClr val="404040"/>
                </a:solidFill>
                <a:latin typeface="Arial"/>
              </a:rPr>
              <a:t>Modality ablation: CT-only vs clinical-only vs fusion</a:t>
            </a:r>
          </a:p>
          <a:p>
            <a:pPr algn="l">
              <a:spcAft>
                <a:spcPts val="600"/>
              </a:spcAft>
            </a:pPr>
            <a:r>
              <a:rPr sz="1050" b="1" i="0">
                <a:solidFill>
                  <a:srgbClr val="0E7C86"/>
                </a:solidFill>
                <a:latin typeface="Arial"/>
              </a:rPr>
              <a:t>• </a:t>
            </a:r>
            <a:r>
              <a:rPr sz="1050" b="0" i="0">
                <a:solidFill>
                  <a:srgbClr val="404040"/>
                </a:solidFill>
                <a:latin typeface="Arial"/>
              </a:rPr>
              <a:t>Clinical with / without G &amp; GM markers</a:t>
            </a:r>
          </a:p>
        </p:txBody>
      </p:sp>
      <p:sp>
        <p:nvSpPr>
          <p:cNvPr id="16" name="TextBox 15"/>
          <p:cNvSpPr txBox="1"/>
          <p:nvPr/>
        </p:nvSpPr>
        <p:spPr>
          <a:xfrm>
            <a:off x="960120" y="3611880"/>
            <a:ext cx="3108960" cy="457200"/>
          </a:xfrm>
          <a:prstGeom prst="rect">
            <a:avLst/>
          </a:prstGeom>
          <a:noFill/>
        </p:spPr>
        <p:txBody>
          <a:bodyPr wrap="square" lIns="0" rIns="0" tIns="0" bIns="0" anchor="t">
            <a:spAutoFit/>
          </a:bodyPr>
          <a:lstStyle/>
          <a:p>
            <a:pPr algn="l"/>
            <a:r>
              <a:rPr sz="1000" b="1" i="0">
                <a:solidFill>
                  <a:srgbClr val="203864"/>
                </a:solidFill>
                <a:latin typeface="Arial"/>
              </a:rPr>
              <a:t>Output: </a:t>
            </a:r>
            <a:r>
              <a:rPr sz="1000" b="0" i="0">
                <a:solidFill>
                  <a:srgbClr val="404040"/>
                </a:solidFill>
                <a:latin typeface="Arial"/>
              </a:rPr>
              <a:t>comparison table + confusion matrices</a:t>
            </a:r>
          </a:p>
        </p:txBody>
      </p:sp>
      <p:sp>
        <p:nvSpPr>
          <p:cNvPr id="17" name="Rounded Rectangle 16"/>
          <p:cNvSpPr/>
          <p:nvPr/>
        </p:nvSpPr>
        <p:spPr>
          <a:xfrm>
            <a:off x="4389120" y="1280160"/>
            <a:ext cx="3383280" cy="2834640"/>
          </a:xfrm>
          <a:prstGeom prst="roundRect">
            <a:avLst>
              <a:gd name="adj" fmla="val 5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89120" y="1280160"/>
            <a:ext cx="3383280" cy="6858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1325880"/>
            <a:ext cx="3108960" cy="320040"/>
          </a:xfrm>
          <a:prstGeom prst="rect">
            <a:avLst/>
          </a:prstGeom>
          <a:noFill/>
        </p:spPr>
        <p:txBody>
          <a:bodyPr wrap="square" lIns="0" rIns="0" tIns="0" bIns="0" anchor="t">
            <a:spAutoFit/>
          </a:bodyPr>
          <a:lstStyle/>
          <a:p>
            <a:pPr algn="l"/>
            <a:r>
              <a:rPr sz="1250" b="1" i="0">
                <a:solidFill>
                  <a:srgbClr val="FFFFFF"/>
                </a:solidFill>
                <a:latin typeface="Arial"/>
              </a:rPr>
              <a:t>E2 · Training-Set Size</a:t>
            </a:r>
          </a:p>
        </p:txBody>
      </p:sp>
      <p:sp>
        <p:nvSpPr>
          <p:cNvPr id="20" name="TextBox 19"/>
          <p:cNvSpPr txBox="1"/>
          <p:nvPr/>
        </p:nvSpPr>
        <p:spPr>
          <a:xfrm>
            <a:off x="4526280" y="1645920"/>
            <a:ext cx="3108960" cy="274320"/>
          </a:xfrm>
          <a:prstGeom prst="rect">
            <a:avLst/>
          </a:prstGeom>
          <a:noFill/>
        </p:spPr>
        <p:txBody>
          <a:bodyPr wrap="square" lIns="0" rIns="0" tIns="0" bIns="0" anchor="t">
            <a:spAutoFit/>
          </a:bodyPr>
          <a:lstStyle/>
          <a:p>
            <a:pPr algn="l"/>
            <a:r>
              <a:rPr sz="1000" b="0" i="1">
                <a:solidFill>
                  <a:srgbClr val="FFFFFF"/>
                </a:solidFill>
                <a:latin typeface="Arial"/>
              </a:rPr>
              <a:t>How much data do we need?</a:t>
            </a:r>
          </a:p>
        </p:txBody>
      </p:sp>
      <p:sp>
        <p:nvSpPr>
          <p:cNvPr id="21" name="TextBox 20"/>
          <p:cNvSpPr txBox="1"/>
          <p:nvPr/>
        </p:nvSpPr>
        <p:spPr>
          <a:xfrm>
            <a:off x="4526280" y="2103120"/>
            <a:ext cx="3108960" cy="1554480"/>
          </a:xfrm>
          <a:prstGeom prst="rect">
            <a:avLst/>
          </a:prstGeom>
          <a:noFill/>
        </p:spPr>
        <p:txBody>
          <a:bodyPr wrap="square" lIns="0" rIns="0" tIns="0" bIns="0" anchor="t">
            <a:spAutoFit/>
          </a:bodyPr>
          <a:lstStyle/>
          <a:p>
            <a:pPr algn="l">
              <a:spcAft>
                <a:spcPts val="600"/>
              </a:spcAft>
            </a:pPr>
            <a:r>
              <a:rPr sz="1050" b="1" i="0">
                <a:solidFill>
                  <a:srgbClr val="0E7C86"/>
                </a:solidFill>
                <a:latin typeface="Arial"/>
              </a:rPr>
              <a:t>• </a:t>
            </a:r>
            <a:r>
              <a:rPr sz="1050" b="0" i="0">
                <a:solidFill>
                  <a:srgbClr val="404040"/>
                </a:solidFill>
                <a:latin typeface="Arial"/>
              </a:rPr>
              <a:t>25 / 50 / 75 / 100% of training groups (nested, stratified)</a:t>
            </a:r>
          </a:p>
          <a:p>
            <a:pPr algn="l">
              <a:spcAft>
                <a:spcPts val="600"/>
              </a:spcAft>
            </a:pPr>
            <a:r>
              <a:rPr sz="1050" b="1" i="0">
                <a:solidFill>
                  <a:srgbClr val="0E7C86"/>
                </a:solidFill>
                <a:latin typeface="Arial"/>
              </a:rPr>
              <a:t>• </a:t>
            </a:r>
            <a:r>
              <a:rPr sz="1050" b="0" i="0">
                <a:solidFill>
                  <a:srgbClr val="404040"/>
                </a:solidFill>
                <a:latin typeface="Arial"/>
              </a:rPr>
              <a:t>≈ 96 / 192 / 287 / 383 groups</a:t>
            </a:r>
          </a:p>
          <a:p>
            <a:pPr algn="l">
              <a:spcAft>
                <a:spcPts val="600"/>
              </a:spcAft>
            </a:pPr>
            <a:r>
              <a:rPr sz="1050" b="1" i="0">
                <a:solidFill>
                  <a:srgbClr val="0E7C86"/>
                </a:solidFill>
                <a:latin typeface="Arial"/>
              </a:rPr>
              <a:t>• </a:t>
            </a:r>
            <a:r>
              <a:rPr sz="1050" b="0" i="0">
                <a:solidFill>
                  <a:srgbClr val="404040"/>
                </a:solidFill>
                <a:latin typeface="Arial"/>
              </a:rPr>
              <a:t>Validation and test sets fixed</a:t>
            </a:r>
          </a:p>
          <a:p>
            <a:pPr algn="l">
              <a:spcAft>
                <a:spcPts val="600"/>
              </a:spcAft>
            </a:pPr>
            <a:r>
              <a:rPr sz="1050" b="1" i="0">
                <a:solidFill>
                  <a:srgbClr val="0E7C86"/>
                </a:solidFill>
                <a:latin typeface="Arial"/>
              </a:rPr>
              <a:t>• </a:t>
            </a:r>
            <a:r>
              <a:rPr sz="1050" b="0" i="0">
                <a:solidFill>
                  <a:srgbClr val="404040"/>
                </a:solidFill>
                <a:latin typeface="Arial"/>
              </a:rPr>
              <a:t>Learning curve: still improving at 100%?</a:t>
            </a:r>
          </a:p>
        </p:txBody>
      </p:sp>
      <p:sp>
        <p:nvSpPr>
          <p:cNvPr id="22" name="TextBox 21"/>
          <p:cNvSpPr txBox="1"/>
          <p:nvPr/>
        </p:nvSpPr>
        <p:spPr>
          <a:xfrm>
            <a:off x="4526280" y="3611880"/>
            <a:ext cx="3108960" cy="457200"/>
          </a:xfrm>
          <a:prstGeom prst="rect">
            <a:avLst/>
          </a:prstGeom>
          <a:noFill/>
        </p:spPr>
        <p:txBody>
          <a:bodyPr wrap="square" lIns="0" rIns="0" tIns="0" bIns="0" anchor="t">
            <a:spAutoFit/>
          </a:bodyPr>
          <a:lstStyle/>
          <a:p>
            <a:pPr algn="l"/>
            <a:r>
              <a:rPr sz="1000" b="1" i="0">
                <a:solidFill>
                  <a:srgbClr val="0E7C86"/>
                </a:solidFill>
                <a:latin typeface="Arial"/>
              </a:rPr>
              <a:t>Output: </a:t>
            </a:r>
            <a:r>
              <a:rPr sz="1000" b="0" i="0">
                <a:solidFill>
                  <a:srgbClr val="404040"/>
                </a:solidFill>
                <a:latin typeface="Arial"/>
              </a:rPr>
              <a:t>learning curve, macro-F1 vs #groups</a:t>
            </a:r>
          </a:p>
        </p:txBody>
      </p:sp>
      <p:sp>
        <p:nvSpPr>
          <p:cNvPr id="23" name="Rounded Rectangle 22"/>
          <p:cNvSpPr/>
          <p:nvPr/>
        </p:nvSpPr>
        <p:spPr>
          <a:xfrm>
            <a:off x="7955279" y="1280160"/>
            <a:ext cx="3383280" cy="2834640"/>
          </a:xfrm>
          <a:prstGeom prst="roundRect">
            <a:avLst>
              <a:gd name="adj" fmla="val 5000"/>
            </a:avLst>
          </a:prstGeom>
          <a:solidFill>
            <a:srgbClr val="FFFFFF"/>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55279" y="1280160"/>
            <a:ext cx="3383280" cy="685800"/>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92440" y="1325880"/>
            <a:ext cx="3108960" cy="320040"/>
          </a:xfrm>
          <a:prstGeom prst="rect">
            <a:avLst/>
          </a:prstGeom>
          <a:noFill/>
        </p:spPr>
        <p:txBody>
          <a:bodyPr wrap="square" lIns="0" rIns="0" tIns="0" bIns="0" anchor="t">
            <a:spAutoFit/>
          </a:bodyPr>
          <a:lstStyle/>
          <a:p>
            <a:pPr algn="l"/>
            <a:r>
              <a:rPr sz="1250" b="1" i="0">
                <a:solidFill>
                  <a:srgbClr val="FFFFFF"/>
                </a:solidFill>
                <a:latin typeface="Arial"/>
              </a:rPr>
              <a:t>E3 · Data Augmentation</a:t>
            </a:r>
          </a:p>
        </p:txBody>
      </p:sp>
      <p:sp>
        <p:nvSpPr>
          <p:cNvPr id="26" name="TextBox 25"/>
          <p:cNvSpPr txBox="1"/>
          <p:nvPr/>
        </p:nvSpPr>
        <p:spPr>
          <a:xfrm>
            <a:off x="8092440" y="1645920"/>
            <a:ext cx="3108960" cy="274320"/>
          </a:xfrm>
          <a:prstGeom prst="rect">
            <a:avLst/>
          </a:prstGeom>
          <a:noFill/>
        </p:spPr>
        <p:txBody>
          <a:bodyPr wrap="square" lIns="0" rIns="0" tIns="0" bIns="0" anchor="t">
            <a:spAutoFit/>
          </a:bodyPr>
          <a:lstStyle/>
          <a:p>
            <a:pPr algn="l"/>
            <a:r>
              <a:rPr sz="1000" b="0" i="1">
                <a:solidFill>
                  <a:srgbClr val="FFFFFF"/>
                </a:solidFill>
                <a:latin typeface="Arial"/>
              </a:rPr>
              <a:t>Which augmentation is clinically reasonable?</a:t>
            </a:r>
          </a:p>
        </p:txBody>
      </p:sp>
      <p:sp>
        <p:nvSpPr>
          <p:cNvPr id="27" name="TextBox 26"/>
          <p:cNvSpPr txBox="1"/>
          <p:nvPr/>
        </p:nvSpPr>
        <p:spPr>
          <a:xfrm>
            <a:off x="8092440" y="2103120"/>
            <a:ext cx="3108960" cy="1554480"/>
          </a:xfrm>
          <a:prstGeom prst="rect">
            <a:avLst/>
          </a:prstGeom>
          <a:noFill/>
        </p:spPr>
        <p:txBody>
          <a:bodyPr wrap="square" lIns="0" rIns="0" tIns="0" bIns="0" anchor="t">
            <a:spAutoFit/>
          </a:bodyPr>
          <a:lstStyle/>
          <a:p>
            <a:pPr algn="l">
              <a:spcAft>
                <a:spcPts val="600"/>
              </a:spcAft>
            </a:pPr>
            <a:r>
              <a:rPr sz="1050" b="1" i="0">
                <a:solidFill>
                  <a:srgbClr val="0E7C86"/>
                </a:solidFill>
                <a:latin typeface="Arial"/>
              </a:rPr>
              <a:t>• </a:t>
            </a:r>
            <a:r>
              <a:rPr sz="1050" b="0" i="0">
                <a:solidFill>
                  <a:srgbClr val="404040"/>
                </a:solidFill>
                <a:latin typeface="Arial"/>
              </a:rPr>
              <a:t>None</a:t>
            </a:r>
          </a:p>
          <a:p>
            <a:pPr algn="l">
              <a:spcAft>
                <a:spcPts val="600"/>
              </a:spcAft>
            </a:pPr>
            <a:r>
              <a:rPr sz="1050" b="1" i="0">
                <a:solidFill>
                  <a:srgbClr val="0E7C86"/>
                </a:solidFill>
                <a:latin typeface="Arial"/>
              </a:rPr>
              <a:t>• </a:t>
            </a:r>
            <a:r>
              <a:rPr sz="1050" b="0" i="0">
                <a:solidFill>
                  <a:srgbClr val="404040"/>
                </a:solidFill>
                <a:latin typeface="Arial"/>
              </a:rPr>
              <a:t>Basic: small rotation + translation</a:t>
            </a:r>
          </a:p>
          <a:p>
            <a:pPr algn="l">
              <a:spcAft>
                <a:spcPts val="600"/>
              </a:spcAft>
            </a:pPr>
            <a:r>
              <a:rPr sz="1050" b="1" i="0">
                <a:solidFill>
                  <a:srgbClr val="0E7C86"/>
                </a:solidFill>
                <a:latin typeface="Arial"/>
              </a:rPr>
              <a:t>• </a:t>
            </a:r>
            <a:r>
              <a:rPr sz="1050" b="0" i="0">
                <a:solidFill>
                  <a:srgbClr val="404040"/>
                </a:solidFill>
                <a:latin typeface="Arial"/>
              </a:rPr>
              <a:t>Extended: basic + mild intensity shift + noise</a:t>
            </a:r>
          </a:p>
          <a:p>
            <a:pPr algn="l">
              <a:spcAft>
                <a:spcPts val="600"/>
              </a:spcAft>
            </a:pPr>
            <a:r>
              <a:rPr sz="1050" b="1" i="0">
                <a:solidFill>
                  <a:srgbClr val="0E7C86"/>
                </a:solidFill>
                <a:latin typeface="Arial"/>
              </a:rPr>
              <a:t>• </a:t>
            </a:r>
            <a:r>
              <a:rPr sz="1050" b="0" i="0">
                <a:solidFill>
                  <a:srgbClr val="404040"/>
                </a:solidFill>
                <a:latin typeface="Arial"/>
              </a:rPr>
              <a:t>Parameters fixed on validation before test</a:t>
            </a:r>
          </a:p>
        </p:txBody>
      </p:sp>
      <p:sp>
        <p:nvSpPr>
          <p:cNvPr id="28" name="TextBox 27"/>
          <p:cNvSpPr txBox="1"/>
          <p:nvPr/>
        </p:nvSpPr>
        <p:spPr>
          <a:xfrm>
            <a:off x="8092440" y="3611880"/>
            <a:ext cx="3108960" cy="457200"/>
          </a:xfrm>
          <a:prstGeom prst="rect">
            <a:avLst/>
          </a:prstGeom>
          <a:noFill/>
        </p:spPr>
        <p:txBody>
          <a:bodyPr wrap="square" lIns="0" rIns="0" tIns="0" bIns="0" anchor="t">
            <a:spAutoFit/>
          </a:bodyPr>
          <a:lstStyle/>
          <a:p>
            <a:pPr algn="l"/>
            <a:r>
              <a:rPr sz="1000" b="1" i="0">
                <a:solidFill>
                  <a:srgbClr val="B05A00"/>
                </a:solidFill>
                <a:latin typeface="Arial"/>
              </a:rPr>
              <a:t>Output: </a:t>
            </a:r>
            <a:r>
              <a:rPr sz="1000" b="0" i="0">
                <a:solidFill>
                  <a:srgbClr val="404040"/>
                </a:solidFill>
                <a:latin typeface="Arial"/>
              </a:rPr>
              <a:t>ablation table, per-class recall</a:t>
            </a:r>
          </a:p>
        </p:txBody>
      </p:sp>
      <p:sp>
        <p:nvSpPr>
          <p:cNvPr id="29" name="Rectangle 28"/>
          <p:cNvSpPr/>
          <p:nvPr/>
        </p:nvSpPr>
        <p:spPr>
          <a:xfrm>
            <a:off x="822960" y="4389120"/>
            <a:ext cx="201168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389120"/>
            <a:ext cx="2011680" cy="256032"/>
          </a:xfrm>
          <a:prstGeom prst="rect">
            <a:avLst/>
          </a:prstGeom>
          <a:noFill/>
        </p:spPr>
        <p:txBody>
          <a:bodyPr wrap="square" lIns="0" rIns="0" tIns="0" bIns="0" anchor="ctr">
            <a:spAutoFit/>
          </a:bodyPr>
          <a:lstStyle/>
          <a:p>
            <a:pPr algn="ctr"/>
            <a:r>
              <a:rPr sz="1000" b="1" i="0">
                <a:solidFill>
                  <a:srgbClr val="FFFFFF"/>
                </a:solidFill>
                <a:latin typeface="Arial"/>
              </a:rPr>
              <a:t>EVALUATION PROTOCOL</a:t>
            </a:r>
          </a:p>
        </p:txBody>
      </p:sp>
      <p:sp>
        <p:nvSpPr>
          <p:cNvPr id="31" name="TextBox 30"/>
          <p:cNvSpPr txBox="1"/>
          <p:nvPr/>
        </p:nvSpPr>
        <p:spPr>
          <a:xfrm>
            <a:off x="822960" y="4754880"/>
            <a:ext cx="6035040" cy="1371600"/>
          </a:xfrm>
          <a:prstGeom prst="rect">
            <a:avLst/>
          </a:prstGeom>
          <a:noFill/>
        </p:spPr>
        <p:txBody>
          <a:bodyPr wrap="square" lIns="0" rIns="0" tIns="0" bIns="0" anchor="t">
            <a:spAutoFit/>
          </a:bodyPr>
          <a:lstStyle/>
          <a:p>
            <a:pPr algn="l">
              <a:spcAft>
                <a:spcPts val="400"/>
              </a:spcAft>
            </a:pPr>
            <a:r>
              <a:rPr sz="1050" b="1" i="0">
                <a:solidFill>
                  <a:srgbClr val="0E7C86"/>
                </a:solidFill>
                <a:latin typeface="Arial"/>
              </a:rPr>
              <a:t>• </a:t>
            </a:r>
            <a:r>
              <a:rPr sz="1050" b="1" i="0">
                <a:solidFill>
                  <a:srgbClr val="1A1A1A"/>
                </a:solidFill>
                <a:latin typeface="Arial"/>
              </a:rPr>
              <a:t>Primary metric: </a:t>
            </a:r>
            <a:r>
              <a:rPr sz="1050" b="0" i="0">
                <a:solidFill>
                  <a:srgbClr val="404040"/>
                </a:solidFill>
                <a:latin typeface="Arial"/>
              </a:rPr>
              <a:t>macro-F1 (three classes weighted equally)</a:t>
            </a:r>
          </a:p>
          <a:p>
            <a:pPr algn="l">
              <a:spcAft>
                <a:spcPts val="400"/>
              </a:spcAft>
            </a:pPr>
            <a:r>
              <a:rPr sz="1050" b="1" i="0">
                <a:solidFill>
                  <a:srgbClr val="0E7C86"/>
                </a:solidFill>
                <a:latin typeface="Arial"/>
              </a:rPr>
              <a:t>• </a:t>
            </a:r>
            <a:r>
              <a:rPr sz="1050" b="1" i="0">
                <a:solidFill>
                  <a:srgbClr val="1A1A1A"/>
                </a:solidFill>
                <a:latin typeface="Arial"/>
              </a:rPr>
              <a:t>Also: </a:t>
            </a:r>
            <a:r>
              <a:rPr sz="1050" b="0" i="0">
                <a:solidFill>
                  <a:srgbClr val="404040"/>
                </a:solidFill>
                <a:latin typeface="Arial"/>
              </a:rPr>
              <a:t>balanced accuracy, per-class recall, confusion matrix, training / inference time, #parameters</a:t>
            </a:r>
          </a:p>
          <a:p>
            <a:pPr algn="l">
              <a:spcAft>
                <a:spcPts val="400"/>
              </a:spcAft>
            </a:pPr>
            <a:r>
              <a:rPr sz="1050" b="1" i="0">
                <a:solidFill>
                  <a:srgbClr val="0E7C86"/>
                </a:solidFill>
                <a:latin typeface="Arial"/>
              </a:rPr>
              <a:t>• </a:t>
            </a:r>
            <a:r>
              <a:rPr sz="1050" b="1" i="0">
                <a:solidFill>
                  <a:srgbClr val="1A1A1A"/>
                </a:solidFill>
                <a:latin typeface="Arial"/>
              </a:rPr>
              <a:t>Small test set (83 scans): </a:t>
            </a:r>
            <a:r>
              <a:rPr sz="1050" b="0" i="0">
                <a:solidFill>
                  <a:srgbClr val="404040"/>
                </a:solidFill>
                <a:latin typeface="Arial"/>
              </a:rPr>
              <a:t>each configuration × 3 seeds, report mean ± SD; 5-fold group CV where cheap</a:t>
            </a:r>
          </a:p>
        </p:txBody>
      </p:sp>
      <p:sp>
        <p:nvSpPr>
          <p:cNvPr id="32" name="Rounded Rectangle 31"/>
          <p:cNvSpPr/>
          <p:nvPr/>
        </p:nvSpPr>
        <p:spPr>
          <a:xfrm>
            <a:off x="7086600" y="4389120"/>
            <a:ext cx="4297680" cy="1188720"/>
          </a:xfrm>
          <a:prstGeom prst="roundRect">
            <a:avLst>
              <a:gd name="adj" fmla="val 6000"/>
            </a:avLst>
          </a:prstGeom>
          <a:solidFill>
            <a:srgbClr val="F6F8FB"/>
          </a:solidFill>
          <a:ln w="1270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23760" y="4480560"/>
            <a:ext cx="4023360" cy="1051560"/>
          </a:xfrm>
          <a:prstGeom prst="rect">
            <a:avLst/>
          </a:prstGeom>
          <a:noFill/>
        </p:spPr>
        <p:txBody>
          <a:bodyPr wrap="square" lIns="0" rIns="0" tIns="0" bIns="0" anchor="t">
            <a:spAutoFit/>
          </a:bodyPr>
          <a:lstStyle/>
          <a:p>
            <a:pPr algn="l"/>
            <a:r>
              <a:rPr sz="1000" b="1" i="0">
                <a:solidFill>
                  <a:srgbClr val="203864"/>
                </a:solidFill>
                <a:latin typeface="Arial"/>
              </a:rPr>
              <a:t>One factor at a time. </a:t>
            </a:r>
            <a:r>
              <a:rPr sz="1000" b="0" i="0">
                <a:solidFill>
                  <a:srgbClr val="404040"/>
                </a:solidFill>
                <a:latin typeface="Arial"/>
              </a:rPr>
              <a:t>Default = full training set, basic augmentation, ResNet-18. Each experiment changes only its own factor, so differences can be attributed. Augmented images are never counted as extra patients.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TextBox 3"/>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5" name="Rectangle 4"/>
          <p:cNvSpPr/>
          <p:nvPr/>
        </p:nvSpPr>
        <p:spPr>
          <a:xfrm>
            <a:off x="5532120" y="146304"/>
            <a:ext cx="1874519"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FFFFFF"/>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What We Have Done So Far</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9</a:t>
            </a:r>
          </a:p>
        </p:txBody>
      </p:sp>
      <p:sp>
        <p:nvSpPr>
          <p:cNvPr id="11" name="Rectangle 10"/>
          <p:cNvSpPr/>
          <p:nvPr/>
        </p:nvSpPr>
        <p:spPr>
          <a:xfrm>
            <a:off x="822960" y="1261872"/>
            <a:ext cx="10561320" cy="438912"/>
          </a:xfrm>
          <a:prstGeom prst="rect">
            <a:avLst/>
          </a:prstGeom>
          <a:solidFill>
            <a:srgbClr val="E8F4EB"/>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261872"/>
            <a:ext cx="1371600" cy="438912"/>
          </a:xfrm>
          <a:prstGeom prst="rect">
            <a:avLst/>
          </a:prstGeom>
          <a:noFill/>
        </p:spPr>
        <p:txBody>
          <a:bodyPr wrap="square" lIns="0" rIns="0" tIns="0" bIns="0" anchor="ctr">
            <a:spAutoFit/>
          </a:bodyPr>
          <a:lstStyle/>
          <a:p>
            <a:pPr algn="l"/>
            <a:r>
              <a:rPr sz="1000" b="1" i="0">
                <a:solidFill>
                  <a:srgbClr val="2E7D32"/>
                </a:solidFill>
                <a:latin typeface="Arial"/>
              </a:rPr>
              <a:t>✓ DONE</a:t>
            </a:r>
          </a:p>
        </p:txBody>
      </p:sp>
      <p:sp>
        <p:nvSpPr>
          <p:cNvPr id="13" name="TextBox 12"/>
          <p:cNvSpPr txBox="1"/>
          <p:nvPr/>
        </p:nvSpPr>
        <p:spPr>
          <a:xfrm>
            <a:off x="2423160" y="1261872"/>
            <a:ext cx="3291840" cy="438912"/>
          </a:xfrm>
          <a:prstGeom prst="rect">
            <a:avLst/>
          </a:prstGeom>
          <a:noFill/>
        </p:spPr>
        <p:txBody>
          <a:bodyPr wrap="square" lIns="0" rIns="0" tIns="0" bIns="0" anchor="ctr">
            <a:spAutoFit/>
          </a:bodyPr>
          <a:lstStyle/>
          <a:p>
            <a:pPr algn="l"/>
            <a:r>
              <a:rPr sz="1150" b="1" i="0">
                <a:solidFill>
                  <a:srgbClr val="1A1A1A"/>
                </a:solidFill>
                <a:latin typeface="Arial"/>
              </a:rPr>
              <a:t>Dataset acquired &amp; verified</a:t>
            </a:r>
          </a:p>
        </p:txBody>
      </p:sp>
      <p:sp>
        <p:nvSpPr>
          <p:cNvPr id="14" name="TextBox 13"/>
          <p:cNvSpPr txBox="1"/>
          <p:nvPr/>
        </p:nvSpPr>
        <p:spPr>
          <a:xfrm>
            <a:off x="5760720" y="1261872"/>
            <a:ext cx="5486400" cy="438912"/>
          </a:xfrm>
          <a:prstGeom prst="rect">
            <a:avLst/>
          </a:prstGeom>
          <a:noFill/>
        </p:spPr>
        <p:txBody>
          <a:bodyPr wrap="square" lIns="0" rIns="0" tIns="0" bIns="0" anchor="ctr">
            <a:spAutoFit/>
          </a:bodyPr>
          <a:lstStyle/>
          <a:p>
            <a:pPr algn="l"/>
            <a:r>
              <a:rPr sz="1050" b="0" i="0">
                <a:solidFill>
                  <a:srgbClr val="404040"/>
                </a:solidFill>
                <a:latin typeface="Arial"/>
              </a:rPr>
              <a:t>4 files (13 GB); 569 CT ↔ 569 clinical rows, labels consistent</a:t>
            </a:r>
          </a:p>
        </p:txBody>
      </p:sp>
      <p:sp>
        <p:nvSpPr>
          <p:cNvPr id="15" name="Rectangle 14"/>
          <p:cNvSpPr/>
          <p:nvPr/>
        </p:nvSpPr>
        <p:spPr>
          <a:xfrm>
            <a:off x="822960" y="1769364"/>
            <a:ext cx="10561320" cy="438912"/>
          </a:xfrm>
          <a:prstGeom prst="rect">
            <a:avLst/>
          </a:prstGeom>
          <a:solidFill>
            <a:srgbClr val="E8F4EB"/>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1769364"/>
            <a:ext cx="1371600" cy="438912"/>
          </a:xfrm>
          <a:prstGeom prst="rect">
            <a:avLst/>
          </a:prstGeom>
          <a:noFill/>
        </p:spPr>
        <p:txBody>
          <a:bodyPr wrap="square" lIns="0" rIns="0" tIns="0" bIns="0" anchor="ctr">
            <a:spAutoFit/>
          </a:bodyPr>
          <a:lstStyle/>
          <a:p>
            <a:pPr algn="l"/>
            <a:r>
              <a:rPr sz="1000" b="1" i="0">
                <a:solidFill>
                  <a:srgbClr val="2E7D32"/>
                </a:solidFill>
                <a:latin typeface="Arial"/>
              </a:rPr>
              <a:t>✓ DONE</a:t>
            </a:r>
          </a:p>
        </p:txBody>
      </p:sp>
      <p:sp>
        <p:nvSpPr>
          <p:cNvPr id="17" name="TextBox 16"/>
          <p:cNvSpPr txBox="1"/>
          <p:nvPr/>
        </p:nvSpPr>
        <p:spPr>
          <a:xfrm>
            <a:off x="2423160" y="1769364"/>
            <a:ext cx="3291840" cy="438912"/>
          </a:xfrm>
          <a:prstGeom prst="rect">
            <a:avLst/>
          </a:prstGeom>
          <a:noFill/>
        </p:spPr>
        <p:txBody>
          <a:bodyPr wrap="square" lIns="0" rIns="0" tIns="0" bIns="0" anchor="ctr">
            <a:spAutoFit/>
          </a:bodyPr>
          <a:lstStyle/>
          <a:p>
            <a:pPr algn="l"/>
            <a:r>
              <a:rPr sz="1150" b="1" i="0">
                <a:solidFill>
                  <a:srgbClr val="1A1A1A"/>
                </a:solidFill>
                <a:latin typeface="Arial"/>
              </a:rPr>
              <a:t>Clinical EDA &amp; cleaning</a:t>
            </a:r>
          </a:p>
        </p:txBody>
      </p:sp>
      <p:sp>
        <p:nvSpPr>
          <p:cNvPr id="18" name="TextBox 17"/>
          <p:cNvSpPr txBox="1"/>
          <p:nvPr/>
        </p:nvSpPr>
        <p:spPr>
          <a:xfrm>
            <a:off x="5760720" y="1769364"/>
            <a:ext cx="5486400" cy="438912"/>
          </a:xfrm>
          <a:prstGeom prst="rect">
            <a:avLst/>
          </a:prstGeom>
          <a:noFill/>
        </p:spPr>
        <p:txBody>
          <a:bodyPr wrap="square" lIns="0" rIns="0" tIns="0" bIns="0" anchor="ctr">
            <a:spAutoFit/>
          </a:bodyPr>
          <a:lstStyle/>
          <a:p>
            <a:pPr algn="l"/>
            <a:r>
              <a:rPr sz="1050" b="0" i="0">
                <a:solidFill>
                  <a:srgbClr val="404040"/>
                </a:solidFill>
                <a:latin typeface="Arial"/>
              </a:rPr>
              <a:t>missing values, coding errors, constant column, 21 repeated records</a:t>
            </a:r>
          </a:p>
        </p:txBody>
      </p:sp>
      <p:sp>
        <p:nvSpPr>
          <p:cNvPr id="19" name="Rectangle 18"/>
          <p:cNvSpPr/>
          <p:nvPr/>
        </p:nvSpPr>
        <p:spPr>
          <a:xfrm>
            <a:off x="822960" y="2276856"/>
            <a:ext cx="10561320" cy="438912"/>
          </a:xfrm>
          <a:prstGeom prst="rect">
            <a:avLst/>
          </a:prstGeom>
          <a:solidFill>
            <a:srgbClr val="E8F4EB"/>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2276856"/>
            <a:ext cx="1371600" cy="438912"/>
          </a:xfrm>
          <a:prstGeom prst="rect">
            <a:avLst/>
          </a:prstGeom>
          <a:noFill/>
        </p:spPr>
        <p:txBody>
          <a:bodyPr wrap="square" lIns="0" rIns="0" tIns="0" bIns="0" anchor="ctr">
            <a:spAutoFit/>
          </a:bodyPr>
          <a:lstStyle/>
          <a:p>
            <a:pPr algn="l"/>
            <a:r>
              <a:rPr sz="1000" b="1" i="0">
                <a:solidFill>
                  <a:srgbClr val="2E7D32"/>
                </a:solidFill>
                <a:latin typeface="Arial"/>
              </a:rPr>
              <a:t>✓ DONE</a:t>
            </a:r>
          </a:p>
        </p:txBody>
      </p:sp>
      <p:sp>
        <p:nvSpPr>
          <p:cNvPr id="21" name="TextBox 20"/>
          <p:cNvSpPr txBox="1"/>
          <p:nvPr/>
        </p:nvSpPr>
        <p:spPr>
          <a:xfrm>
            <a:off x="2423160" y="2276856"/>
            <a:ext cx="3291840" cy="438912"/>
          </a:xfrm>
          <a:prstGeom prst="rect">
            <a:avLst/>
          </a:prstGeom>
          <a:noFill/>
        </p:spPr>
        <p:txBody>
          <a:bodyPr wrap="square" lIns="0" rIns="0" tIns="0" bIns="0" anchor="ctr">
            <a:spAutoFit/>
          </a:bodyPr>
          <a:lstStyle/>
          <a:p>
            <a:pPr algn="l"/>
            <a:r>
              <a:rPr sz="1150" b="1" i="0">
                <a:solidFill>
                  <a:srgbClr val="1A1A1A"/>
                </a:solidFill>
                <a:latin typeface="Arial"/>
              </a:rPr>
              <a:t>Leak-free split</a:t>
            </a:r>
          </a:p>
        </p:txBody>
      </p:sp>
      <p:sp>
        <p:nvSpPr>
          <p:cNvPr id="22" name="TextBox 21"/>
          <p:cNvSpPr txBox="1"/>
          <p:nvPr/>
        </p:nvSpPr>
        <p:spPr>
          <a:xfrm>
            <a:off x="5760720" y="2276856"/>
            <a:ext cx="5486400" cy="438912"/>
          </a:xfrm>
          <a:prstGeom prst="rect">
            <a:avLst/>
          </a:prstGeom>
          <a:noFill/>
        </p:spPr>
        <p:txBody>
          <a:bodyPr wrap="square" lIns="0" rIns="0" tIns="0" bIns="0" anchor="ctr">
            <a:spAutoFit/>
          </a:bodyPr>
          <a:lstStyle/>
          <a:p>
            <a:pPr algn="l"/>
            <a:r>
              <a:rPr sz="1050" b="0" i="0">
                <a:solidFill>
                  <a:srgbClr val="404040"/>
                </a:solidFill>
                <a:latin typeface="Arial"/>
              </a:rPr>
              <a:t>548 patient groups, stratified 70/15/15, fixed seed</a:t>
            </a:r>
          </a:p>
        </p:txBody>
      </p:sp>
      <p:sp>
        <p:nvSpPr>
          <p:cNvPr id="23" name="Rectangle 22"/>
          <p:cNvSpPr/>
          <p:nvPr/>
        </p:nvSpPr>
        <p:spPr>
          <a:xfrm>
            <a:off x="822960" y="2784348"/>
            <a:ext cx="10561320" cy="438912"/>
          </a:xfrm>
          <a:prstGeom prst="rect">
            <a:avLst/>
          </a:prstGeom>
          <a:solidFill>
            <a:srgbClr val="E8F4EB"/>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2784348"/>
            <a:ext cx="1371600" cy="438912"/>
          </a:xfrm>
          <a:prstGeom prst="rect">
            <a:avLst/>
          </a:prstGeom>
          <a:noFill/>
        </p:spPr>
        <p:txBody>
          <a:bodyPr wrap="square" lIns="0" rIns="0" tIns="0" bIns="0" anchor="ctr">
            <a:spAutoFit/>
          </a:bodyPr>
          <a:lstStyle/>
          <a:p>
            <a:pPr algn="l"/>
            <a:r>
              <a:rPr sz="1000" b="1" i="0">
                <a:solidFill>
                  <a:srgbClr val="2E7D32"/>
                </a:solidFill>
                <a:latin typeface="Arial"/>
              </a:rPr>
              <a:t>✓ DONE</a:t>
            </a:r>
          </a:p>
        </p:txBody>
      </p:sp>
      <p:sp>
        <p:nvSpPr>
          <p:cNvPr id="25" name="TextBox 24"/>
          <p:cNvSpPr txBox="1"/>
          <p:nvPr/>
        </p:nvSpPr>
        <p:spPr>
          <a:xfrm>
            <a:off x="2423160" y="2784348"/>
            <a:ext cx="3291840" cy="438912"/>
          </a:xfrm>
          <a:prstGeom prst="rect">
            <a:avLst/>
          </a:prstGeom>
          <a:noFill/>
        </p:spPr>
        <p:txBody>
          <a:bodyPr wrap="square" lIns="0" rIns="0" tIns="0" bIns="0" anchor="ctr">
            <a:spAutoFit/>
          </a:bodyPr>
          <a:lstStyle/>
          <a:p>
            <a:pPr algn="l"/>
            <a:r>
              <a:rPr sz="1150" b="1" i="0">
                <a:solidFill>
                  <a:srgbClr val="1A1A1A"/>
                </a:solidFill>
                <a:latin typeface="Arial"/>
              </a:rPr>
              <a:t>CT preprocessing pipeline</a:t>
            </a:r>
          </a:p>
        </p:txBody>
      </p:sp>
      <p:sp>
        <p:nvSpPr>
          <p:cNvPr id="26" name="TextBox 25"/>
          <p:cNvSpPr txBox="1"/>
          <p:nvPr/>
        </p:nvSpPr>
        <p:spPr>
          <a:xfrm>
            <a:off x="5760720" y="2784348"/>
            <a:ext cx="5486400" cy="438912"/>
          </a:xfrm>
          <a:prstGeom prst="rect">
            <a:avLst/>
          </a:prstGeom>
          <a:noFill/>
        </p:spPr>
        <p:txBody>
          <a:bodyPr wrap="square" lIns="0" rIns="0" tIns="0" bIns="0" anchor="ctr">
            <a:spAutoFit/>
          </a:bodyPr>
          <a:lstStyle/>
          <a:p>
            <a:pPr algn="l"/>
            <a:r>
              <a:rPr sz="1050" b="0" i="0">
                <a:solidFill>
                  <a:srgbClr val="404040"/>
                </a:solidFill>
                <a:latin typeface="Arial"/>
              </a:rPr>
              <a:t>RAS reorientation, lung window, lung mask &amp; crop, 16×2.5D slices, cached</a:t>
            </a:r>
          </a:p>
        </p:txBody>
      </p:sp>
      <p:sp>
        <p:nvSpPr>
          <p:cNvPr id="27" name="Rectangle 26"/>
          <p:cNvSpPr/>
          <p:nvPr/>
        </p:nvSpPr>
        <p:spPr>
          <a:xfrm>
            <a:off x="822960" y="3291840"/>
            <a:ext cx="10561320" cy="438912"/>
          </a:xfrm>
          <a:prstGeom prst="rect">
            <a:avLst/>
          </a:prstGeom>
          <a:solidFill>
            <a:srgbClr val="E8F4EB"/>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3291840"/>
            <a:ext cx="1371600" cy="438912"/>
          </a:xfrm>
          <a:prstGeom prst="rect">
            <a:avLst/>
          </a:prstGeom>
          <a:noFill/>
        </p:spPr>
        <p:txBody>
          <a:bodyPr wrap="square" lIns="0" rIns="0" tIns="0" bIns="0" anchor="ctr">
            <a:spAutoFit/>
          </a:bodyPr>
          <a:lstStyle/>
          <a:p>
            <a:pPr algn="l"/>
            <a:r>
              <a:rPr sz="1000" b="1" i="0">
                <a:solidFill>
                  <a:srgbClr val="2E7D32"/>
                </a:solidFill>
                <a:latin typeface="Arial"/>
              </a:rPr>
              <a:t>✓ DONE</a:t>
            </a:r>
          </a:p>
        </p:txBody>
      </p:sp>
      <p:sp>
        <p:nvSpPr>
          <p:cNvPr id="29" name="TextBox 28"/>
          <p:cNvSpPr txBox="1"/>
          <p:nvPr/>
        </p:nvSpPr>
        <p:spPr>
          <a:xfrm>
            <a:off x="2423160" y="3291840"/>
            <a:ext cx="3291840" cy="438912"/>
          </a:xfrm>
          <a:prstGeom prst="rect">
            <a:avLst/>
          </a:prstGeom>
          <a:noFill/>
        </p:spPr>
        <p:txBody>
          <a:bodyPr wrap="square" lIns="0" rIns="0" tIns="0" bIns="0" anchor="ctr">
            <a:spAutoFit/>
          </a:bodyPr>
          <a:lstStyle/>
          <a:p>
            <a:pPr algn="l"/>
            <a:r>
              <a:rPr sz="1150" b="1" i="0">
                <a:solidFill>
                  <a:srgbClr val="1A1A1A"/>
                </a:solidFill>
                <a:latin typeface="Arial"/>
              </a:rPr>
              <a:t>Clinical-only baselines</a:t>
            </a:r>
          </a:p>
        </p:txBody>
      </p:sp>
      <p:sp>
        <p:nvSpPr>
          <p:cNvPr id="30" name="TextBox 29"/>
          <p:cNvSpPr txBox="1"/>
          <p:nvPr/>
        </p:nvSpPr>
        <p:spPr>
          <a:xfrm>
            <a:off x="5760720" y="3291840"/>
            <a:ext cx="5486400" cy="438912"/>
          </a:xfrm>
          <a:prstGeom prst="rect">
            <a:avLst/>
          </a:prstGeom>
          <a:noFill/>
        </p:spPr>
        <p:txBody>
          <a:bodyPr wrap="square" lIns="0" rIns="0" tIns="0" bIns="0" anchor="ctr">
            <a:spAutoFit/>
          </a:bodyPr>
          <a:lstStyle/>
          <a:p>
            <a:pPr algn="l"/>
            <a:r>
              <a:rPr sz="1050" b="0" i="0">
                <a:solidFill>
                  <a:srgbClr val="404040"/>
                </a:solidFill>
                <a:latin typeface="Arial"/>
              </a:rPr>
              <a:t>LR / RF / LightGBM, with and without G &amp; GM markers</a:t>
            </a:r>
          </a:p>
        </p:txBody>
      </p:sp>
      <p:sp>
        <p:nvSpPr>
          <p:cNvPr id="31" name="Rectangle 30"/>
          <p:cNvSpPr/>
          <p:nvPr/>
        </p:nvSpPr>
        <p:spPr>
          <a:xfrm>
            <a:off x="822960" y="3799332"/>
            <a:ext cx="10561320" cy="438912"/>
          </a:xfrm>
          <a:prstGeom prst="rect">
            <a:avLst/>
          </a:prstGeom>
          <a:solidFill>
            <a:srgbClr val="E8F4EB"/>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120" y="3799332"/>
            <a:ext cx="1371600" cy="438912"/>
          </a:xfrm>
          <a:prstGeom prst="rect">
            <a:avLst/>
          </a:prstGeom>
          <a:noFill/>
        </p:spPr>
        <p:txBody>
          <a:bodyPr wrap="square" lIns="0" rIns="0" tIns="0" bIns="0" anchor="ctr">
            <a:spAutoFit/>
          </a:bodyPr>
          <a:lstStyle/>
          <a:p>
            <a:pPr algn="l"/>
            <a:r>
              <a:rPr sz="1000" b="1" i="0">
                <a:solidFill>
                  <a:srgbClr val="2E7D32"/>
                </a:solidFill>
                <a:latin typeface="Arial"/>
              </a:rPr>
              <a:t>✓ DONE</a:t>
            </a:r>
          </a:p>
        </p:txBody>
      </p:sp>
      <p:sp>
        <p:nvSpPr>
          <p:cNvPr id="33" name="TextBox 32"/>
          <p:cNvSpPr txBox="1"/>
          <p:nvPr/>
        </p:nvSpPr>
        <p:spPr>
          <a:xfrm>
            <a:off x="2423160" y="3799332"/>
            <a:ext cx="3291840" cy="438912"/>
          </a:xfrm>
          <a:prstGeom prst="rect">
            <a:avLst/>
          </a:prstGeom>
          <a:noFill/>
        </p:spPr>
        <p:txBody>
          <a:bodyPr wrap="square" lIns="0" rIns="0" tIns="0" bIns="0" anchor="ctr">
            <a:spAutoFit/>
          </a:bodyPr>
          <a:lstStyle/>
          <a:p>
            <a:pPr algn="l"/>
            <a:r>
              <a:rPr sz="1150" b="1" i="0">
                <a:solidFill>
                  <a:srgbClr val="1A1A1A"/>
                </a:solidFill>
                <a:latin typeface="Arial"/>
              </a:rPr>
              <a:t>CT-only ResNet-18 baseline</a:t>
            </a:r>
          </a:p>
        </p:txBody>
      </p:sp>
      <p:sp>
        <p:nvSpPr>
          <p:cNvPr id="34" name="TextBox 33"/>
          <p:cNvSpPr txBox="1"/>
          <p:nvPr/>
        </p:nvSpPr>
        <p:spPr>
          <a:xfrm>
            <a:off x="5760720" y="3799332"/>
            <a:ext cx="5486400" cy="438912"/>
          </a:xfrm>
          <a:prstGeom prst="rect">
            <a:avLst/>
          </a:prstGeom>
          <a:noFill/>
        </p:spPr>
        <p:txBody>
          <a:bodyPr wrap="square" lIns="0" rIns="0" tIns="0" bIns="0" anchor="ctr">
            <a:spAutoFit/>
          </a:bodyPr>
          <a:lstStyle/>
          <a:p>
            <a:pPr algn="l"/>
            <a:r>
              <a:rPr sz="1050" b="0" i="0">
                <a:solidFill>
                  <a:srgbClr val="404040"/>
                </a:solidFill>
                <a:latin typeface="Arial"/>
              </a:rPr>
              <a:t>end-to-end training on GPU</a:t>
            </a:r>
          </a:p>
        </p:txBody>
      </p:sp>
      <p:sp>
        <p:nvSpPr>
          <p:cNvPr id="35" name="Rectangle 34"/>
          <p:cNvSpPr/>
          <p:nvPr/>
        </p:nvSpPr>
        <p:spPr>
          <a:xfrm>
            <a:off x="822960" y="4306824"/>
            <a:ext cx="10561320" cy="438912"/>
          </a:xfrm>
          <a:prstGeom prst="rect">
            <a:avLst/>
          </a:prstGeom>
          <a:solidFill>
            <a:srgbClr val="E8F4EB"/>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4306824"/>
            <a:ext cx="1371600" cy="438912"/>
          </a:xfrm>
          <a:prstGeom prst="rect">
            <a:avLst/>
          </a:prstGeom>
          <a:noFill/>
        </p:spPr>
        <p:txBody>
          <a:bodyPr wrap="square" lIns="0" rIns="0" tIns="0" bIns="0" anchor="ctr">
            <a:spAutoFit/>
          </a:bodyPr>
          <a:lstStyle/>
          <a:p>
            <a:pPr algn="l"/>
            <a:r>
              <a:rPr sz="1000" b="1" i="0">
                <a:solidFill>
                  <a:srgbClr val="2E7D32"/>
                </a:solidFill>
                <a:latin typeface="Arial"/>
              </a:rPr>
              <a:t>✓ DONE</a:t>
            </a:r>
          </a:p>
        </p:txBody>
      </p:sp>
      <p:sp>
        <p:nvSpPr>
          <p:cNvPr id="37" name="TextBox 36"/>
          <p:cNvSpPr txBox="1"/>
          <p:nvPr/>
        </p:nvSpPr>
        <p:spPr>
          <a:xfrm>
            <a:off x="2423160" y="4306824"/>
            <a:ext cx="3291840" cy="438912"/>
          </a:xfrm>
          <a:prstGeom prst="rect">
            <a:avLst/>
          </a:prstGeom>
          <a:noFill/>
        </p:spPr>
        <p:txBody>
          <a:bodyPr wrap="square" lIns="0" rIns="0" tIns="0" bIns="0" anchor="ctr">
            <a:spAutoFit/>
          </a:bodyPr>
          <a:lstStyle/>
          <a:p>
            <a:pPr algn="l"/>
            <a:r>
              <a:rPr sz="1150" b="1" i="0">
                <a:solidFill>
                  <a:srgbClr val="1A1A1A"/>
                </a:solidFill>
                <a:latin typeface="Arial"/>
              </a:rPr>
              <a:t>First CT + clinical fusion model</a:t>
            </a:r>
          </a:p>
        </p:txBody>
      </p:sp>
      <p:sp>
        <p:nvSpPr>
          <p:cNvPr id="38" name="TextBox 37"/>
          <p:cNvSpPr txBox="1"/>
          <p:nvPr/>
        </p:nvSpPr>
        <p:spPr>
          <a:xfrm>
            <a:off x="5760720" y="4306824"/>
            <a:ext cx="5486400" cy="438912"/>
          </a:xfrm>
          <a:prstGeom prst="rect">
            <a:avLst/>
          </a:prstGeom>
          <a:noFill/>
        </p:spPr>
        <p:txBody>
          <a:bodyPr wrap="square" lIns="0" rIns="0" tIns="0" bIns="0" anchor="ctr">
            <a:spAutoFit/>
          </a:bodyPr>
          <a:lstStyle/>
          <a:p>
            <a:pPr algn="l"/>
            <a:r>
              <a:rPr sz="1050" b="0" i="0">
                <a:solidFill>
                  <a:srgbClr val="404040"/>
                </a:solidFill>
                <a:latin typeface="Arial"/>
              </a:rPr>
              <a:t>same split, same head</a:t>
            </a:r>
          </a:p>
        </p:txBody>
      </p:sp>
      <p:sp>
        <p:nvSpPr>
          <p:cNvPr id="39" name="Rectangle 38"/>
          <p:cNvSpPr/>
          <p:nvPr/>
        </p:nvSpPr>
        <p:spPr>
          <a:xfrm>
            <a:off x="822960" y="4814316"/>
            <a:ext cx="10561320" cy="438912"/>
          </a:xfrm>
          <a:prstGeom prst="rect">
            <a:avLst/>
          </a:prstGeom>
          <a:solidFill>
            <a:srgbClr val="E8F4EB"/>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4814316"/>
            <a:ext cx="1371600" cy="438912"/>
          </a:xfrm>
          <a:prstGeom prst="rect">
            <a:avLst/>
          </a:prstGeom>
          <a:noFill/>
        </p:spPr>
        <p:txBody>
          <a:bodyPr wrap="square" lIns="0" rIns="0" tIns="0" bIns="0" anchor="ctr">
            <a:spAutoFit/>
          </a:bodyPr>
          <a:lstStyle/>
          <a:p>
            <a:pPr algn="l"/>
            <a:r>
              <a:rPr sz="1000" b="1" i="0">
                <a:solidFill>
                  <a:srgbClr val="2E7D32"/>
                </a:solidFill>
                <a:latin typeface="Arial"/>
              </a:rPr>
              <a:t>✓ DONE</a:t>
            </a:r>
          </a:p>
        </p:txBody>
      </p:sp>
      <p:sp>
        <p:nvSpPr>
          <p:cNvPr id="41" name="TextBox 40"/>
          <p:cNvSpPr txBox="1"/>
          <p:nvPr/>
        </p:nvSpPr>
        <p:spPr>
          <a:xfrm>
            <a:off x="2423160" y="4814316"/>
            <a:ext cx="3291840" cy="438912"/>
          </a:xfrm>
          <a:prstGeom prst="rect">
            <a:avLst/>
          </a:prstGeom>
          <a:noFill/>
        </p:spPr>
        <p:txBody>
          <a:bodyPr wrap="square" lIns="0" rIns="0" tIns="0" bIns="0" anchor="ctr">
            <a:spAutoFit/>
          </a:bodyPr>
          <a:lstStyle/>
          <a:p>
            <a:pPr algn="l"/>
            <a:r>
              <a:rPr sz="1150" b="1" i="0">
                <a:solidFill>
                  <a:srgbClr val="1A1A1A"/>
                </a:solidFill>
                <a:latin typeface="Arial"/>
              </a:rPr>
              <a:t>First Grad-CAM saliency maps</a:t>
            </a:r>
          </a:p>
        </p:txBody>
      </p:sp>
      <p:sp>
        <p:nvSpPr>
          <p:cNvPr id="42" name="TextBox 41"/>
          <p:cNvSpPr txBox="1"/>
          <p:nvPr/>
        </p:nvSpPr>
        <p:spPr>
          <a:xfrm>
            <a:off x="5760720" y="4814316"/>
            <a:ext cx="5486400" cy="438912"/>
          </a:xfrm>
          <a:prstGeom prst="rect">
            <a:avLst/>
          </a:prstGeom>
          <a:noFill/>
        </p:spPr>
        <p:txBody>
          <a:bodyPr wrap="square" lIns="0" rIns="0" tIns="0" bIns="0" anchor="ctr">
            <a:spAutoFit/>
          </a:bodyPr>
          <a:lstStyle/>
          <a:p>
            <a:pPr algn="l"/>
            <a:r>
              <a:rPr sz="1050" b="0" i="0">
                <a:solidFill>
                  <a:srgbClr val="404040"/>
                </a:solidFill>
                <a:latin typeface="Arial"/>
              </a:rPr>
              <a:t>layer-4 Grad-CAM on the fusion model, inspected on test cases</a:t>
            </a:r>
          </a:p>
        </p:txBody>
      </p:sp>
      <p:sp>
        <p:nvSpPr>
          <p:cNvPr id="43" name="Rectangle 42"/>
          <p:cNvSpPr/>
          <p:nvPr/>
        </p:nvSpPr>
        <p:spPr>
          <a:xfrm>
            <a:off x="822960" y="5321808"/>
            <a:ext cx="10561320" cy="438912"/>
          </a:xfrm>
          <a:prstGeom prst="rect">
            <a:avLst/>
          </a:prstGeom>
          <a:solidFill>
            <a:srgbClr val="FFFFFF"/>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0120" y="5321808"/>
            <a:ext cx="1371600" cy="438912"/>
          </a:xfrm>
          <a:prstGeom prst="rect">
            <a:avLst/>
          </a:prstGeom>
          <a:noFill/>
        </p:spPr>
        <p:txBody>
          <a:bodyPr wrap="square" lIns="0" rIns="0" tIns="0" bIns="0" anchor="ctr">
            <a:spAutoFit/>
          </a:bodyPr>
          <a:lstStyle/>
          <a:p>
            <a:pPr algn="l"/>
            <a:r>
              <a:rPr sz="1000" b="1" i="0">
                <a:solidFill>
                  <a:srgbClr val="757575"/>
                </a:solidFill>
                <a:latin typeface="Arial"/>
              </a:rPr>
              <a:t>○ NEXT</a:t>
            </a:r>
          </a:p>
        </p:txBody>
      </p:sp>
      <p:sp>
        <p:nvSpPr>
          <p:cNvPr id="45" name="TextBox 44"/>
          <p:cNvSpPr txBox="1"/>
          <p:nvPr/>
        </p:nvSpPr>
        <p:spPr>
          <a:xfrm>
            <a:off x="2423160" y="5321808"/>
            <a:ext cx="3291840" cy="438912"/>
          </a:xfrm>
          <a:prstGeom prst="rect">
            <a:avLst/>
          </a:prstGeom>
          <a:noFill/>
        </p:spPr>
        <p:txBody>
          <a:bodyPr wrap="square" lIns="0" rIns="0" tIns="0" bIns="0" anchor="ctr">
            <a:spAutoFit/>
          </a:bodyPr>
          <a:lstStyle/>
          <a:p>
            <a:pPr algn="l"/>
            <a:r>
              <a:rPr sz="1150" b="1" i="0">
                <a:solidFill>
                  <a:srgbClr val="1A1A1A"/>
                </a:solidFill>
                <a:latin typeface="Arial"/>
              </a:rPr>
              <a:t>E1–E3 experiment matrix + severity proxy</a:t>
            </a:r>
          </a:p>
        </p:txBody>
      </p:sp>
      <p:sp>
        <p:nvSpPr>
          <p:cNvPr id="46" name="TextBox 45"/>
          <p:cNvSpPr txBox="1"/>
          <p:nvPr/>
        </p:nvSpPr>
        <p:spPr>
          <a:xfrm>
            <a:off x="5760720" y="5321808"/>
            <a:ext cx="5486400" cy="438912"/>
          </a:xfrm>
          <a:prstGeom prst="rect">
            <a:avLst/>
          </a:prstGeom>
          <a:noFill/>
        </p:spPr>
        <p:txBody>
          <a:bodyPr wrap="square" lIns="0" rIns="0" tIns="0" bIns="0" anchor="ctr">
            <a:spAutoFit/>
          </a:bodyPr>
          <a:lstStyle/>
          <a:p>
            <a:pPr algn="l"/>
            <a:r>
              <a:rPr sz="1050" b="0" i="0">
                <a:solidFill>
                  <a:srgbClr val="404040"/>
                </a:solidFill>
                <a:latin typeface="Arial"/>
              </a:rPr>
              <a:t>backbones, training size, augmentation × 3 seeds</a:t>
            </a:r>
          </a:p>
        </p:txBody>
      </p:sp>
      <p:sp>
        <p:nvSpPr>
          <p:cNvPr id="47" name="Rectangle 46"/>
          <p:cNvSpPr/>
          <p:nvPr/>
        </p:nvSpPr>
        <p:spPr>
          <a:xfrm>
            <a:off x="822960" y="5829300"/>
            <a:ext cx="10561320" cy="438912"/>
          </a:xfrm>
          <a:prstGeom prst="rect">
            <a:avLst/>
          </a:prstGeom>
          <a:solidFill>
            <a:srgbClr val="FFFFFF"/>
          </a:solidFill>
          <a:ln w="6350">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0120" y="5829300"/>
            <a:ext cx="1371600" cy="438912"/>
          </a:xfrm>
          <a:prstGeom prst="rect">
            <a:avLst/>
          </a:prstGeom>
          <a:noFill/>
        </p:spPr>
        <p:txBody>
          <a:bodyPr wrap="square" lIns="0" rIns="0" tIns="0" bIns="0" anchor="ctr">
            <a:spAutoFit/>
          </a:bodyPr>
          <a:lstStyle/>
          <a:p>
            <a:pPr algn="l"/>
            <a:r>
              <a:rPr sz="1000" b="1" i="0">
                <a:solidFill>
                  <a:srgbClr val="757575"/>
                </a:solidFill>
                <a:latin typeface="Arial"/>
              </a:rPr>
              <a:t>○ NEXT</a:t>
            </a:r>
          </a:p>
        </p:txBody>
      </p:sp>
      <p:sp>
        <p:nvSpPr>
          <p:cNvPr id="49" name="TextBox 48"/>
          <p:cNvSpPr txBox="1"/>
          <p:nvPr/>
        </p:nvSpPr>
        <p:spPr>
          <a:xfrm>
            <a:off x="2423160" y="5829300"/>
            <a:ext cx="3291840" cy="438912"/>
          </a:xfrm>
          <a:prstGeom prst="rect">
            <a:avLst/>
          </a:prstGeom>
          <a:noFill/>
        </p:spPr>
        <p:txBody>
          <a:bodyPr wrap="square" lIns="0" rIns="0" tIns="0" bIns="0" anchor="ctr">
            <a:spAutoFit/>
          </a:bodyPr>
          <a:lstStyle/>
          <a:p>
            <a:pPr algn="l"/>
            <a:r>
              <a:rPr sz="1150" b="1" i="0">
                <a:solidFill>
                  <a:srgbClr val="1A1A1A"/>
                </a:solidFill>
                <a:latin typeface="Arial"/>
              </a:rPr>
              <a:t>Prototype UI</a:t>
            </a:r>
          </a:p>
        </p:txBody>
      </p:sp>
      <p:sp>
        <p:nvSpPr>
          <p:cNvPr id="50" name="TextBox 49"/>
          <p:cNvSpPr txBox="1"/>
          <p:nvPr/>
        </p:nvSpPr>
        <p:spPr>
          <a:xfrm>
            <a:off x="5760720" y="5829300"/>
            <a:ext cx="5486400" cy="438912"/>
          </a:xfrm>
          <a:prstGeom prst="rect">
            <a:avLst/>
          </a:prstGeom>
          <a:noFill/>
        </p:spPr>
        <p:txBody>
          <a:bodyPr wrap="square" lIns="0" rIns="0" tIns="0" bIns="0" anchor="ctr">
            <a:spAutoFit/>
          </a:bodyPr>
          <a:lstStyle/>
          <a:p>
            <a:pPr algn="l"/>
            <a:r>
              <a:rPr sz="1050" b="0" i="0">
                <a:solidFill>
                  <a:srgbClr val="404040"/>
                </a:solidFill>
                <a:latin typeface="Arial"/>
              </a:rPr>
              <a:t>CT viewer + clinical panel + prediction panel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TextBox 3"/>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5" name="Rectangle 4"/>
          <p:cNvSpPr/>
          <p:nvPr/>
        </p:nvSpPr>
        <p:spPr>
          <a:xfrm>
            <a:off x="5532120" y="146304"/>
            <a:ext cx="1874519"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FFFFFF"/>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Preliminary Results — Baselines on the Fixed Split</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10</a:t>
            </a:r>
          </a:p>
        </p:txBody>
      </p:sp>
      <p:sp>
        <p:nvSpPr>
          <p:cNvPr id="11" name="Rectangle 10"/>
          <p:cNvSpPr/>
          <p:nvPr/>
        </p:nvSpPr>
        <p:spPr>
          <a:xfrm>
            <a:off x="822960" y="1280160"/>
            <a:ext cx="265176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2651760" cy="256032"/>
          </a:xfrm>
          <a:prstGeom prst="rect">
            <a:avLst/>
          </a:prstGeom>
          <a:noFill/>
        </p:spPr>
        <p:txBody>
          <a:bodyPr wrap="square" lIns="0" rIns="0" tIns="0" bIns="0" anchor="ctr">
            <a:spAutoFit/>
          </a:bodyPr>
          <a:lstStyle/>
          <a:p>
            <a:pPr algn="ctr"/>
            <a:r>
              <a:rPr sz="1000" b="1" i="0">
                <a:solidFill>
                  <a:srgbClr val="FFFFFF"/>
                </a:solidFill>
                <a:latin typeface="Arial"/>
              </a:rPr>
              <a:t>MACRO-F1 (CHANCE = 0.333)</a:t>
            </a:r>
          </a:p>
        </p:txBody>
      </p:sp>
      <p:graphicFrame>
        <p:nvGraphicFramePr>
          <p:cNvPr id="13" name="Table 12"/>
          <p:cNvGraphicFramePr>
            <a:graphicFrameLocks noGrp="1"/>
          </p:cNvGraphicFramePr>
          <p:nvPr/>
        </p:nvGraphicFramePr>
        <p:xfrm>
          <a:off x="822960" y="1645920"/>
          <a:ext cx="6400800" cy="2432304"/>
        </p:xfrm>
        <a:graphic>
          <a:graphicData uri="http://schemas.openxmlformats.org/drawingml/2006/table">
            <a:tbl>
              <a:tblPr firstRow="1" bandRow="1">
                <a:tableStyleId>{5C22544A-7EE6-4342-B048-85BDC9FD1C3A}</a:tableStyleId>
              </a:tblPr>
              <a:tblGrid>
                <a:gridCol w="1737360"/>
                <a:gridCol w="1371600"/>
                <a:gridCol w="1737360"/>
                <a:gridCol w="1554480"/>
              </a:tblGrid>
              <a:tr h="347472">
                <a:tc>
                  <a:txBody>
                    <a:bodyPr/>
                    <a:lstStyle/>
                    <a:p>
                      <a:pPr algn="l"/>
                      <a:r>
                        <a:rPr sz="1000" b="1">
                          <a:solidFill>
                            <a:srgbClr val="FFFFFF"/>
                          </a:solidFill>
                          <a:latin typeface="Arial"/>
                        </a:rPr>
                        <a:t>Model</a:t>
                      </a:r>
                    </a:p>
                  </a:txBody>
                  <a:tcPr marL="73152" marR="73152" marT="18288" marB="18288" anchor="ctr">
                    <a:solidFill>
                      <a:srgbClr val="203864"/>
                    </a:solidFill>
                  </a:tcPr>
                </a:tc>
                <a:tc>
                  <a:txBody>
                    <a:bodyPr/>
                    <a:lstStyle/>
                    <a:p>
                      <a:pPr algn="ctr"/>
                      <a:r>
                        <a:rPr sz="1000" b="1">
                          <a:solidFill>
                            <a:srgbClr val="FFFFFF"/>
                          </a:solidFill>
                          <a:latin typeface="Arial"/>
                        </a:rPr>
                        <a:t>Features</a:t>
                      </a:r>
                    </a:p>
                  </a:txBody>
                  <a:tcPr marL="73152" marR="73152" marT="18288" marB="18288" anchor="ctr">
                    <a:solidFill>
                      <a:srgbClr val="203864"/>
                    </a:solidFill>
                  </a:tcPr>
                </a:tc>
                <a:tc>
                  <a:txBody>
                    <a:bodyPr/>
                    <a:lstStyle/>
                    <a:p>
                      <a:pPr algn="ctr"/>
                      <a:r>
                        <a:rPr sz="1000" b="1">
                          <a:solidFill>
                            <a:srgbClr val="FFFFFF"/>
                          </a:solidFill>
                          <a:latin typeface="Arial"/>
                        </a:rPr>
                        <a:t>5-fold CV (train+val)</a:t>
                      </a:r>
                    </a:p>
                  </a:txBody>
                  <a:tcPr marL="73152" marR="73152" marT="18288" marB="18288" anchor="ctr">
                    <a:solidFill>
                      <a:srgbClr val="203864"/>
                    </a:solidFill>
                  </a:tcPr>
                </a:tc>
                <a:tc>
                  <a:txBody>
                    <a:bodyPr/>
                    <a:lstStyle/>
                    <a:p>
                      <a:pPr algn="ctr"/>
                      <a:r>
                        <a:rPr sz="1000" b="1">
                          <a:solidFill>
                            <a:srgbClr val="FFFFFF"/>
                          </a:solidFill>
                          <a:latin typeface="Arial"/>
                        </a:rPr>
                        <a:t>Test, 3 seeds</a:t>
                      </a:r>
                    </a:p>
                  </a:txBody>
                  <a:tcPr marL="73152" marR="73152" marT="18288" marB="18288" anchor="ctr">
                    <a:solidFill>
                      <a:srgbClr val="203864"/>
                    </a:solidFill>
                  </a:tcPr>
                </a:tc>
              </a:tr>
              <a:tr h="347472">
                <a:tc>
                  <a:txBody>
                    <a:bodyPr/>
                    <a:lstStyle/>
                    <a:p>
                      <a:pPr algn="l"/>
                      <a:r>
                        <a:rPr sz="1000" b="1">
                          <a:solidFill>
                            <a:srgbClr val="1A1A1A"/>
                          </a:solidFill>
                          <a:latin typeface="Arial"/>
                        </a:rPr>
                        <a:t>Logistic regression</a:t>
                      </a:r>
                    </a:p>
                  </a:txBody>
                  <a:tcPr marL="73152" marR="73152" marT="18288" marB="18288" anchor="ctr">
                    <a:solidFill>
                      <a:srgbClr val="FFFFFF"/>
                    </a:solidFill>
                  </a:tcPr>
                </a:tc>
                <a:tc>
                  <a:txBody>
                    <a:bodyPr/>
                    <a:lstStyle/>
                    <a:p>
                      <a:pPr algn="ctr"/>
                      <a:r>
                        <a:rPr sz="1000" b="0">
                          <a:solidFill>
                            <a:srgbClr val="1A1A1A"/>
                          </a:solidFill>
                          <a:latin typeface="Arial"/>
                        </a:rPr>
                        <a:t>clinical</a:t>
                      </a:r>
                    </a:p>
                  </a:txBody>
                  <a:tcPr marL="73152" marR="73152" marT="18288" marB="18288" anchor="ctr">
                    <a:solidFill>
                      <a:srgbClr val="FFFFFF"/>
                    </a:solidFill>
                  </a:tcPr>
                </a:tc>
                <a:tc>
                  <a:txBody>
                    <a:bodyPr/>
                    <a:lstStyle/>
                    <a:p>
                      <a:pPr algn="ctr"/>
                      <a:r>
                        <a:rPr sz="1000" b="0">
                          <a:solidFill>
                            <a:srgbClr val="1A1A1A"/>
                          </a:solidFill>
                          <a:latin typeface="Arial"/>
                        </a:rPr>
                        <a:t>0.495 ± 0.065</a:t>
                      </a:r>
                    </a:p>
                  </a:txBody>
                  <a:tcPr marL="73152" marR="73152" marT="18288" marB="18288" anchor="ctr">
                    <a:solidFill>
                      <a:srgbClr val="FFFFFF"/>
                    </a:solidFill>
                  </a:tcPr>
                </a:tc>
                <a:tc>
                  <a:txBody>
                    <a:bodyPr/>
                    <a:lstStyle/>
                    <a:p>
                      <a:pPr algn="ctr"/>
                      <a:r>
                        <a:rPr sz="1000" b="0">
                          <a:solidFill>
                            <a:srgbClr val="1A1A1A"/>
                          </a:solidFill>
                          <a:latin typeface="Arial"/>
                        </a:rPr>
                        <a:t>0.512 (deterministic)</a:t>
                      </a:r>
                    </a:p>
                  </a:txBody>
                  <a:tcPr marL="73152" marR="73152" marT="18288" marB="18288" anchor="ctr">
                    <a:solidFill>
                      <a:srgbClr val="FFFFFF"/>
                    </a:solidFill>
                  </a:tcPr>
                </a:tc>
              </a:tr>
              <a:tr h="347472">
                <a:tc>
                  <a:txBody>
                    <a:bodyPr/>
                    <a:lstStyle/>
                    <a:p>
                      <a:pPr algn="l"/>
                      <a:r>
                        <a:rPr sz="1000" b="1">
                          <a:solidFill>
                            <a:srgbClr val="1A1A1A"/>
                          </a:solidFill>
                          <a:latin typeface="Arial"/>
                        </a:rPr>
                        <a:t>Random forest</a:t>
                      </a:r>
                    </a:p>
                  </a:txBody>
                  <a:tcPr marL="73152" marR="73152" marT="18288" marB="18288" anchor="ctr">
                    <a:solidFill>
                      <a:srgbClr val="E8F5F4"/>
                    </a:solidFill>
                  </a:tcPr>
                </a:tc>
                <a:tc>
                  <a:txBody>
                    <a:bodyPr/>
                    <a:lstStyle/>
                    <a:p>
                      <a:pPr algn="ctr"/>
                      <a:r>
                        <a:rPr sz="1000" b="1">
                          <a:solidFill>
                            <a:srgbClr val="1A1A1A"/>
                          </a:solidFill>
                          <a:latin typeface="Arial"/>
                        </a:rPr>
                        <a:t>clinical</a:t>
                      </a:r>
                    </a:p>
                  </a:txBody>
                  <a:tcPr marL="73152" marR="73152" marT="18288" marB="18288" anchor="ctr">
                    <a:solidFill>
                      <a:srgbClr val="E8F5F4"/>
                    </a:solidFill>
                  </a:tcPr>
                </a:tc>
                <a:tc>
                  <a:txBody>
                    <a:bodyPr/>
                    <a:lstStyle/>
                    <a:p>
                      <a:pPr algn="ctr"/>
                      <a:r>
                        <a:rPr sz="1000" b="1">
                          <a:solidFill>
                            <a:srgbClr val="1A1A1A"/>
                          </a:solidFill>
                          <a:latin typeface="Arial"/>
                        </a:rPr>
                        <a:t>0.569 ± 0.035</a:t>
                      </a:r>
                    </a:p>
                  </a:txBody>
                  <a:tcPr marL="73152" marR="73152" marT="18288" marB="18288" anchor="ctr">
                    <a:solidFill>
                      <a:srgbClr val="E8F5F4"/>
                    </a:solidFill>
                  </a:tcPr>
                </a:tc>
                <a:tc>
                  <a:txBody>
                    <a:bodyPr/>
                    <a:lstStyle/>
                    <a:p>
                      <a:pPr algn="ctr"/>
                      <a:r>
                        <a:rPr sz="1000" b="1">
                          <a:solidFill>
                            <a:srgbClr val="1A1A1A"/>
                          </a:solidFill>
                          <a:latin typeface="Arial"/>
                        </a:rPr>
                        <a:t>0.539 ± 0.017</a:t>
                      </a:r>
                    </a:p>
                  </a:txBody>
                  <a:tcPr marL="73152" marR="73152" marT="18288" marB="18288" anchor="ctr">
                    <a:solidFill>
                      <a:srgbClr val="E8F5F4"/>
                    </a:solidFill>
                  </a:tcPr>
                </a:tc>
              </a:tr>
              <a:tr h="347472">
                <a:tc>
                  <a:txBody>
                    <a:bodyPr/>
                    <a:lstStyle/>
                    <a:p>
                      <a:pPr algn="l"/>
                      <a:r>
                        <a:rPr sz="1000" b="1">
                          <a:solidFill>
                            <a:srgbClr val="1A1A1A"/>
                          </a:solidFill>
                          <a:latin typeface="Arial"/>
                        </a:rPr>
                        <a:t>LightGBM</a:t>
                      </a:r>
                    </a:p>
                  </a:txBody>
                  <a:tcPr marL="73152" marR="73152" marT="18288" marB="18288" anchor="ctr">
                    <a:solidFill>
                      <a:srgbClr val="FFFFFF"/>
                    </a:solidFill>
                  </a:tcPr>
                </a:tc>
                <a:tc>
                  <a:txBody>
                    <a:bodyPr/>
                    <a:lstStyle/>
                    <a:p>
                      <a:pPr algn="ctr"/>
                      <a:r>
                        <a:rPr sz="1000" b="0">
                          <a:solidFill>
                            <a:srgbClr val="1A1A1A"/>
                          </a:solidFill>
                          <a:latin typeface="Arial"/>
                        </a:rPr>
                        <a:t>clinical</a:t>
                      </a:r>
                    </a:p>
                  </a:txBody>
                  <a:tcPr marL="73152" marR="73152" marT="18288" marB="18288" anchor="ctr">
                    <a:solidFill>
                      <a:srgbClr val="FFFFFF"/>
                    </a:solidFill>
                  </a:tcPr>
                </a:tc>
                <a:tc>
                  <a:txBody>
                    <a:bodyPr/>
                    <a:lstStyle/>
                    <a:p>
                      <a:pPr algn="ctr"/>
                      <a:r>
                        <a:rPr sz="1000" b="0">
                          <a:solidFill>
                            <a:srgbClr val="1A1A1A"/>
                          </a:solidFill>
                          <a:latin typeface="Arial"/>
                        </a:rPr>
                        <a:t>0.524 ± 0.061</a:t>
                      </a:r>
                    </a:p>
                  </a:txBody>
                  <a:tcPr marL="73152" marR="73152" marT="18288" marB="18288" anchor="ctr">
                    <a:solidFill>
                      <a:srgbClr val="FFFFFF"/>
                    </a:solidFill>
                  </a:tcPr>
                </a:tc>
                <a:tc>
                  <a:txBody>
                    <a:bodyPr/>
                    <a:lstStyle/>
                    <a:p>
                      <a:pPr algn="ctr"/>
                      <a:r>
                        <a:rPr sz="1000" b="0">
                          <a:solidFill>
                            <a:srgbClr val="1A1A1A"/>
                          </a:solidFill>
                          <a:latin typeface="Arial"/>
                        </a:rPr>
                        <a:t>0.597 (deterministic)</a:t>
                      </a:r>
                    </a:p>
                  </a:txBody>
                  <a:tcPr marL="73152" marR="73152" marT="18288" marB="18288" anchor="ctr">
                    <a:solidFill>
                      <a:srgbClr val="FFFFFF"/>
                    </a:solidFill>
                  </a:tcPr>
                </a:tc>
              </a:tr>
              <a:tr h="347472">
                <a:tc>
                  <a:txBody>
                    <a:bodyPr/>
                    <a:lstStyle/>
                    <a:p>
                      <a:pPr algn="l"/>
                      <a:r>
                        <a:rPr sz="1000" b="1">
                          <a:solidFill>
                            <a:srgbClr val="1A1A1A"/>
                          </a:solidFill>
                          <a:latin typeface="Arial"/>
                        </a:rPr>
                        <a:t>Random forest</a:t>
                      </a:r>
                    </a:p>
                  </a:txBody>
                  <a:tcPr marL="73152" marR="73152" marT="18288" marB="18288" anchor="ctr">
                    <a:solidFill>
                      <a:srgbClr val="F2F5F9"/>
                    </a:solidFill>
                  </a:tcPr>
                </a:tc>
                <a:tc>
                  <a:txBody>
                    <a:bodyPr/>
                    <a:lstStyle/>
                    <a:p>
                      <a:pPr algn="ctr"/>
                      <a:r>
                        <a:rPr sz="1000" b="0">
                          <a:solidFill>
                            <a:srgbClr val="1A1A1A"/>
                          </a:solidFill>
                          <a:latin typeface="Arial"/>
                        </a:rPr>
                        <a:t>clinical − G/GM</a:t>
                      </a:r>
                    </a:p>
                  </a:txBody>
                  <a:tcPr marL="73152" marR="73152" marT="18288" marB="18288" anchor="ctr">
                    <a:solidFill>
                      <a:srgbClr val="F2F5F9"/>
                    </a:solidFill>
                  </a:tcPr>
                </a:tc>
                <a:tc>
                  <a:txBody>
                    <a:bodyPr/>
                    <a:lstStyle/>
                    <a:p>
                      <a:pPr algn="ctr"/>
                      <a:r>
                        <a:rPr sz="1000" b="0">
                          <a:solidFill>
                            <a:srgbClr val="1A1A1A"/>
                          </a:solidFill>
                          <a:latin typeface="Arial"/>
                        </a:rPr>
                        <a:t>0.532 ± 0.062</a:t>
                      </a:r>
                    </a:p>
                  </a:txBody>
                  <a:tcPr marL="73152" marR="73152" marT="18288" marB="18288" anchor="ctr">
                    <a:solidFill>
                      <a:srgbClr val="F2F5F9"/>
                    </a:solidFill>
                  </a:tcPr>
                </a:tc>
                <a:tc>
                  <a:txBody>
                    <a:bodyPr/>
                    <a:lstStyle/>
                    <a:p>
                      <a:pPr algn="ctr"/>
                      <a:r>
                        <a:rPr sz="1000" b="0">
                          <a:solidFill>
                            <a:srgbClr val="1A1A1A"/>
                          </a:solidFill>
                          <a:latin typeface="Arial"/>
                        </a:rPr>
                        <a:t>0.561 ± 0.010</a:t>
                      </a:r>
                    </a:p>
                  </a:txBody>
                  <a:tcPr marL="73152" marR="73152" marT="18288" marB="18288" anchor="ctr">
                    <a:solidFill>
                      <a:srgbClr val="F2F5F9"/>
                    </a:solidFill>
                  </a:tcPr>
                </a:tc>
              </a:tr>
              <a:tr h="347472">
                <a:tc>
                  <a:txBody>
                    <a:bodyPr/>
                    <a:lstStyle/>
                    <a:p>
                      <a:pPr algn="l"/>
                      <a:r>
                        <a:rPr sz="1000" b="1">
                          <a:solidFill>
                            <a:srgbClr val="1A1A1A"/>
                          </a:solidFill>
                          <a:latin typeface="Arial"/>
                        </a:rPr>
                        <a:t>ResNet-18 (2.5D)</a:t>
                      </a:r>
                    </a:p>
                  </a:txBody>
                  <a:tcPr marL="73152" marR="73152" marT="18288" marB="18288" anchor="ctr">
                    <a:solidFill>
                      <a:srgbClr val="E8F5F4"/>
                    </a:solidFill>
                  </a:tcPr>
                </a:tc>
                <a:tc>
                  <a:txBody>
                    <a:bodyPr/>
                    <a:lstStyle/>
                    <a:p>
                      <a:pPr algn="ctr"/>
                      <a:r>
                        <a:rPr sz="1000" b="1">
                          <a:solidFill>
                            <a:srgbClr val="1A1A1A"/>
                          </a:solidFill>
                          <a:latin typeface="Arial"/>
                        </a:rPr>
                        <a:t>CT only</a:t>
                      </a:r>
                    </a:p>
                  </a:txBody>
                  <a:tcPr marL="73152" marR="73152" marT="18288" marB="18288" anchor="ctr">
                    <a:solidFill>
                      <a:srgbClr val="E8F5F4"/>
                    </a:solidFill>
                  </a:tcPr>
                </a:tc>
                <a:tc>
                  <a:txBody>
                    <a:bodyPr/>
                    <a:lstStyle/>
                    <a:p>
                      <a:pPr algn="ctr"/>
                      <a:r>
                        <a:rPr sz="1000" b="1">
                          <a:solidFill>
                            <a:srgbClr val="1A1A1A"/>
                          </a:solidFill>
                          <a:latin typeface="Arial"/>
                        </a:rPr>
                        <a:t>—</a:t>
                      </a:r>
                    </a:p>
                  </a:txBody>
                  <a:tcPr marL="73152" marR="73152" marT="18288" marB="18288" anchor="ctr">
                    <a:solidFill>
                      <a:srgbClr val="E8F5F4"/>
                    </a:solidFill>
                  </a:tcPr>
                </a:tc>
                <a:tc>
                  <a:txBody>
                    <a:bodyPr/>
                    <a:lstStyle/>
                    <a:p>
                      <a:pPr algn="ctr"/>
                      <a:r>
                        <a:rPr sz="1000" b="1">
                          <a:solidFill>
                            <a:srgbClr val="1A1A1A"/>
                          </a:solidFill>
                          <a:latin typeface="Arial"/>
                        </a:rPr>
                        <a:t>0.607 ± 0.022</a:t>
                      </a:r>
                    </a:p>
                  </a:txBody>
                  <a:tcPr marL="73152" marR="73152" marT="18288" marB="18288" anchor="ctr">
                    <a:solidFill>
                      <a:srgbClr val="E8F5F4"/>
                    </a:solidFill>
                  </a:tcPr>
                </a:tc>
              </a:tr>
              <a:tr h="347472">
                <a:tc>
                  <a:txBody>
                    <a:bodyPr/>
                    <a:lstStyle/>
                    <a:p>
                      <a:pPr algn="l"/>
                      <a:r>
                        <a:rPr sz="1000" b="1">
                          <a:solidFill>
                            <a:srgbClr val="1A1A1A"/>
                          </a:solidFill>
                          <a:latin typeface="Arial"/>
                        </a:rPr>
                        <a:t>ResNet-18 (2.5D)</a:t>
                      </a:r>
                    </a:p>
                  </a:txBody>
                  <a:tcPr marL="73152" marR="73152" marT="18288" marB="18288" anchor="ctr">
                    <a:solidFill>
                      <a:srgbClr val="F2F5F9"/>
                    </a:solidFill>
                  </a:tcPr>
                </a:tc>
                <a:tc>
                  <a:txBody>
                    <a:bodyPr/>
                    <a:lstStyle/>
                    <a:p>
                      <a:pPr algn="ctr"/>
                      <a:r>
                        <a:rPr sz="1000" b="0">
                          <a:solidFill>
                            <a:srgbClr val="1A1A1A"/>
                          </a:solidFill>
                          <a:latin typeface="Arial"/>
                        </a:rPr>
                        <a:t>CT + clinical</a:t>
                      </a:r>
                    </a:p>
                  </a:txBody>
                  <a:tcPr marL="73152" marR="73152" marT="18288" marB="18288" anchor="ctr">
                    <a:solidFill>
                      <a:srgbClr val="F2F5F9"/>
                    </a:solidFill>
                  </a:tcPr>
                </a:tc>
                <a:tc>
                  <a:txBody>
                    <a:bodyPr/>
                    <a:lstStyle/>
                    <a:p>
                      <a:pPr algn="ctr"/>
                      <a:r>
                        <a:rPr sz="1000" b="0">
                          <a:solidFill>
                            <a:srgbClr val="1A1A1A"/>
                          </a:solidFill>
                          <a:latin typeface="Arial"/>
                        </a:rPr>
                        <a:t>—</a:t>
                      </a:r>
                    </a:p>
                  </a:txBody>
                  <a:tcPr marL="73152" marR="73152" marT="18288" marB="18288" anchor="ctr">
                    <a:solidFill>
                      <a:srgbClr val="F2F5F9"/>
                    </a:solidFill>
                  </a:tcPr>
                </a:tc>
                <a:tc>
                  <a:txBody>
                    <a:bodyPr/>
                    <a:lstStyle/>
                    <a:p>
                      <a:pPr algn="ctr"/>
                      <a:r>
                        <a:rPr sz="1000" b="0">
                          <a:solidFill>
                            <a:srgbClr val="1A1A1A"/>
                          </a:solidFill>
                          <a:latin typeface="Arial"/>
                        </a:rPr>
                        <a:t>0.595 ± 0.013</a:t>
                      </a:r>
                    </a:p>
                  </a:txBody>
                  <a:tcPr marL="73152" marR="73152" marT="18288" marB="18288" anchor="ctr">
                    <a:solidFill>
                      <a:srgbClr val="F2F5F9"/>
                    </a:solidFill>
                  </a:tcPr>
                </a:tc>
              </a:tr>
            </a:tbl>
          </a:graphicData>
        </a:graphic>
      </p:graphicFrame>
      <p:sp>
        <p:nvSpPr>
          <p:cNvPr id="14" name="TextBox 13"/>
          <p:cNvSpPr txBox="1"/>
          <p:nvPr/>
        </p:nvSpPr>
        <p:spPr>
          <a:xfrm>
            <a:off x="822960" y="4114800"/>
            <a:ext cx="6400800" cy="274320"/>
          </a:xfrm>
          <a:prstGeom prst="rect">
            <a:avLst/>
          </a:prstGeom>
          <a:noFill/>
        </p:spPr>
        <p:txBody>
          <a:bodyPr wrap="square" lIns="0" rIns="0" tIns="0" bIns="0" anchor="t">
            <a:spAutoFit/>
          </a:bodyPr>
          <a:lstStyle/>
          <a:p>
            <a:pPr algn="l"/>
            <a:r>
              <a:rPr sz="950" b="0" i="1">
                <a:solidFill>
                  <a:srgbClr val="757575"/>
                </a:solidFill>
                <a:latin typeface="Arial"/>
              </a:rPr>
              <a:t>Highlighted: best clinical model and best image model, chosen on validation macro-F1.</a:t>
            </a:r>
          </a:p>
        </p:txBody>
      </p:sp>
      <p:sp>
        <p:nvSpPr>
          <p:cNvPr id="15" name="Rounded Rectangle 14"/>
          <p:cNvSpPr/>
          <p:nvPr/>
        </p:nvSpPr>
        <p:spPr>
          <a:xfrm>
            <a:off x="822960" y="4434840"/>
            <a:ext cx="6400800" cy="1554480"/>
          </a:xfrm>
          <a:prstGeom prst="roundRect">
            <a:avLst>
              <a:gd name="adj" fmla="val 6000"/>
            </a:avLst>
          </a:prstGeom>
          <a:solidFill>
            <a:srgbClr val="FDF2DE"/>
          </a:solidFill>
          <a:ln w="1270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507992"/>
            <a:ext cx="6035040" cy="1737360"/>
          </a:xfrm>
          <a:prstGeom prst="rect">
            <a:avLst/>
          </a:prstGeom>
          <a:noFill/>
        </p:spPr>
        <p:txBody>
          <a:bodyPr wrap="square" lIns="0" rIns="0" tIns="0" bIns="0" anchor="t">
            <a:spAutoFit/>
          </a:bodyPr>
          <a:lstStyle/>
          <a:p>
            <a:pPr algn="l">
              <a:spcAft>
                <a:spcPts val="200"/>
              </a:spcAft>
            </a:pPr>
            <a:r>
              <a:rPr sz="1200" b="1" i="0">
                <a:solidFill>
                  <a:srgbClr val="B05A00"/>
                </a:solidFill>
                <a:latin typeface="Arial"/>
              </a:rPr>
              <a:t>Reading so far (first, untuned runs)</a:t>
            </a:r>
          </a:p>
          <a:p>
            <a:pPr algn="l">
              <a:spcAft>
                <a:spcPts val="200"/>
              </a:spcAft>
            </a:pPr>
            <a:r>
              <a:rPr sz="1000" b="0" i="0">
                <a:solidFill>
                  <a:srgbClr val="404040"/>
                </a:solidFill>
                <a:latin typeface="Arial"/>
              </a:rPr>
              <a:t>• Clinical alone: CV macro-F1 ≈ 0.57; dropping G/GM costs only 0.037 → no obvious marker shortcut.</a:t>
            </a:r>
          </a:p>
          <a:p>
            <a:pPr algn="l">
              <a:spcAft>
                <a:spcPts val="200"/>
              </a:spcAft>
            </a:pPr>
            <a:r>
              <a:rPr sz="1000" b="0" i="0">
                <a:solidFill>
                  <a:srgbClr val="404040"/>
                </a:solidFill>
                <a:latin typeface="Arial"/>
              </a:rPr>
              <a:t>• CT-only ResNet-18 is the best so far (0.607 ± 0.022).</a:t>
            </a:r>
          </a:p>
          <a:p>
            <a:pPr algn="l">
              <a:spcAft>
                <a:spcPts val="200"/>
              </a:spcAft>
            </a:pPr>
            <a:r>
              <a:rPr sz="1000" b="1" i="0">
                <a:solidFill>
                  <a:srgbClr val="404040"/>
                </a:solidFill>
                <a:latin typeface="Arial"/>
              </a:rPr>
              <a:t>• Fusion (0.595 ± 0.013) does not beat CT-only yet. </a:t>
            </a:r>
            <a:r>
              <a:rPr sz="1000" b="0" i="0">
                <a:solidFill>
                  <a:srgbClr val="404040"/>
                </a:solidFill>
                <a:latin typeface="Arial"/>
              </a:rPr>
              <a:t>Training loss falls to 0.04–0.07 while the best validation epoch is 8–21 of 25 → overfitting; the 64-d clinical vector is also outweighed by 512 CT features.</a:t>
            </a:r>
          </a:p>
          <a:p>
            <a:pPr algn="l">
              <a:spcAft>
                <a:spcPts val="200"/>
              </a:spcAft>
            </a:pPr>
            <a:r>
              <a:rPr sz="1000" b="0" i="0">
                <a:solidFill>
                  <a:srgbClr val="404040"/>
                </a:solidFill>
                <a:latin typeface="Arial"/>
              </a:rPr>
              <a:t>• Next: late fusion of the two models' probabilities, partial backbone freezing, stronger regularisation.</a:t>
            </a:r>
          </a:p>
        </p:txBody>
      </p:sp>
      <p:pic>
        <p:nvPicPr>
          <p:cNvPr id="17" name="Picture 16" descr="fusion_cm.png"/>
          <p:cNvPicPr>
            <a:picLocks noChangeAspect="1"/>
          </p:cNvPicPr>
          <p:nvPr/>
        </p:nvPicPr>
        <p:blipFill>
          <a:blip r:embed="rId2"/>
          <a:stretch>
            <a:fillRect/>
          </a:stretch>
        </p:blipFill>
        <p:spPr>
          <a:xfrm>
            <a:off x="7543800" y="1280160"/>
            <a:ext cx="3917482" cy="3383280"/>
          </a:xfrm>
          <a:prstGeom prst="rect">
            <a:avLst/>
          </a:prstGeom>
        </p:spPr>
      </p:pic>
      <p:sp>
        <p:nvSpPr>
          <p:cNvPr id="18" name="TextBox 17"/>
          <p:cNvSpPr txBox="1"/>
          <p:nvPr/>
        </p:nvSpPr>
        <p:spPr>
          <a:xfrm>
            <a:off x="7543800" y="4754880"/>
            <a:ext cx="3840480" cy="1371600"/>
          </a:xfrm>
          <a:prstGeom prst="rect">
            <a:avLst/>
          </a:prstGeom>
          <a:noFill/>
        </p:spPr>
        <p:txBody>
          <a:bodyPr wrap="square" lIns="0" rIns="0" tIns="0" bIns="0" anchor="t">
            <a:spAutoFit/>
          </a:bodyPr>
          <a:lstStyle/>
          <a:p>
            <a:pPr algn="l"/>
            <a:r>
              <a:rPr sz="1000" b="0" i="0">
                <a:solidFill>
                  <a:srgbClr val="404040"/>
                </a:solidFill>
                <a:latin typeface="Arial"/>
              </a:rPr>
              <a:t>Fusion model, seed 0, 83-scan test set. Most common error: non-Asp. fungi predicted as non-fungal (10 of 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TextBox 3"/>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5" name="Rectangle 4"/>
          <p:cNvSpPr/>
          <p:nvPr/>
        </p:nvSpPr>
        <p:spPr>
          <a:xfrm>
            <a:off x="5532120" y="146304"/>
            <a:ext cx="1874519"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FFFFFF"/>
                </a:solidFill>
                <a:latin typeface="Arial"/>
              </a:rPr>
              <a:t>Progress &amp; Results</a:t>
            </a: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203864"/>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First Explainability Check — Grad-CAM on Test Cases</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11</a:t>
            </a:r>
          </a:p>
        </p:txBody>
      </p:sp>
      <p:pic>
        <p:nvPicPr>
          <p:cNvPr id="11" name="Picture 10" descr="gradcam.png"/>
          <p:cNvPicPr>
            <a:picLocks noChangeAspect="1"/>
          </p:cNvPicPr>
          <p:nvPr/>
        </p:nvPicPr>
        <p:blipFill>
          <a:blip r:embed="rId2"/>
          <a:stretch>
            <a:fillRect/>
          </a:stretch>
        </p:blipFill>
        <p:spPr>
          <a:xfrm>
            <a:off x="777240" y="1143000"/>
            <a:ext cx="6691745" cy="5257800"/>
          </a:xfrm>
          <a:prstGeom prst="rect">
            <a:avLst/>
          </a:prstGeom>
        </p:spPr>
      </p:pic>
      <p:sp>
        <p:nvSpPr>
          <p:cNvPr id="12" name="Rectangle 11"/>
          <p:cNvSpPr/>
          <p:nvPr/>
        </p:nvSpPr>
        <p:spPr>
          <a:xfrm>
            <a:off x="7589520" y="1280160"/>
            <a:ext cx="146304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280160"/>
            <a:ext cx="1463040" cy="256032"/>
          </a:xfrm>
          <a:prstGeom prst="rect">
            <a:avLst/>
          </a:prstGeom>
          <a:noFill/>
        </p:spPr>
        <p:txBody>
          <a:bodyPr wrap="square" lIns="0" rIns="0" tIns="0" bIns="0" anchor="ctr">
            <a:spAutoFit/>
          </a:bodyPr>
          <a:lstStyle/>
          <a:p>
            <a:pPr algn="ctr"/>
            <a:r>
              <a:rPr sz="1000" b="1" i="0">
                <a:solidFill>
                  <a:srgbClr val="FFFFFF"/>
                </a:solidFill>
                <a:latin typeface="Arial"/>
              </a:rPr>
              <a:t>WHAT WE SEE</a:t>
            </a:r>
          </a:p>
        </p:txBody>
      </p:sp>
      <p:sp>
        <p:nvSpPr>
          <p:cNvPr id="14" name="TextBox 13"/>
          <p:cNvSpPr txBox="1"/>
          <p:nvPr/>
        </p:nvSpPr>
        <p:spPr>
          <a:xfrm>
            <a:off x="7589520" y="1645920"/>
            <a:ext cx="3840480" cy="2560320"/>
          </a:xfrm>
          <a:prstGeom prst="rect">
            <a:avLst/>
          </a:prstGeom>
          <a:noFill/>
        </p:spPr>
        <p:txBody>
          <a:bodyPr wrap="square" lIns="0" rIns="0" tIns="0" bIns="0" anchor="t">
            <a:spAutoFit/>
          </a:bodyPr>
          <a:lstStyle/>
          <a:p>
            <a:pPr algn="l">
              <a:spcAft>
                <a:spcPts val="600"/>
              </a:spcAft>
            </a:pPr>
            <a:r>
              <a:rPr sz="1050" b="1" i="0">
                <a:solidFill>
                  <a:srgbClr val="0E7C86"/>
                </a:solidFill>
                <a:latin typeface="Arial"/>
              </a:rPr>
              <a:t>• </a:t>
            </a:r>
            <a:r>
              <a:rPr sz="1050" b="1" i="0">
                <a:solidFill>
                  <a:srgbClr val="1A1A1A"/>
                </a:solidFill>
                <a:latin typeface="Arial"/>
              </a:rPr>
              <a:t>Method: </a:t>
            </a:r>
            <a:r>
              <a:rPr sz="1050" b="0" i="0">
                <a:solidFill>
                  <a:srgbClr val="404040"/>
                </a:solidFill>
                <a:latin typeface="Arial"/>
              </a:rPr>
              <a:t>Grad-CAM on ResNet layer 4 for the predicted class; 4 slices with the most saliency per case (most confident correct test case per class).</a:t>
            </a:r>
          </a:p>
          <a:p>
            <a:pPr algn="l">
              <a:spcAft>
                <a:spcPts val="600"/>
              </a:spcAft>
            </a:pPr>
            <a:r>
              <a:rPr sz="1050" b="1" i="0">
                <a:solidFill>
                  <a:srgbClr val="0E7C86"/>
                </a:solidFill>
                <a:latin typeface="Arial"/>
              </a:rPr>
              <a:t>• </a:t>
            </a:r>
            <a:r>
              <a:rPr sz="1050" b="1" i="0">
                <a:solidFill>
                  <a:srgbClr val="1A1A1A"/>
                </a:solidFill>
                <a:latin typeface="Arial"/>
              </a:rPr>
              <a:t>Plausible: </a:t>
            </a:r>
            <a:r>
              <a:rPr sz="1050" b="0" i="0">
                <a:solidFill>
                  <a:srgbClr val="404040"/>
                </a:solidFill>
                <a:latin typeface="Arial"/>
              </a:rPr>
              <a:t>Case 195 — heat on the right lung, which is visibly abnormal on slices 10–11.</a:t>
            </a:r>
          </a:p>
          <a:p>
            <a:pPr algn="l">
              <a:spcAft>
                <a:spcPts val="600"/>
              </a:spcAft>
            </a:pPr>
            <a:r>
              <a:rPr sz="1050" b="1" i="0">
                <a:solidFill>
                  <a:srgbClr val="0E7C86"/>
                </a:solidFill>
                <a:latin typeface="Arial"/>
              </a:rPr>
              <a:t>• </a:t>
            </a:r>
            <a:r>
              <a:rPr sz="1050" b="1" i="0">
                <a:solidFill>
                  <a:srgbClr val="1A1A1A"/>
                </a:solidFill>
                <a:latin typeface="Arial"/>
              </a:rPr>
              <a:t>Mixed: </a:t>
            </a:r>
            <a:r>
              <a:rPr sz="1050" b="0" i="0">
                <a:solidFill>
                  <a:srgbClr val="404040"/>
                </a:solidFill>
                <a:latin typeface="Arial"/>
              </a:rPr>
              <a:t>Case 362 — slice 13 points into the right upper lung, slices 4–5 sit on the lung base / liver dome.</a:t>
            </a:r>
          </a:p>
          <a:p>
            <a:pPr algn="l">
              <a:spcAft>
                <a:spcPts val="600"/>
              </a:spcAft>
            </a:pPr>
            <a:r>
              <a:rPr sz="1050" b="1" i="0">
                <a:solidFill>
                  <a:srgbClr val="0E7C86"/>
                </a:solidFill>
                <a:latin typeface="Arial"/>
              </a:rPr>
              <a:t>• </a:t>
            </a:r>
            <a:r>
              <a:rPr sz="1050" b="1" i="0">
                <a:solidFill>
                  <a:srgbClr val="1A1A1A"/>
                </a:solidFill>
                <a:latin typeface="Arial"/>
              </a:rPr>
              <a:t>Not plausible: </a:t>
            </a:r>
            <a:r>
              <a:rPr sz="1050" b="0" i="0">
                <a:solidFill>
                  <a:srgbClr val="404040"/>
                </a:solidFill>
                <a:latin typeface="Arial"/>
              </a:rPr>
              <a:t>Case 250 focuses on the heart / mediastinum, not lung tissue.</a:t>
            </a:r>
          </a:p>
        </p:txBody>
      </p:sp>
      <p:sp>
        <p:nvSpPr>
          <p:cNvPr id="15" name="Rounded Rectangle 14"/>
          <p:cNvSpPr/>
          <p:nvPr/>
        </p:nvSpPr>
        <p:spPr>
          <a:xfrm>
            <a:off x="7589520" y="4343400"/>
            <a:ext cx="3840480" cy="1600200"/>
          </a:xfrm>
          <a:prstGeom prst="roundRect">
            <a:avLst>
              <a:gd name="adj" fmla="val 6000"/>
            </a:avLst>
          </a:prstGeom>
          <a:solidFill>
            <a:srgbClr val="FDF2DE"/>
          </a:solidFill>
          <a:ln w="12700">
            <a:solidFill>
              <a:srgbClr val="E9C9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26679" y="4434840"/>
            <a:ext cx="3566160" cy="1737360"/>
          </a:xfrm>
          <a:prstGeom prst="rect">
            <a:avLst/>
          </a:prstGeom>
          <a:noFill/>
        </p:spPr>
        <p:txBody>
          <a:bodyPr wrap="square" lIns="0" rIns="0" tIns="0" bIns="0" anchor="t">
            <a:spAutoFit/>
          </a:bodyPr>
          <a:lstStyle/>
          <a:p>
            <a:pPr algn="l">
              <a:spcAft>
                <a:spcPts val="300"/>
              </a:spcAft>
            </a:pPr>
            <a:r>
              <a:rPr sz="1200" b="1" i="0">
                <a:solidFill>
                  <a:srgbClr val="B05A00"/>
                </a:solidFill>
                <a:latin typeface="Arial"/>
              </a:rPr>
              <a:t>Actions</a:t>
            </a:r>
          </a:p>
          <a:p>
            <a:pPr algn="l">
              <a:spcAft>
                <a:spcPts val="300"/>
              </a:spcAft>
            </a:pPr>
            <a:r>
              <a:rPr sz="1000" b="0" i="0">
                <a:solidFill>
                  <a:srgbClr val="404040"/>
                </a:solidFill>
                <a:latin typeface="Arial"/>
              </a:rPr>
              <a:t>• Mask non-lung pixels before the backbone, so saliency must come from the lungs</a:t>
            </a:r>
          </a:p>
          <a:p>
            <a:pPr algn="l">
              <a:spcAft>
                <a:spcPts val="300"/>
              </a:spcAft>
            </a:pPr>
            <a:r>
              <a:rPr sz="1000" b="0" i="0">
                <a:solidFill>
                  <a:srgbClr val="404040"/>
                </a:solidFill>
                <a:latin typeface="Arial"/>
              </a:rPr>
              <a:t>• Probabilities of 1.00 → overconfident; add calibration (temperature scaling) before the 'uncertain' flag</a:t>
            </a:r>
          </a:p>
          <a:p>
            <a:pPr algn="l">
              <a:spcAft>
                <a:spcPts val="300"/>
              </a:spcAft>
            </a:pPr>
            <a:r>
              <a:rPr sz="1000" b="0" i="0">
                <a:solidFill>
                  <a:srgbClr val="404040"/>
                </a:solidFill>
                <a:latin typeface="Arial"/>
              </a:rPr>
              <a:t>• No lesion masks → review maps qualitatively, ideally with a clinician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D7DBE3"/>
        </a:solidFill>
        <a:effectLst/>
      </p:bgPr>
    </p:bg>
    <p:spTree>
      <p:nvGrpSpPr>
        <p:cNvPr id="1" name=""/>
        <p:cNvGrpSpPr/>
        <p:nvPr/>
      </p:nvGrpSpPr>
      <p:grpSpPr/>
      <p:sp>
        <p:nvSpPr>
          <p:cNvPr id="2" name="TextBox 1"/>
          <p:cNvSpPr txBox="1"/>
          <p:nvPr/>
        </p:nvSpPr>
        <p:spPr>
          <a:xfrm>
            <a:off x="502920" y="146304"/>
            <a:ext cx="1325880" cy="292608"/>
          </a:xfrm>
          <a:prstGeom prst="rect">
            <a:avLst/>
          </a:prstGeom>
          <a:noFill/>
        </p:spPr>
        <p:txBody>
          <a:bodyPr wrap="square" lIns="0" rIns="0" tIns="0" bIns="0" anchor="ctr">
            <a:spAutoFit/>
          </a:bodyPr>
          <a:lstStyle/>
          <a:p>
            <a:pPr algn="ctr"/>
            <a:r>
              <a:rPr sz="1150" b="1" i="0">
                <a:solidFill>
                  <a:srgbClr val="203864"/>
                </a:solidFill>
                <a:latin typeface="Arial"/>
              </a:rPr>
              <a:t>Introduction</a:t>
            </a:r>
          </a:p>
        </p:txBody>
      </p:sp>
      <p:sp>
        <p:nvSpPr>
          <p:cNvPr id="3" name="TextBox 2"/>
          <p:cNvSpPr txBox="1"/>
          <p:nvPr/>
        </p:nvSpPr>
        <p:spPr>
          <a:xfrm>
            <a:off x="2011680" y="146304"/>
            <a:ext cx="1554480" cy="292608"/>
          </a:xfrm>
          <a:prstGeom prst="rect">
            <a:avLst/>
          </a:prstGeom>
          <a:noFill/>
        </p:spPr>
        <p:txBody>
          <a:bodyPr wrap="square" lIns="0" rIns="0" tIns="0" bIns="0" anchor="ctr">
            <a:spAutoFit/>
          </a:bodyPr>
          <a:lstStyle/>
          <a:p>
            <a:pPr algn="ctr"/>
            <a:r>
              <a:rPr sz="1150" b="1" i="0">
                <a:solidFill>
                  <a:srgbClr val="203864"/>
                </a:solidFill>
                <a:latin typeface="Arial"/>
              </a:rPr>
              <a:t>Scope &amp; Data</a:t>
            </a:r>
          </a:p>
        </p:txBody>
      </p:sp>
      <p:sp>
        <p:nvSpPr>
          <p:cNvPr id="4" name="TextBox 3"/>
          <p:cNvSpPr txBox="1"/>
          <p:nvPr/>
        </p:nvSpPr>
        <p:spPr>
          <a:xfrm>
            <a:off x="3749039" y="146304"/>
            <a:ext cx="1600200" cy="292608"/>
          </a:xfrm>
          <a:prstGeom prst="rect">
            <a:avLst/>
          </a:prstGeom>
          <a:noFill/>
        </p:spPr>
        <p:txBody>
          <a:bodyPr wrap="square" lIns="0" rIns="0" tIns="0" bIns="0" anchor="ctr">
            <a:spAutoFit/>
          </a:bodyPr>
          <a:lstStyle/>
          <a:p>
            <a:pPr algn="ctr"/>
            <a:r>
              <a:rPr sz="1150" b="1" i="0">
                <a:solidFill>
                  <a:srgbClr val="203864"/>
                </a:solidFill>
                <a:latin typeface="Arial"/>
              </a:rPr>
              <a:t>System Design</a:t>
            </a:r>
          </a:p>
        </p:txBody>
      </p:sp>
      <p:sp>
        <p:nvSpPr>
          <p:cNvPr id="5" name="TextBox 4"/>
          <p:cNvSpPr txBox="1"/>
          <p:nvPr/>
        </p:nvSpPr>
        <p:spPr>
          <a:xfrm>
            <a:off x="5532120" y="146304"/>
            <a:ext cx="1874519" cy="292608"/>
          </a:xfrm>
          <a:prstGeom prst="rect">
            <a:avLst/>
          </a:prstGeom>
          <a:noFill/>
        </p:spPr>
        <p:txBody>
          <a:bodyPr wrap="square" lIns="0" rIns="0" tIns="0" bIns="0" anchor="ctr">
            <a:spAutoFit/>
          </a:bodyPr>
          <a:lstStyle/>
          <a:p>
            <a:pPr algn="ctr"/>
            <a:r>
              <a:rPr sz="1150" b="1" i="0">
                <a:solidFill>
                  <a:srgbClr val="203864"/>
                </a:solidFill>
                <a:latin typeface="Arial"/>
              </a:rPr>
              <a:t>Progress &amp; Results</a:t>
            </a:r>
          </a:p>
        </p:txBody>
      </p:sp>
      <p:sp>
        <p:nvSpPr>
          <p:cNvPr id="6" name="Rectangle 5"/>
          <p:cNvSpPr/>
          <p:nvPr/>
        </p:nvSpPr>
        <p:spPr>
          <a:xfrm>
            <a:off x="7589520" y="146304"/>
            <a:ext cx="914400" cy="292608"/>
          </a:xfrm>
          <a:prstGeom prst="rect">
            <a:avLst/>
          </a:prstGeom>
          <a:solidFill>
            <a:srgbClr val="203864"/>
          </a:solidFill>
          <a:ln w="12700">
            <a:solidFill>
              <a:srgbClr val="2038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0" y="146304"/>
            <a:ext cx="914400" cy="292608"/>
          </a:xfrm>
          <a:prstGeom prst="rect">
            <a:avLst/>
          </a:prstGeom>
          <a:noFill/>
        </p:spPr>
        <p:txBody>
          <a:bodyPr wrap="square" lIns="0" rIns="0" tIns="0" bIns="0" anchor="ctr">
            <a:spAutoFit/>
          </a:bodyPr>
          <a:lstStyle/>
          <a:p>
            <a:pPr algn="ctr"/>
            <a:r>
              <a:rPr sz="1150" b="1" i="0">
                <a:solidFill>
                  <a:srgbClr val="FFFFFF"/>
                </a:solidFill>
                <a:latin typeface="Arial"/>
              </a:rPr>
              <a:t>Plan</a:t>
            </a:r>
          </a:p>
        </p:txBody>
      </p:sp>
      <p:sp>
        <p:nvSpPr>
          <p:cNvPr id="8" name="TextBox 7"/>
          <p:cNvSpPr txBox="1"/>
          <p:nvPr/>
        </p:nvSpPr>
        <p:spPr>
          <a:xfrm>
            <a:off x="548640" y="548640"/>
            <a:ext cx="11064240" cy="384048"/>
          </a:xfrm>
          <a:prstGeom prst="rect">
            <a:avLst/>
          </a:prstGeom>
          <a:noFill/>
        </p:spPr>
        <p:txBody>
          <a:bodyPr wrap="square" lIns="0" rIns="0" tIns="0" bIns="0" anchor="ctr">
            <a:spAutoFit/>
          </a:bodyPr>
          <a:lstStyle/>
          <a:p>
            <a:pPr algn="l"/>
            <a:r>
              <a:rPr sz="2000" b="1" i="0">
                <a:solidFill>
                  <a:srgbClr val="1A1A1A"/>
                </a:solidFill>
                <a:latin typeface="Arial"/>
              </a:rPr>
              <a:t>Prototype Interface and Next Steps</a:t>
            </a:r>
          </a:p>
        </p:txBody>
      </p:sp>
      <p:sp>
        <p:nvSpPr>
          <p:cNvPr id="9" name="Rectangle 8"/>
          <p:cNvSpPr/>
          <p:nvPr/>
        </p:nvSpPr>
        <p:spPr>
          <a:xfrm>
            <a:off x="502920" y="1005840"/>
            <a:ext cx="11183112" cy="5468112"/>
          </a:xfrm>
          <a:prstGeom prst="rect">
            <a:avLst/>
          </a:prstGeom>
          <a:solidFill>
            <a:srgbClr val="FFFFFF"/>
          </a:solidFill>
          <a:ln w="12700">
            <a:solidFill>
              <a:srgbClr val="374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0" y="6455664"/>
            <a:ext cx="548640" cy="274320"/>
          </a:xfrm>
          <a:prstGeom prst="rect">
            <a:avLst/>
          </a:prstGeom>
          <a:noFill/>
        </p:spPr>
        <p:txBody>
          <a:bodyPr wrap="square" lIns="0" rIns="0" tIns="0" bIns="0" anchor="t">
            <a:spAutoFit/>
          </a:bodyPr>
          <a:lstStyle/>
          <a:p>
            <a:pPr algn="r"/>
            <a:r>
              <a:rPr sz="1100" b="1" i="0">
                <a:solidFill>
                  <a:srgbClr val="203864"/>
                </a:solidFill>
                <a:latin typeface="Arial"/>
              </a:rPr>
              <a:t>12</a:t>
            </a:r>
          </a:p>
        </p:txBody>
      </p:sp>
      <p:sp>
        <p:nvSpPr>
          <p:cNvPr id="11" name="Rectangle 10"/>
          <p:cNvSpPr/>
          <p:nvPr/>
        </p:nvSpPr>
        <p:spPr>
          <a:xfrm>
            <a:off x="822960" y="1280160"/>
            <a:ext cx="2103120" cy="256032"/>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280160"/>
            <a:ext cx="2103120" cy="256032"/>
          </a:xfrm>
          <a:prstGeom prst="rect">
            <a:avLst/>
          </a:prstGeom>
          <a:noFill/>
        </p:spPr>
        <p:txBody>
          <a:bodyPr wrap="square" lIns="0" rIns="0" tIns="0" bIns="0" anchor="ctr">
            <a:spAutoFit/>
          </a:bodyPr>
          <a:lstStyle/>
          <a:p>
            <a:pPr algn="ctr"/>
            <a:r>
              <a:rPr sz="1000" b="1" i="0">
                <a:solidFill>
                  <a:srgbClr val="FFFFFF"/>
                </a:solidFill>
                <a:latin typeface="Arial"/>
              </a:rPr>
              <a:t>PLANNED UI (MOCK-UP)</a:t>
            </a:r>
          </a:p>
        </p:txBody>
      </p:sp>
      <p:sp>
        <p:nvSpPr>
          <p:cNvPr id="13" name="Rectangle 12"/>
          <p:cNvSpPr/>
          <p:nvPr/>
        </p:nvSpPr>
        <p:spPr>
          <a:xfrm>
            <a:off x="822960" y="1645920"/>
            <a:ext cx="5852160" cy="4251960"/>
          </a:xfrm>
          <a:prstGeom prst="rect">
            <a:avLst/>
          </a:prstGeom>
          <a:solidFill>
            <a:srgbClr val="1E2433"/>
          </a:solidFill>
          <a:ln w="12700">
            <a:solidFill>
              <a:srgbClr val="1E24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60120" y="1783080"/>
            <a:ext cx="3383280" cy="3383280"/>
          </a:xfrm>
          <a:prstGeom prst="rect">
            <a:avLst/>
          </a:prstGeom>
          <a:solidFill>
            <a:srgbClr val="000000"/>
          </a:solidFill>
          <a:ln w="12700">
            <a:solidFill>
              <a:srgbClr val="5A6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ui_slice.png"/>
          <p:cNvPicPr>
            <a:picLocks noChangeAspect="1"/>
          </p:cNvPicPr>
          <p:nvPr/>
        </p:nvPicPr>
        <p:blipFill>
          <a:blip r:embed="rId2"/>
          <a:stretch>
            <a:fillRect/>
          </a:stretch>
        </p:blipFill>
        <p:spPr>
          <a:xfrm>
            <a:off x="1005840" y="1828800"/>
            <a:ext cx="3291840" cy="3291840"/>
          </a:xfrm>
          <a:prstGeom prst="rect">
            <a:avLst/>
          </a:prstGeom>
        </p:spPr>
      </p:pic>
      <p:sp>
        <p:nvSpPr>
          <p:cNvPr id="16" name="TextBox 15"/>
          <p:cNvSpPr txBox="1"/>
          <p:nvPr/>
        </p:nvSpPr>
        <p:spPr>
          <a:xfrm>
            <a:off x="960120" y="5212080"/>
            <a:ext cx="3383280" cy="274320"/>
          </a:xfrm>
          <a:prstGeom prst="rect">
            <a:avLst/>
          </a:prstGeom>
          <a:noFill/>
        </p:spPr>
        <p:txBody>
          <a:bodyPr wrap="square" lIns="0" rIns="0" tIns="0" bIns="0" anchor="t">
            <a:spAutoFit/>
          </a:bodyPr>
          <a:lstStyle/>
          <a:p>
            <a:pPr algn="l"/>
            <a:r>
              <a:rPr sz="900" b="0" i="0">
                <a:solidFill>
                  <a:srgbClr val="C9D1E0"/>
                </a:solidFill>
                <a:latin typeface="Arial"/>
              </a:rPr>
              <a:t>◀  slice 40 / 73  ▶     ☐ show saliency</a:t>
            </a:r>
          </a:p>
        </p:txBody>
      </p:sp>
      <p:sp>
        <p:nvSpPr>
          <p:cNvPr id="17" name="TextBox 16"/>
          <p:cNvSpPr txBox="1"/>
          <p:nvPr/>
        </p:nvSpPr>
        <p:spPr>
          <a:xfrm>
            <a:off x="960120" y="5577840"/>
            <a:ext cx="5577840" cy="502920"/>
          </a:xfrm>
          <a:prstGeom prst="rect">
            <a:avLst/>
          </a:prstGeom>
          <a:noFill/>
        </p:spPr>
        <p:txBody>
          <a:bodyPr wrap="square" lIns="0" rIns="0" tIns="0" bIns="0" anchor="t">
            <a:spAutoFit/>
          </a:bodyPr>
          <a:lstStyle/>
          <a:p>
            <a:pPr algn="l"/>
            <a:r>
              <a:rPr sz="900" b="0" i="1">
                <a:solidFill>
                  <a:srgbClr val="F2C46D"/>
                </a:solidFill>
                <a:latin typeface="Arial"/>
              </a:rPr>
              <a:t>Research prototype — decision support only, not a diagnosis.</a:t>
            </a:r>
          </a:p>
        </p:txBody>
      </p:sp>
      <p:sp>
        <p:nvSpPr>
          <p:cNvPr id="18" name="Rectangle 17"/>
          <p:cNvSpPr/>
          <p:nvPr/>
        </p:nvSpPr>
        <p:spPr>
          <a:xfrm>
            <a:off x="4480560" y="1783080"/>
            <a:ext cx="2057400" cy="1417320"/>
          </a:xfrm>
          <a:prstGeom prst="rect">
            <a:avLst/>
          </a:prstGeom>
          <a:solidFill>
            <a:srgbClr val="2A3245"/>
          </a:solidFill>
          <a:ln w="12700">
            <a:solidFill>
              <a:srgbClr val="5A6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1828800"/>
            <a:ext cx="1920240" cy="1325880"/>
          </a:xfrm>
          <a:prstGeom prst="rect">
            <a:avLst/>
          </a:prstGeom>
          <a:noFill/>
        </p:spPr>
        <p:txBody>
          <a:bodyPr wrap="square" lIns="0" rIns="0" tIns="0" bIns="0" anchor="t">
            <a:spAutoFit/>
          </a:bodyPr>
          <a:lstStyle/>
          <a:p>
            <a:pPr algn="l"/>
            <a:r>
              <a:rPr sz="850" b="1" i="0">
                <a:solidFill>
                  <a:srgbClr val="FFFFFF"/>
                </a:solidFill>
                <a:latin typeface="Arial"/>
              </a:rPr>
              <a:t>Clinical record · Case 071</a:t>
            </a:r>
          </a:p>
          <a:p>
            <a:pPr algn="l"/>
            <a:r>
              <a:rPr sz="850" b="0" i="0">
                <a:solidFill>
                  <a:srgbClr val="C9D1E0"/>
                </a:solidFill>
                <a:latin typeface="Arial"/>
              </a:rPr>
              <a:t>Age 27 · M</a:t>
            </a:r>
          </a:p>
          <a:p>
            <a:pPr algn="l"/>
            <a:r>
              <a:rPr sz="850" b="0" i="0">
                <a:solidFill>
                  <a:srgbClr val="C9D1E0"/>
                </a:solidFill>
                <a:latin typeface="Arial"/>
              </a:rPr>
              <a:t>Immunosuppressants − · AIDS −</a:t>
            </a:r>
          </a:p>
          <a:p>
            <a:pPr algn="l"/>
            <a:r>
              <a:rPr sz="850" b="0" i="0">
                <a:solidFill>
                  <a:srgbClr val="C9D1E0"/>
                </a:solidFill>
                <a:latin typeface="Arial"/>
              </a:rPr>
              <a:t>G − · GM −</a:t>
            </a:r>
          </a:p>
          <a:p>
            <a:pPr algn="l"/>
            <a:r>
              <a:rPr sz="850" b="0" i="0">
                <a:solidFill>
                  <a:srgbClr val="C9D1E0"/>
                </a:solidFill>
                <a:latin typeface="Arial"/>
              </a:rPr>
              <a:t>Lymphocytes 2.41</a:t>
            </a:r>
          </a:p>
          <a:p>
            <a:pPr algn="l"/>
            <a:r>
              <a:rPr sz="850" b="0" i="0">
                <a:solidFill>
                  <a:srgbClr val="C9D1E0"/>
                </a:solidFill>
                <a:latin typeface="Arial"/>
              </a:rPr>
              <a:t>D-dimer n/a</a:t>
            </a:r>
          </a:p>
        </p:txBody>
      </p:sp>
      <p:sp>
        <p:nvSpPr>
          <p:cNvPr id="20" name="Rectangle 19"/>
          <p:cNvSpPr/>
          <p:nvPr/>
        </p:nvSpPr>
        <p:spPr>
          <a:xfrm>
            <a:off x="4480560" y="3291840"/>
            <a:ext cx="2057400" cy="1874519"/>
          </a:xfrm>
          <a:prstGeom prst="rect">
            <a:avLst/>
          </a:prstGeom>
          <a:solidFill>
            <a:srgbClr val="2A3245"/>
          </a:solidFill>
          <a:ln w="12700">
            <a:solidFill>
              <a:srgbClr val="5A64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3337560"/>
            <a:ext cx="1920240" cy="274320"/>
          </a:xfrm>
          <a:prstGeom prst="rect">
            <a:avLst/>
          </a:prstGeom>
          <a:noFill/>
        </p:spPr>
        <p:txBody>
          <a:bodyPr wrap="square" lIns="0" rIns="0" tIns="0" bIns="0" anchor="t">
            <a:spAutoFit/>
          </a:bodyPr>
          <a:lstStyle/>
          <a:p>
            <a:pPr algn="l"/>
            <a:r>
              <a:rPr sz="950" b="1" i="0">
                <a:solidFill>
                  <a:srgbClr val="FFFFFF"/>
                </a:solidFill>
                <a:latin typeface="Arial"/>
              </a:rPr>
              <a:t>Prediction</a:t>
            </a:r>
          </a:p>
        </p:txBody>
      </p:sp>
      <p:sp>
        <p:nvSpPr>
          <p:cNvPr id="22" name="TextBox 21"/>
          <p:cNvSpPr txBox="1"/>
          <p:nvPr/>
        </p:nvSpPr>
        <p:spPr>
          <a:xfrm>
            <a:off x="4572000" y="3657600"/>
            <a:ext cx="1920240" cy="182880"/>
          </a:xfrm>
          <a:prstGeom prst="rect">
            <a:avLst/>
          </a:prstGeom>
          <a:noFill/>
        </p:spPr>
        <p:txBody>
          <a:bodyPr wrap="square" lIns="0" rIns="0" tIns="0" bIns="0" anchor="t">
            <a:spAutoFit/>
          </a:bodyPr>
          <a:lstStyle/>
          <a:p>
            <a:pPr algn="l"/>
            <a:r>
              <a:rPr sz="850" b="0" i="0">
                <a:solidFill>
                  <a:srgbClr val="C9D1E0"/>
                </a:solidFill>
                <a:latin typeface="Arial"/>
              </a:rPr>
              <a:t>Aspergillus</a:t>
            </a:r>
          </a:p>
        </p:txBody>
      </p:sp>
      <p:sp>
        <p:nvSpPr>
          <p:cNvPr id="23" name="Rectangle 22"/>
          <p:cNvSpPr/>
          <p:nvPr/>
        </p:nvSpPr>
        <p:spPr>
          <a:xfrm>
            <a:off x="4572000" y="3858768"/>
            <a:ext cx="1828800" cy="109728"/>
          </a:xfrm>
          <a:prstGeom prst="rect">
            <a:avLst/>
          </a:prstGeom>
          <a:solidFill>
            <a:srgbClr val="3A4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0" y="3858768"/>
            <a:ext cx="1298448" cy="109728"/>
          </a:xfrm>
          <a:prstGeom prst="rect">
            <a:avLst/>
          </a:prstGeom>
          <a:solidFill>
            <a:srgbClr val="2E5C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4096512"/>
            <a:ext cx="1920240" cy="182880"/>
          </a:xfrm>
          <a:prstGeom prst="rect">
            <a:avLst/>
          </a:prstGeom>
          <a:noFill/>
        </p:spPr>
        <p:txBody>
          <a:bodyPr wrap="square" lIns="0" rIns="0" tIns="0" bIns="0" anchor="t">
            <a:spAutoFit/>
          </a:bodyPr>
          <a:lstStyle/>
          <a:p>
            <a:pPr algn="l"/>
            <a:r>
              <a:rPr sz="850" b="0" i="0">
                <a:solidFill>
                  <a:srgbClr val="C9D1E0"/>
                </a:solidFill>
                <a:latin typeface="Arial"/>
              </a:rPr>
              <a:t>Non-Asp. fungi</a:t>
            </a:r>
          </a:p>
        </p:txBody>
      </p:sp>
      <p:sp>
        <p:nvSpPr>
          <p:cNvPr id="26" name="Rectangle 25"/>
          <p:cNvSpPr/>
          <p:nvPr/>
        </p:nvSpPr>
        <p:spPr>
          <a:xfrm>
            <a:off x="4572000" y="4297680"/>
            <a:ext cx="1828800" cy="109728"/>
          </a:xfrm>
          <a:prstGeom prst="rect">
            <a:avLst/>
          </a:prstGeom>
          <a:solidFill>
            <a:srgbClr val="3A4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4297680"/>
            <a:ext cx="329184" cy="109728"/>
          </a:xfrm>
          <a:prstGeom prst="rect">
            <a:avLst/>
          </a:prstGeom>
          <a:solidFill>
            <a:srgbClr val="0F9A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535424"/>
            <a:ext cx="1920240" cy="182880"/>
          </a:xfrm>
          <a:prstGeom prst="rect">
            <a:avLst/>
          </a:prstGeom>
          <a:noFill/>
        </p:spPr>
        <p:txBody>
          <a:bodyPr wrap="square" lIns="0" rIns="0" tIns="0" bIns="0" anchor="t">
            <a:spAutoFit/>
          </a:bodyPr>
          <a:lstStyle/>
          <a:p>
            <a:pPr algn="l"/>
            <a:r>
              <a:rPr sz="850" b="0" i="0">
                <a:solidFill>
                  <a:srgbClr val="C9D1E0"/>
                </a:solidFill>
                <a:latin typeface="Arial"/>
              </a:rPr>
              <a:t>Non-fungal</a:t>
            </a:r>
          </a:p>
        </p:txBody>
      </p:sp>
      <p:sp>
        <p:nvSpPr>
          <p:cNvPr id="29" name="Rectangle 28"/>
          <p:cNvSpPr/>
          <p:nvPr/>
        </p:nvSpPr>
        <p:spPr>
          <a:xfrm>
            <a:off x="4572000" y="4736592"/>
            <a:ext cx="1828800" cy="109728"/>
          </a:xfrm>
          <a:prstGeom prst="rect">
            <a:avLst/>
          </a:prstGeom>
          <a:solidFill>
            <a:srgbClr val="3A44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0" y="4736592"/>
            <a:ext cx="201168" cy="109728"/>
          </a:xfrm>
          <a:prstGeom prst="rect">
            <a:avLst/>
          </a:prstGeom>
          <a:solidFill>
            <a:srgbClr val="C46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60" y="5212080"/>
            <a:ext cx="2057400" cy="274320"/>
          </a:xfrm>
          <a:prstGeom prst="rect">
            <a:avLst/>
          </a:prstGeom>
          <a:noFill/>
        </p:spPr>
        <p:txBody>
          <a:bodyPr wrap="square" lIns="0" rIns="0" tIns="0" bIns="0" anchor="t">
            <a:spAutoFit/>
          </a:bodyPr>
          <a:lstStyle/>
          <a:p>
            <a:pPr algn="ctr"/>
            <a:r>
              <a:rPr sz="800" b="0" i="1">
                <a:solidFill>
                  <a:srgbClr val="8A93A6"/>
                </a:solidFill>
                <a:latin typeface="Arial"/>
              </a:rPr>
              <a:t>(probabilities illustrative)</a:t>
            </a:r>
          </a:p>
        </p:txBody>
      </p:sp>
      <p:sp>
        <p:nvSpPr>
          <p:cNvPr id="32" name="Rectangle 31"/>
          <p:cNvSpPr/>
          <p:nvPr/>
        </p:nvSpPr>
        <p:spPr>
          <a:xfrm>
            <a:off x="7086600" y="1280160"/>
            <a:ext cx="1188720" cy="2560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086600" y="1280160"/>
            <a:ext cx="1188720" cy="256032"/>
          </a:xfrm>
          <a:prstGeom prst="rect">
            <a:avLst/>
          </a:prstGeom>
          <a:noFill/>
        </p:spPr>
        <p:txBody>
          <a:bodyPr wrap="square" lIns="0" rIns="0" tIns="0" bIns="0" anchor="ctr">
            <a:spAutoFit/>
          </a:bodyPr>
          <a:lstStyle/>
          <a:p>
            <a:pPr algn="ctr"/>
            <a:r>
              <a:rPr sz="1000" b="1" i="0">
                <a:solidFill>
                  <a:srgbClr val="FFFFFF"/>
                </a:solidFill>
                <a:latin typeface="Arial"/>
              </a:rPr>
              <a:t>TIMELINE</a:t>
            </a:r>
          </a:p>
        </p:txBody>
      </p:sp>
      <p:sp>
        <p:nvSpPr>
          <p:cNvPr id="34" name="Rectangle 33"/>
          <p:cNvSpPr/>
          <p:nvPr/>
        </p:nvSpPr>
        <p:spPr>
          <a:xfrm>
            <a:off x="7086600" y="1645920"/>
            <a:ext cx="868680" cy="4572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086600" y="1645920"/>
            <a:ext cx="868680" cy="457200"/>
          </a:xfrm>
          <a:prstGeom prst="rect">
            <a:avLst/>
          </a:prstGeom>
          <a:noFill/>
        </p:spPr>
        <p:txBody>
          <a:bodyPr wrap="square" lIns="0" rIns="0" tIns="0" bIns="0" anchor="ctr">
            <a:spAutoFit/>
          </a:bodyPr>
          <a:lstStyle/>
          <a:p>
            <a:pPr algn="ctr"/>
            <a:r>
              <a:rPr sz="1000" b="1" i="0">
                <a:solidFill>
                  <a:srgbClr val="FFFFFF"/>
                </a:solidFill>
                <a:latin typeface="Arial"/>
              </a:rPr>
              <a:t>Wk 1–2</a:t>
            </a:r>
          </a:p>
        </p:txBody>
      </p:sp>
      <p:sp>
        <p:nvSpPr>
          <p:cNvPr id="36" name="TextBox 35"/>
          <p:cNvSpPr txBox="1"/>
          <p:nvPr/>
        </p:nvSpPr>
        <p:spPr>
          <a:xfrm>
            <a:off x="8046720" y="1645920"/>
            <a:ext cx="3337560" cy="457200"/>
          </a:xfrm>
          <a:prstGeom prst="rect">
            <a:avLst/>
          </a:prstGeom>
          <a:noFill/>
        </p:spPr>
        <p:txBody>
          <a:bodyPr wrap="square" lIns="0" rIns="0" tIns="0" bIns="0" anchor="ctr">
            <a:spAutoFit/>
          </a:bodyPr>
          <a:lstStyle/>
          <a:p>
            <a:pPr algn="l"/>
            <a:r>
              <a:rPr sz="1000" b="0" i="0">
                <a:solidFill>
                  <a:srgbClr val="404040"/>
                </a:solidFill>
                <a:latin typeface="Arial"/>
              </a:rPr>
              <a:t>Fix overfitting &amp; fusion (late fusion, freezing, lung masking); E1 incl. ResNet-50</a:t>
            </a:r>
          </a:p>
        </p:txBody>
      </p:sp>
      <p:sp>
        <p:nvSpPr>
          <p:cNvPr id="37" name="Rectangle 36"/>
          <p:cNvSpPr/>
          <p:nvPr/>
        </p:nvSpPr>
        <p:spPr>
          <a:xfrm>
            <a:off x="7086600" y="2194560"/>
            <a:ext cx="868680" cy="457200"/>
          </a:xfrm>
          <a:prstGeom prst="rect">
            <a:avLst/>
          </a:prstGeom>
          <a:solidFill>
            <a:srgbClr val="20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86600" y="2194560"/>
            <a:ext cx="868680" cy="457200"/>
          </a:xfrm>
          <a:prstGeom prst="rect">
            <a:avLst/>
          </a:prstGeom>
          <a:noFill/>
        </p:spPr>
        <p:txBody>
          <a:bodyPr wrap="square" lIns="0" rIns="0" tIns="0" bIns="0" anchor="ctr">
            <a:spAutoFit/>
          </a:bodyPr>
          <a:lstStyle/>
          <a:p>
            <a:pPr algn="ctr"/>
            <a:r>
              <a:rPr sz="1000" b="1" i="0">
                <a:solidFill>
                  <a:srgbClr val="FFFFFF"/>
                </a:solidFill>
                <a:latin typeface="Arial"/>
              </a:rPr>
              <a:t>Wk 3</a:t>
            </a:r>
          </a:p>
        </p:txBody>
      </p:sp>
      <p:sp>
        <p:nvSpPr>
          <p:cNvPr id="39" name="TextBox 38"/>
          <p:cNvSpPr txBox="1"/>
          <p:nvPr/>
        </p:nvSpPr>
        <p:spPr>
          <a:xfrm>
            <a:off x="8046720" y="2194560"/>
            <a:ext cx="3337560" cy="457200"/>
          </a:xfrm>
          <a:prstGeom prst="rect">
            <a:avLst/>
          </a:prstGeom>
          <a:noFill/>
        </p:spPr>
        <p:txBody>
          <a:bodyPr wrap="square" lIns="0" rIns="0" tIns="0" bIns="0" anchor="ctr">
            <a:spAutoFit/>
          </a:bodyPr>
          <a:lstStyle/>
          <a:p>
            <a:pPr algn="l"/>
            <a:r>
              <a:rPr sz="1000" b="0" i="0">
                <a:solidFill>
                  <a:srgbClr val="404040"/>
                </a:solidFill>
                <a:latin typeface="Arial"/>
              </a:rPr>
              <a:t>E2 training-size curve and E3 augmentation ablation</a:t>
            </a:r>
          </a:p>
        </p:txBody>
      </p:sp>
      <p:sp>
        <p:nvSpPr>
          <p:cNvPr id="40" name="Rectangle 39"/>
          <p:cNvSpPr/>
          <p:nvPr/>
        </p:nvSpPr>
        <p:spPr>
          <a:xfrm>
            <a:off x="7086600" y="2743200"/>
            <a:ext cx="868680" cy="457200"/>
          </a:xfrm>
          <a:prstGeom prst="rect">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86600" y="2743200"/>
            <a:ext cx="868680" cy="457200"/>
          </a:xfrm>
          <a:prstGeom prst="rect">
            <a:avLst/>
          </a:prstGeom>
          <a:noFill/>
        </p:spPr>
        <p:txBody>
          <a:bodyPr wrap="square" lIns="0" rIns="0" tIns="0" bIns="0" anchor="ctr">
            <a:spAutoFit/>
          </a:bodyPr>
          <a:lstStyle/>
          <a:p>
            <a:pPr algn="ctr"/>
            <a:r>
              <a:rPr sz="1000" b="1" i="0">
                <a:solidFill>
                  <a:srgbClr val="FFFFFF"/>
                </a:solidFill>
                <a:latin typeface="Arial"/>
              </a:rPr>
              <a:t>Wk 4</a:t>
            </a:r>
          </a:p>
        </p:txBody>
      </p:sp>
      <p:sp>
        <p:nvSpPr>
          <p:cNvPr id="42" name="TextBox 41"/>
          <p:cNvSpPr txBox="1"/>
          <p:nvPr/>
        </p:nvSpPr>
        <p:spPr>
          <a:xfrm>
            <a:off x="8046720" y="2743200"/>
            <a:ext cx="3337560" cy="457200"/>
          </a:xfrm>
          <a:prstGeom prst="rect">
            <a:avLst/>
          </a:prstGeom>
          <a:noFill/>
        </p:spPr>
        <p:txBody>
          <a:bodyPr wrap="square" lIns="0" rIns="0" tIns="0" bIns="0" anchor="ctr">
            <a:spAutoFit/>
          </a:bodyPr>
          <a:lstStyle/>
          <a:p>
            <a:pPr algn="l"/>
            <a:r>
              <a:rPr sz="1000" b="0" i="0">
                <a:solidFill>
                  <a:srgbClr val="404040"/>
                </a:solidFill>
                <a:latin typeface="Arial"/>
              </a:rPr>
              <a:t>Lung-masked Grad-CAM review; agree severity proxy (e.g. affected-lung fraction)</a:t>
            </a:r>
          </a:p>
        </p:txBody>
      </p:sp>
      <p:sp>
        <p:nvSpPr>
          <p:cNvPr id="43" name="Rectangle 42"/>
          <p:cNvSpPr/>
          <p:nvPr/>
        </p:nvSpPr>
        <p:spPr>
          <a:xfrm>
            <a:off x="7086600" y="3291839"/>
            <a:ext cx="868680" cy="457200"/>
          </a:xfrm>
          <a:prstGeom prst="rect">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86600" y="3291839"/>
            <a:ext cx="868680" cy="457200"/>
          </a:xfrm>
          <a:prstGeom prst="rect">
            <a:avLst/>
          </a:prstGeom>
          <a:noFill/>
        </p:spPr>
        <p:txBody>
          <a:bodyPr wrap="square" lIns="0" rIns="0" tIns="0" bIns="0" anchor="ctr">
            <a:spAutoFit/>
          </a:bodyPr>
          <a:lstStyle/>
          <a:p>
            <a:pPr algn="ctr"/>
            <a:r>
              <a:rPr sz="1000" b="1" i="0">
                <a:solidFill>
                  <a:srgbClr val="FFFFFF"/>
                </a:solidFill>
                <a:latin typeface="Arial"/>
              </a:rPr>
              <a:t>Wk 5</a:t>
            </a:r>
          </a:p>
        </p:txBody>
      </p:sp>
      <p:sp>
        <p:nvSpPr>
          <p:cNvPr id="45" name="TextBox 44"/>
          <p:cNvSpPr txBox="1"/>
          <p:nvPr/>
        </p:nvSpPr>
        <p:spPr>
          <a:xfrm>
            <a:off x="8046720" y="3291839"/>
            <a:ext cx="3337560" cy="457200"/>
          </a:xfrm>
          <a:prstGeom prst="rect">
            <a:avLst/>
          </a:prstGeom>
          <a:noFill/>
        </p:spPr>
        <p:txBody>
          <a:bodyPr wrap="square" lIns="0" rIns="0" tIns="0" bIns="0" anchor="ctr">
            <a:spAutoFit/>
          </a:bodyPr>
          <a:lstStyle/>
          <a:p>
            <a:pPr algn="l"/>
            <a:r>
              <a:rPr sz="1000" b="0" i="0">
                <a:solidFill>
                  <a:srgbClr val="404040"/>
                </a:solidFill>
                <a:latin typeface="Arial"/>
              </a:rPr>
              <a:t>Prototype UI (CT viewer + panels), uncertainty threshold</a:t>
            </a:r>
          </a:p>
        </p:txBody>
      </p:sp>
      <p:sp>
        <p:nvSpPr>
          <p:cNvPr id="46" name="Rectangle 45"/>
          <p:cNvSpPr/>
          <p:nvPr/>
        </p:nvSpPr>
        <p:spPr>
          <a:xfrm>
            <a:off x="7086600" y="3840480"/>
            <a:ext cx="868680" cy="457200"/>
          </a:xfrm>
          <a:prstGeom prst="rect">
            <a:avLst/>
          </a:prstGeom>
          <a:solidFill>
            <a:srgbClr val="8AA0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086600" y="3840480"/>
            <a:ext cx="868680" cy="457200"/>
          </a:xfrm>
          <a:prstGeom prst="rect">
            <a:avLst/>
          </a:prstGeom>
          <a:noFill/>
        </p:spPr>
        <p:txBody>
          <a:bodyPr wrap="square" lIns="0" rIns="0" tIns="0" bIns="0" anchor="ctr">
            <a:spAutoFit/>
          </a:bodyPr>
          <a:lstStyle/>
          <a:p>
            <a:pPr algn="ctr"/>
            <a:r>
              <a:rPr sz="1000" b="1" i="0">
                <a:solidFill>
                  <a:srgbClr val="FFFFFF"/>
                </a:solidFill>
                <a:latin typeface="Arial"/>
              </a:rPr>
              <a:t>Wk 6</a:t>
            </a:r>
          </a:p>
        </p:txBody>
      </p:sp>
      <p:sp>
        <p:nvSpPr>
          <p:cNvPr id="48" name="TextBox 47"/>
          <p:cNvSpPr txBox="1"/>
          <p:nvPr/>
        </p:nvSpPr>
        <p:spPr>
          <a:xfrm>
            <a:off x="8046720" y="3840480"/>
            <a:ext cx="3337560" cy="457200"/>
          </a:xfrm>
          <a:prstGeom prst="rect">
            <a:avLst/>
          </a:prstGeom>
          <a:noFill/>
        </p:spPr>
        <p:txBody>
          <a:bodyPr wrap="square" lIns="0" rIns="0" tIns="0" bIns="0" anchor="ctr">
            <a:spAutoFit/>
          </a:bodyPr>
          <a:lstStyle/>
          <a:p>
            <a:pPr algn="l"/>
            <a:r>
              <a:rPr sz="1000" b="0" i="0">
                <a:solidFill>
                  <a:srgbClr val="404040"/>
                </a:solidFill>
                <a:latin typeface="Arial"/>
              </a:rPr>
              <a:t>Error analysis, final report, demo video</a:t>
            </a:r>
          </a:p>
        </p:txBody>
      </p:sp>
      <p:sp>
        <p:nvSpPr>
          <p:cNvPr id="49" name="Rectangle 48"/>
          <p:cNvSpPr/>
          <p:nvPr/>
        </p:nvSpPr>
        <p:spPr>
          <a:xfrm>
            <a:off x="7086600" y="4480560"/>
            <a:ext cx="1920240" cy="256032"/>
          </a:xfrm>
          <a:prstGeom prst="rect">
            <a:avLst/>
          </a:prstGeom>
          <a:solidFill>
            <a:srgbClr val="B0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86600" y="4480560"/>
            <a:ext cx="1920240" cy="256032"/>
          </a:xfrm>
          <a:prstGeom prst="rect">
            <a:avLst/>
          </a:prstGeom>
          <a:noFill/>
        </p:spPr>
        <p:txBody>
          <a:bodyPr wrap="square" lIns="0" rIns="0" tIns="0" bIns="0" anchor="ctr">
            <a:spAutoFit/>
          </a:bodyPr>
          <a:lstStyle/>
          <a:p>
            <a:pPr algn="ctr"/>
            <a:r>
              <a:rPr sz="1000" b="1" i="0">
                <a:solidFill>
                  <a:srgbClr val="FFFFFF"/>
                </a:solidFill>
                <a:latin typeface="Arial"/>
              </a:rPr>
              <a:t>RISKS &amp; MITIGATION</a:t>
            </a:r>
          </a:p>
        </p:txBody>
      </p:sp>
      <p:sp>
        <p:nvSpPr>
          <p:cNvPr id="51" name="TextBox 50"/>
          <p:cNvSpPr txBox="1"/>
          <p:nvPr/>
        </p:nvSpPr>
        <p:spPr>
          <a:xfrm>
            <a:off x="7086600" y="4846320"/>
            <a:ext cx="4297680" cy="1371600"/>
          </a:xfrm>
          <a:prstGeom prst="rect">
            <a:avLst/>
          </a:prstGeom>
          <a:noFill/>
        </p:spPr>
        <p:txBody>
          <a:bodyPr wrap="square" lIns="0" rIns="0" tIns="0" bIns="0" anchor="t">
            <a:spAutoFit/>
          </a:bodyPr>
          <a:lstStyle/>
          <a:p>
            <a:pPr algn="l">
              <a:spcAft>
                <a:spcPts val="400"/>
              </a:spcAft>
            </a:pPr>
            <a:r>
              <a:rPr sz="1000" b="1" i="0">
                <a:solidFill>
                  <a:srgbClr val="0E7C86"/>
                </a:solidFill>
                <a:latin typeface="Arial"/>
              </a:rPr>
              <a:t>• </a:t>
            </a:r>
            <a:r>
              <a:rPr sz="1000" b="1" i="0">
                <a:solidFill>
                  <a:srgbClr val="1A1A1A"/>
                </a:solidFill>
                <a:latin typeface="Arial"/>
              </a:rPr>
              <a:t>Small data (569 scans): </a:t>
            </a:r>
            <a:r>
              <a:rPr sz="1000" b="0" i="0">
                <a:solidFill>
                  <a:srgbClr val="404040"/>
                </a:solidFill>
                <a:latin typeface="Arial"/>
              </a:rPr>
              <a:t>pre-training, augmentation, seeds + CV</a:t>
            </a:r>
          </a:p>
          <a:p>
            <a:pPr algn="l">
              <a:spcAft>
                <a:spcPts val="400"/>
              </a:spcAft>
            </a:pPr>
            <a:r>
              <a:rPr sz="1000" b="1" i="0">
                <a:solidFill>
                  <a:srgbClr val="0E7C86"/>
                </a:solidFill>
                <a:latin typeface="Arial"/>
              </a:rPr>
              <a:t>• </a:t>
            </a:r>
            <a:r>
              <a:rPr sz="1000" b="1" i="0">
                <a:solidFill>
                  <a:srgbClr val="1A1A1A"/>
                </a:solidFill>
                <a:latin typeface="Arial"/>
              </a:rPr>
              <a:t>Repeat scans / leakage: </a:t>
            </a:r>
            <a:r>
              <a:rPr sz="1000" b="0" i="0">
                <a:solidFill>
                  <a:srgbClr val="404040"/>
                </a:solidFill>
                <a:latin typeface="Arial"/>
              </a:rPr>
              <a:t>group-level split</a:t>
            </a:r>
          </a:p>
          <a:p>
            <a:pPr algn="l">
              <a:spcAft>
                <a:spcPts val="400"/>
              </a:spcAft>
            </a:pPr>
            <a:r>
              <a:rPr sz="1000" b="1" i="0">
                <a:solidFill>
                  <a:srgbClr val="0E7C86"/>
                </a:solidFill>
                <a:latin typeface="Arial"/>
              </a:rPr>
              <a:t>• </a:t>
            </a:r>
            <a:r>
              <a:rPr sz="1000" b="1" i="0">
                <a:solidFill>
                  <a:srgbClr val="1A1A1A"/>
                </a:solidFill>
                <a:latin typeface="Arial"/>
              </a:rPr>
              <a:t>No lesion masks: </a:t>
            </a:r>
            <a:r>
              <a:rPr sz="1000" b="0" i="0">
                <a:solidFill>
                  <a:srgbClr val="404040"/>
                </a:solidFill>
                <a:latin typeface="Arial"/>
              </a:rPr>
              <a:t>saliency only, reviewed qualitatively</a:t>
            </a:r>
          </a:p>
          <a:p>
            <a:pPr algn="l">
              <a:spcAft>
                <a:spcPts val="400"/>
              </a:spcAft>
            </a:pPr>
            <a:r>
              <a:rPr sz="1000" b="1" i="0">
                <a:solidFill>
                  <a:srgbClr val="0E7C86"/>
                </a:solidFill>
                <a:latin typeface="Arial"/>
              </a:rPr>
              <a:t>• </a:t>
            </a:r>
            <a:r>
              <a:rPr sz="1000" b="1" i="0">
                <a:solidFill>
                  <a:srgbClr val="1A1A1A"/>
                </a:solidFill>
                <a:latin typeface="Arial"/>
              </a:rPr>
              <a:t>Severity undefined: </a:t>
            </a:r>
            <a:r>
              <a:rPr sz="1000" b="0" i="0">
                <a:solidFill>
                  <a:srgbClr val="404040"/>
                </a:solidFill>
                <a:latin typeface="Arial"/>
              </a:rPr>
              <a:t>stretch goal, proxy agreed with supervisor</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03864">
              <a:alpha val="68000"/>
            </a:srgbClr>
          </a:solidFill>
          <a:ln w="12700">
            <a:solidFill>
              <a:srgbClr val="203864"/>
            </a:solidFill>
            <a:prstDash val="solid"/>
          </a:ln>
        </p:spPr>
        <p:txBody>
          <a:bodyPr/>
          <a:lstStyle/>
          <a:p>
            <a:endParaRPr lang="zh-CN" altLang="en-US"/>
          </a:p>
        </p:txBody>
      </p:sp>
      <p:sp>
        <p:nvSpPr>
          <p:cNvPr id="3" name="Shape 1"/>
          <p:cNvSpPr/>
          <p:nvPr/>
        </p:nvSpPr>
        <p:spPr>
          <a:xfrm>
            <a:off x="384048" y="384048"/>
            <a:ext cx="11420856" cy="6089904"/>
          </a:xfrm>
          <a:prstGeom prst="rect">
            <a:avLst/>
          </a:prstGeom>
          <a:solidFill>
            <a:srgbClr val="FFFFFF">
              <a:alpha val="0"/>
            </a:srgbClr>
          </a:solidFill>
          <a:ln w="19050">
            <a:solidFill>
              <a:srgbClr val="FFFFFF"/>
            </a:solidFill>
            <a:prstDash val="solid"/>
          </a:ln>
        </p:spPr>
        <p:txBody>
          <a:bodyPr/>
          <a:lstStyle/>
          <a:p>
            <a:endParaRPr lang="zh-CN" altLang="en-US"/>
          </a:p>
        </p:txBody>
      </p:sp>
      <p:sp>
        <p:nvSpPr>
          <p:cNvPr id="4" name="Text 2"/>
          <p:cNvSpPr txBox="1"/>
          <p:nvPr/>
        </p:nvSpPr>
        <p:spPr>
          <a:xfrm>
            <a:off x="1005840" y="1417320"/>
            <a:ext cx="10241280" cy="365760"/>
          </a:xfrm>
          <a:prstGeom prst="rect">
            <a:avLst/>
          </a:prstGeom>
          <a:noFill/>
        </p:spPr>
        <p:txBody>
          <a:bodyPr wrap="square" lIns="0" tIns="0" rIns="0" bIns="0" rtlCol="0" anchor="ctr"/>
          <a:lstStyle/>
          <a:p>
            <a:pPr marL="0" indent="0">
              <a:buNone/>
            </a:pPr>
            <a:r>
              <a:rPr lang="en-US" sz="1200" b="1" kern="0" spc="100" dirty="0">
                <a:solidFill>
                  <a:srgbClr val="CADCFC"/>
                </a:solidFill>
                <a:latin typeface="Arial" panose="020B0604020202020204" pitchFamily="34" charset="0"/>
                <a:ea typeface="Arial" panose="020B0604020202020204" pitchFamily="34" charset="-122"/>
                <a:cs typeface="Arial" panose="020B0604020202020204" pitchFamily="34" charset="-120"/>
              </a:rPr>
              <a:t>NUS-ISS  ·  PATTERN RECOGNITION SYSTEMS  ·  PRACTICE MODULE  ·  FIRST PRESENTATION</a:t>
            </a:r>
            <a:endParaRPr lang="en-US" sz="1200" dirty="0"/>
          </a:p>
        </p:txBody>
      </p:sp>
      <p:sp>
        <p:nvSpPr>
          <p:cNvPr id="5" name="Text 3"/>
          <p:cNvSpPr txBox="1"/>
          <p:nvPr/>
        </p:nvSpPr>
        <p:spPr>
          <a:xfrm>
            <a:off x="960120" y="1874520"/>
            <a:ext cx="10058400" cy="914400"/>
          </a:xfrm>
          <a:prstGeom prst="rect">
            <a:avLst/>
          </a:prstGeom>
          <a:noFill/>
        </p:spPr>
        <p:txBody>
          <a:bodyPr wrap="square" lIns="0" tIns="0" rIns="0" bIns="0" rtlCol="0" anchor="t"/>
          <a:lstStyle/>
          <a:p>
            <a:pPr marL="0" indent="0">
              <a:buNone/>
            </a:pPr>
            <a:r>
              <a:rPr lang="en-US" sz="3800" b="1" dirty="0">
                <a:solidFill>
                  <a:srgbClr val="FFFFFF"/>
                </a:solidFill>
                <a:latin typeface="Arial" panose="020B0604020202020204" pitchFamily="34" charset="0"/>
                <a:ea typeface="Arial" panose="020B0604020202020204" pitchFamily="34" charset="-122"/>
                <a:cs typeface="Arial" panose="020B0604020202020204" pitchFamily="34" charset="-120"/>
              </a:rPr>
              <a:t>Thank You</a:t>
            </a:r>
            <a:endParaRPr lang="en-US" sz="3800" dirty="0"/>
          </a:p>
        </p:txBody>
      </p:sp>
      <p:sp>
        <p:nvSpPr>
          <p:cNvPr id="6" name="Shape 4"/>
          <p:cNvSpPr/>
          <p:nvPr/>
        </p:nvSpPr>
        <p:spPr>
          <a:xfrm>
            <a:off x="1024128" y="2971800"/>
            <a:ext cx="548640" cy="45720"/>
          </a:xfrm>
          <a:prstGeom prst="rect">
            <a:avLst/>
          </a:prstGeom>
          <a:solidFill>
            <a:srgbClr val="FFFFFF"/>
          </a:solidFill>
          <a:ln w="12700">
            <a:solidFill>
              <a:srgbClr val="FFFFFF"/>
            </a:solidFill>
            <a:prstDash val="solid"/>
          </a:ln>
        </p:spPr>
        <p:txBody>
          <a:bodyPr/>
          <a:lstStyle/>
          <a:p>
            <a:endParaRPr lang="zh-CN" altLang="en-US"/>
          </a:p>
        </p:txBody>
      </p:sp>
      <p:sp>
        <p:nvSpPr>
          <p:cNvPr id="7" name="Text 5"/>
          <p:cNvSpPr txBox="1"/>
          <p:nvPr/>
        </p:nvSpPr>
        <p:spPr>
          <a:xfrm>
            <a:off x="1005840" y="3154680"/>
            <a:ext cx="9601200" cy="457200"/>
          </a:xfrm>
          <a:prstGeom prst="rect">
            <a:avLst/>
          </a:prstGeom>
          <a:noFill/>
        </p:spPr>
        <p:txBody>
          <a:bodyPr wrap="square" lIns="0" tIns="0" rIns="0" bIns="0" rtlCol="0" anchor="ctr"/>
          <a:lstStyle/>
          <a:p>
            <a:pPr marL="0" indent="0">
              <a:buNone/>
            </a:pPr>
            <a:r>
              <a:rPr lang="en-US" sz="1500" i="1" dirty="0">
                <a:solidFill>
                  <a:srgbClr val="E8EDF7"/>
                </a:solidFill>
                <a:latin typeface="Arial" panose="020B0604020202020204" pitchFamily="34" charset="0"/>
                <a:ea typeface="Arial" panose="020B0604020202020204" pitchFamily="34" charset="-122"/>
                <a:cs typeface="Arial" panose="020B0604020202020204" pitchFamily="34" charset="-120"/>
              </a:rPr>
              <a:t>Questions &amp; Answers</a:t>
            </a:r>
            <a:endParaRPr lang="en-US" sz="1500" dirty="0"/>
          </a:p>
        </p:txBody>
      </p:sp>
      <p:sp>
        <p:nvSpPr>
          <p:cNvPr id="8" name="Text 6"/>
          <p:cNvSpPr txBox="1"/>
          <p:nvPr/>
        </p:nvSpPr>
        <p:spPr>
          <a:xfrm>
            <a:off x="1005840" y="3703320"/>
            <a:ext cx="9601200" cy="457200"/>
          </a:xfrm>
          <a:prstGeom prst="rect">
            <a:avLst/>
          </a:prstGeom>
          <a:noFill/>
        </p:spPr>
        <p:txBody>
          <a:bodyPr wrap="square" lIns="0" tIns="0" rIns="0" bIns="0" rtlCol="0" anchor="ctr"/>
          <a:lstStyle/>
          <a:p>
            <a:pPr marL="0" indent="0">
              <a:buNone/>
            </a:pPr>
            <a:r>
              <a:rPr lang="en-US" sz="1300" dirty="0">
                <a:solidFill>
                  <a:srgbClr val="CADCFC"/>
                </a:solidFill>
                <a:latin typeface="Arial" panose="020B0604020202020204" pitchFamily="34" charset="0"/>
                <a:ea typeface="Arial" panose="020B0604020202020204" pitchFamily="34" charset="-122"/>
                <a:cs typeface="Arial" panose="020B0604020202020204" pitchFamily="34" charset="-120"/>
              </a:rPr>
              <a:t>A Multimodal Medical Imaging Assistant for Pulmonary Infection Classification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3046</Words>
  <Application>Microsoft Office PowerPoint</Application>
  <PresentationFormat>宽屏</PresentationFormat>
  <Paragraphs>403</Paragraphs>
  <Slides>11</Slides>
  <Notes>11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11</vt:i4>
      </vt:variant>
    </vt:vector>
  </HeadingPairs>
  <TitlesOfParts>
    <vt:vector size="15" baseType="lpstr">
      <vt:lpstr>Arial</vt:lpstr>
      <vt:lpstr>Calibri</vt:lpstr>
      <vt:lpstr>Courier New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RAG Based Multi Agent System for PC Build and Laptop Recommendations in Singapore</dc:title>
  <dc:subject>PptxGenJS Presentation</dc:subject>
  <dc:creator>Group 20</dc:creator>
  <cp:lastModifiedBy>Tang Shiyan</cp:lastModifiedBy>
  <cp:revision>14</cp:revision>
  <dcterms:created xsi:type="dcterms:W3CDTF">2026-09-27T04:37:00Z</dcterms:created>
  <dcterms:modified xsi:type="dcterms:W3CDTF">2026-09-27T05:55:31Z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A4FD9DE228074B35A9C49AC73B2F60A6_12</vt:lpwstr>
  </property>
  <property fmtid="{D5CDD505-2E9C-101B-9397-08002B2CF9AE}" pid="3" name="KSOProductBuildVer">
    <vt:lpwstr>2052-12.1.0.28505</vt:lpwstr>
  </property>
</Properties>
</file>